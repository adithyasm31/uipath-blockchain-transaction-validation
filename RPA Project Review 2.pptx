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3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F1D6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2F1D63"/>
                </a:solidFill>
                <a:latin typeface="Calibri"/>
              </a:rPr>
              <a:t>Transaction outcomes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F4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D08-4B34-9D0E-BB3161C03806}"/>
              </c:ext>
            </c:extLst>
          </c:dPt>
          <c:dPt>
            <c:idx val="1"/>
            <c:bubble3D val="0"/>
            <c:spPr>
              <a:solidFill>
                <a:srgbClr val="E8B931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D08-4B34-9D0E-BB3161C03806}"/>
              </c:ext>
            </c:extLst>
          </c:dPt>
          <c:dPt>
            <c:idx val="2"/>
            <c:bubble3D val="0"/>
            <c:spPr>
              <a:solidFill>
                <a:srgbClr val="B3261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D08-4B34-9D0E-BB3161C0380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08-4B34-9D0E-BB3161C0380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08-4B34-9D0E-BB3161C0380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D08-4B34-9D0E-BB3161C0380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Warning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08-4B34-9D0E-BB3161C038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1C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2F1D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F1D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R1 Timestamp</c:v>
                </c:pt>
                <c:pt idx="1">
                  <c:v>R2 Quantity</c:v>
                </c:pt>
                <c:pt idx="2">
                  <c:v>R3 Whitelist</c:v>
                </c:pt>
                <c:pt idx="3">
                  <c:v>R4 Duplicate</c:v>
                </c:pt>
                <c:pt idx="4">
                  <c:v>R5 Sequence</c:v>
                </c:pt>
                <c:pt idx="5">
                  <c:v>R6 Contract event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08-4477-8B66-9E69AC9D49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1C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9525" cap="flat">
              <a:solidFill>
                <a:srgbClr val="E2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83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Nitin opens. One line: blockchain makes a record immutable, it does not make it correct — that is the gap this project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proposed at Review 1 is built. Phase 5 is deliberately marked partial — the package is published to Orchestrator, but the queue activities have not been executed against a live queue. Say that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core of the project and the question most likely to be probed. Land the distinction between immutable and verified before showing any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Adithya leads here. Emphasise the normalisation point — it is the design decision that earns the chain-agnostic claim, and it is provable with the chain-swap demo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seeded failure is a real, valid on-chain transaction. Point out that the demo data contains exactly one anomaly per rule so the run exercises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seconds of workflow execution. Roughly 12 of those are Excel starting up; the validation engine itself is about 4 seconds. Against a manual baseline of 2-3 minutes per transaction this supports the 90% reduction claim from Review 1 — present it as an estimate, not a measured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oracle is the point worth making here: we did not just assert our own output was right, we verified it against an independent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moment: toggle R4 off live. Adithya leads. The point is that change control sits with the people who own the domain knowledge, not with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Nitin leads. Demo the dialog live if the projector allows — set AttendedMode True and EscalationMode PROMPT beforehand. Choose REJECTED so the decision shows in the dashboard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90 seconds that separate the project from a data-comparison script. Open the CSV, show the three hash columns, then run tamper_test.ps1 live. It flips one verdict, detects it at the exact line, and restores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bug story even if not asked — it is the most credible sentence available, because it is what actually happens when you test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Adithya leads. Note that Etherscan retired its V1 endpoints, so the project uses the V2 multichain endpoint — which is also why switching to Polygon is a single config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slide. Answer plainly if asked — waffling reads as not knowing. The three gaps are queues, browser automation and the dialog.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opening line: immutable is not the same as verified, and this is the bot that does the verifying.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5120640" cy="5120640"/>
          </a:xfrm>
          <a:prstGeom prst="ellipse">
            <a:avLst/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3383280"/>
            <a:ext cx="2926080" cy="2926080"/>
          </a:xfrm>
          <a:prstGeom prst="ellipse">
            <a:avLst/>
          </a:prstGeom>
          <a:solidFill>
            <a:srgbClr val="483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98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2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00784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UiPath-Based Validation of Blockchain Transactions for Transparent Logistics</a:t>
            </a:r>
            <a:endParaRPr lang="en-US" sz="3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2958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bot that reconciles on-chain logistics events against enterprise ERP records, flags anomalies, escalates to a human, and proves its own audit trail was not altered.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 Sankar Menon</a:t>
            </a:r>
            <a:r>
              <a:rPr lang="en-US" sz="130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23BRS1079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992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Nandakumar</a:t>
            </a:r>
            <a:r>
              <a:rPr lang="en-US" sz="130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23BRS1378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742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  ·  15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REVIEW 1 LEFT OFF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proposal to a working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602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9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+ ERP extraction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019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53328" y="170992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53328" y="1755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50608" y="1746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extraction modes, all agreeing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377440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615184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6563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505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mapping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98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53328" y="2606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53328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642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ABI decode, 0 unmatched rows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273552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511296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55244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Six-rule validation engine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6941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350215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53328" y="3547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3538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fire, 0 false positives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169664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4407408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44485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alerting, audit trail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53328" y="439826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53328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150608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dashboard, hash-chained log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065776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4672" y="5303520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53446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5193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deployment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486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53328" y="52943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DF2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53328" y="53400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150608" y="5330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Published; queues not run live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2F1D63">
              <a:alpha val="6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11556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ONE 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91056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makes a record </a:t>
            </a:r>
            <a:r>
              <a:rPr lang="en-US" sz="3400" b="1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make it </a:t>
            </a:r>
            <a:endParaRPr lang="en-US" sz="3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400" b="1" i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8444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tampered quantity, a forged timestamp or an unauthorised wallet is recorded just as permanently as a legitimate one. Every anomaly our bot catches is a perfectly valid on-chain transaction — correctly signed, immutably stored, and wrong.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4828032"/>
            <a:ext cx="3456432" cy="1115568"/>
          </a:xfrm>
          <a:prstGeom prst="roundRect">
            <a:avLst>
              <a:gd name="adj" fmla="val 4918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526694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cross-check hashes against ERP records by hand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4828032"/>
            <a:ext cx="3456432" cy="1115568"/>
          </a:xfrm>
          <a:prstGeom prst="roundRect">
            <a:avLst>
              <a:gd name="adj" fmla="val 4918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1416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71416" y="526694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Explorers emit JSON and hex; ERP systems speak Excel and 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36992" y="4828032"/>
            <a:ext cx="3456432" cy="1115568"/>
          </a:xfrm>
          <a:prstGeom prst="roundRect">
            <a:avLst>
              <a:gd name="adj" fmla="val 4918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56448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Unprovable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56448" y="526694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verification log is not itself evidence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WORKFLOWS, ORCHESTRATED BY MAIN.XAML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670048" cy="2432304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483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128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21284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config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968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chain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8094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ERP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3649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3649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join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517904"/>
            <a:ext cx="2670048" cy="2432304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170078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2128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21284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R1–R6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5968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86784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human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1517904"/>
            <a:ext cx="2670048" cy="2432304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170078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483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22128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03136" y="221284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25968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03136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15984" y="1517904"/>
            <a:ext cx="2670048" cy="2432304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98864" y="170078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483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98864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198864" y="22128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619488" y="221284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25968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619488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298094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619488" y="298094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33649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619488" y="33649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JSON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218688" y="2551176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2551176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8851392" y="2551176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566928" y="4224528"/>
            <a:ext cx="348386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8096" y="4389120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FF8A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8096" y="44302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0C0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68096" y="46360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Etherscan-shaped JSON. The default, so a demo never depends on Wi-Fi or a rate limit.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70248" y="4224528"/>
            <a:ext cx="348386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71416" y="4389120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FF8A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71416" y="44302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0C0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498848" y="463372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Etherscan V2 multichain endpoint, with the network selected by chain id.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73568" y="4224528"/>
            <a:ext cx="348386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174736" y="4389120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FF8A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74736" y="44302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0C0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174736" y="4617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explorer's own transaction table, fetched and parsed from the page.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6928" y="5376672"/>
            <a:ext cx="11055096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786384" y="5522976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schema.  </a:t>
            </a:r>
            <a:r>
              <a:rPr lang="en-US" sz="12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JSON, the live Etherscan V2 API and explorer-page scraping all normalise to the same DataTable, so the validation engine cannot tell which source produced its data. That is what makes the bot blockchain-agnostic in practice rather than only in configuration.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RULES, EVERY ONE DRIVEN BY CONFIG.XLSX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engine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11073384" cy="28163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failure in the demo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time vs the ERP's expected milestone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SHP-1002 warns · SHP-1003 fails at 5h20m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 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ABI-decoded on-chain quantity vs the purchase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SHP-1005 recorded 480 against a PO for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 Whitelist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must be an approved partner wallet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SHP-1007 signed by an unknown wallet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  Duplicate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 hash recorded twice per shipment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SHP-1009 delivery replayed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  Sequence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 occur in the configured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SHP-1011 delivered before in-transit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  Contract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shipment emits the required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SHP-1012 never confirms receipt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09744"/>
            <a:ext cx="5468112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4" name="Text 3"/>
          <p:cNvSpPr txBox="1"/>
          <p:nvPr/>
        </p:nvSpPr>
        <p:spPr>
          <a:xfrm>
            <a:off x="786384" y="4974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Set-based, not row-by-row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52669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R4, R5 and R6 compare rows against one another, so each rule receives the whole table. That is also 6 workflow invocations per run instead of 288.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90488" y="4809744"/>
            <a:ext cx="5468112" cy="1335024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9944" y="4974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configuration, not code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09944" y="526694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is a separate workflow, but whether it runs, its severity and its thresholds all live in a spreadsheet a logistics manager can edit.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TRANSACTIONS · 12 SHIPMENTS · 21 SECONDS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a real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367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validated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rule evaluations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1517904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6367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all six rules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 pass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53328" y="1517904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16367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failed · 1 warning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96528" y="1517904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0" y="16367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a human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487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Unapproved wallet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66928" y="3218688"/>
          <a:ext cx="48463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705856" y="3218688"/>
            <a:ext cx="5952744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943600" y="34015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3767328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 seeded anomalies detected, with zero false positives.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clean shipments passed all six rules on every event.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reports two rows for one anomaly by design — from the ledger alone there is no way to tell which copy of a duplicated transaction was legitimate, so both are flagged.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the same 48 transactions give the same verdict on every run, which is what makes the acceptance suite possible.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PER RULE, FROM ONE RUN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earns its place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572768"/>
          <a:ext cx="6492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51776" y="1572768"/>
            <a:ext cx="4306824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571232" y="1737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571232" y="2322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anomalies detected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26151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fires on a clean shipment, and no anomaly goes unreported.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51776" y="3419856"/>
            <a:ext cx="4306824" cy="1810512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571232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counts differ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571232" y="391363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shows 2 — one warning and one failure, proving the three-band logic.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shows 2 — both copies of the replayed transaction are flagged.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5413248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86384" y="5541264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checked.  </a:t>
            </a:r>
            <a:r>
              <a:rPr lang="en-US" sz="12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Python oracle re-derives the expected outcome for all 48 transactions straight from the raw JSON and the ERP workbook. The bot and the oracle agree on every row — if they ever disagree, the run is not signed off.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RULES · BLOCKCHAIN AGNOSTIC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1 and 3 — configuration is the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68112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310896" cy="310896"/>
          </a:xfrm>
          <a:prstGeom prst="ellipse">
            <a:avLst/>
          </a:prstGeom>
          <a:solidFill>
            <a:srgbClr val="FF8AAF"/>
          </a:solidFill>
          <a:ln w="12700">
            <a:solidFill>
              <a:srgbClr val="FF8A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9679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73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without code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12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R4 in the spreadsheet, save, re-run: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2505456"/>
            <a:ext cx="4992624" cy="859536"/>
          </a:xfrm>
          <a:prstGeom prst="roundRect">
            <a:avLst>
              <a:gd name="adj" fmla="val 4255"/>
            </a:avLst>
          </a:prstGeom>
          <a:solidFill>
            <a:srgbClr val="0C06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261518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E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is disabled in Config.xlsx - skipped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C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total=48 pass=42 warn=1 fail=5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drop from 7 to 5. No workflow was opened and nothing was republished.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0488" y="1554480"/>
            <a:ext cx="5468112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755648"/>
            <a:ext cx="310896" cy="310896"/>
          </a:xfrm>
          <a:prstGeom prst="ellipse">
            <a:avLst/>
          </a:prstGeom>
          <a:solidFill>
            <a:srgbClr val="FF8AAF"/>
          </a:solidFill>
          <a:ln w="12700">
            <a:solidFill>
              <a:srgbClr val="FF8A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179679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773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blockchain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2212848"/>
          <a:ext cx="4992624" cy="987552"/>
        </p:xfrm>
        <a:graphic>
          <a:graphicData uri="http://schemas.openxmlformats.org/drawingml/2006/table">
            <a:tbl>
              <a:tblPr/>
              <a:tblGrid>
                <a:gridCol w="188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1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40 / 1 /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40 / 1 /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428232" y="33467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outcomes on two networks, with only config changed between runs.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3913632"/>
            <a:ext cx="11055096" cy="2231136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04672" y="40782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Config.xlsx — the control panel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" y="4389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sheets and forty settings. Everything operational lives here, so the bot adapts without a developer.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4773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04672" y="5001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mode, chain, endpoints, paths, escalation, alerting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407408" y="4773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ValidationRules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5001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run, severity, thresholds, fail action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010144" y="4773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ApprovedWallets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010144" y="5001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whitelist R3 checks against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" y="5376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FieldMapping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04672" y="56052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field to logistics field, with transform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407408" y="5376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EventSequence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407408" y="56052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milestone order R5 enforces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010144" y="5376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EventSignatures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8010144" y="56052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signatures, selectors and event topic hashes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ANOMALIES GO TO A PERSON, NOT A LOG FILE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2 — the bot knows when to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96896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73936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150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23744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finds a delivery signed by a wallet that is not on the approved-partner list.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572768"/>
            <a:ext cx="2596896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773936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18150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523744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marked CRITICAL in Config.xlsx, with fail action ESCALATE.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572768"/>
            <a:ext cx="2596896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773936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18150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523744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stops and shows the reviewer the shipment, the wallet and the finding.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1572768"/>
            <a:ext cx="2596896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0576" y="1773936"/>
            <a:ext cx="310896" cy="310896"/>
          </a:xfrm>
          <a:prstGeom prst="ellipse">
            <a:avLst/>
          </a:prstGeom>
          <a:solidFill>
            <a:srgbClr val="2F1D63"/>
          </a:solidFill>
          <a:ln w="12700">
            <a:solidFill>
              <a:srgbClr val="2F1D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0576" y="18150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523744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written into the results before the audit log is generated.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931920"/>
            <a:ext cx="11055096" cy="1170432"/>
          </a:xfrm>
          <a:prstGeom prst="roundRect">
            <a:avLst>
              <a:gd name="adj" fmla="val 3906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4074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reviewer's decision is hashed into the audit chain alongside the machine's verdict. A human judgement becomes evidence, with the same tamper-evidence as everything the bot concluded on its own — not a note written beside the record.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5266944"/>
            <a:ext cx="1105509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04672" y="5431536"/>
            <a:ext cx="10579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when nobody is watching.  </a:t>
            </a:r>
            <a:r>
              <a:rPr lang="en-US" sz="120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unattended robot has no one to answer a dialog. The bot detects that and downgrades PROMPT to AUTO_LOG, recording the anomaly as DEFERRED and continuing, so a scheduled job can never hang waiting for a person who is not there.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CLAIM IN THE PROJECT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4 — an audit trail that proves itself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26464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carries the hash of the entry before it — the same idea as the blockchain we are auditing, applied to the audit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66544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RecordHash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verdict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70248" y="2066544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141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PrevHash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71416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the entry before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304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73568" y="2066544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7473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EntryHash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74736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seals this entry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2004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CHANGE ONE VERDICT FROM FAIL TO PASS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529584"/>
            <a:ext cx="11055096" cy="1408176"/>
          </a:xfrm>
          <a:prstGeom prst="roundRect">
            <a:avLst>
              <a:gd name="adj" fmla="val 3247"/>
            </a:avLst>
          </a:prstGeom>
          <a:solidFill>
            <a:srgbClr val="1A1038"/>
          </a:solidFill>
          <a:ln w="9525">
            <a:solidFill>
              <a:srgbClr val="4836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749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F9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- first problem at line 7.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E4D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7: record contents were altered (RecordHash mismatch) - SHP-1005/Dispatched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E4D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7: EntryHash does not match its own contents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14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verified across 7 runs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270248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4270248" y="5614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changed is enough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5614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record, bot, machine, time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0350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is append-only and spans every run. Altering any historical row breaks every link after it, so history cannot be quietly rewritten.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VERIFIES EVERY CLAIM IN THIS DECK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6616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3677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checks passing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517904"/>
            <a:ext cx="356616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9704" y="163677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2128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test cases passing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83296" y="1517904"/>
            <a:ext cx="357530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7888" y="16367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Analyzer errors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962656"/>
            <a:ext cx="5468112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145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suite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493008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anomalies present and ABI decodes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rules fire with the expected counts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disabled in Excel is skipped at runtime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dashboard is produced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 on a second blockchain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audit log is detected at the right line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extraction modes agree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splits 48 transactions into 12 queue items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0488" y="2962656"/>
            <a:ext cx="5468112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28232" y="3145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in Studio's Test Explorer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34747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drive one rule each against fixtures built inside the test, so a failure points at exactly one rule. The seventh writes an audit chain, tampers with it and asserts the tampering is caught.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28232" y="4224528"/>
            <a:ext cx="4992624" cy="1700784"/>
          </a:xfrm>
          <a:prstGeom prst="roundRect">
            <a:avLst>
              <a:gd name="adj" fmla="val 2688"/>
            </a:avLst>
          </a:prstGeom>
          <a:solidFill>
            <a:srgbClr val="E4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7688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found a real bug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468172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writing the duplicate-detection test we discovered R4 assumed a transaction hash was at least twelve characters, and it crashed on a malformed one. Found, fixed and now covered — which is what testing is for.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UIPATH AUTOMATION CLOUD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68112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190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BlockchainLogisticsValidator v1.0.92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23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processes feed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2944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trigger, every 4 hours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3364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item per shipment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0488" y="1554480"/>
            <a:ext cx="5468112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28232" y="17190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shipment, not a transaction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2066544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six rules compare events against each other, so a worker handed a single transaction could not evaluate duplicates, ordering or required events at all. A shipment is the smallest unit that keeps every rule meaningful — and no rule reaches across shipments, so nothing is lost by splitting there.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3511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transactions → 12 queue items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96512"/>
            <a:ext cx="11055096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9525">
            <a:solidFill>
              <a:srgbClr val="E2DCEC"/>
            </a:solidFill>
            <a:prstDash val="solid"/>
          </a:ln>
          <a:effectLst>
            <a:outerShdw blurRad="76200" dist="12700" dir="5400000" algn="bl" rotWithShape="0">
              <a:srgbClr val="8C7FB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" y="42611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platform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892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 25.10, Windows .NET 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51129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4892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Orchestrator (Automation Cloud)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source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892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Etherscan V2 multichain API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924544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data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24544" y="4892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workbooks via Excel activities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321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5550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ClosedXML, self-contained HTML, SMTP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511296" y="5321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11296" y="5550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Testing Activities, 7 cases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5321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5550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keccak-256 selectors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5321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3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924544" y="5550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9A8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SO NOTHING IS OVERCLAIMED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1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and what does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68112" cy="4023360"/>
          </a:xfrm>
          <a:prstGeom prst="roundRect">
            <a:avLst>
              <a:gd name="adj" fmla="val 1136"/>
            </a:avLst>
          </a:prstGeom>
          <a:solidFill>
            <a:srgbClr val="E4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and verified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9696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end to end, 48 transactions in 21 seconds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validation rules, against an independent oracle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extraction modes producing identical results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toggling from the spreadsheet with no code change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capture in simulated and unattended modes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trail, 336 entries across 7 runs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 at the exact altered line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report, HTML dashboard, alerting, KPI export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published to Orchestrator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572768"/>
            <a:ext cx="5468112" cy="4023360"/>
          </a:xfrm>
          <a:prstGeom prst="roundRect">
            <a:avLst>
              <a:gd name="adj" fmla="val 1136"/>
            </a:avLst>
          </a:prstGeom>
          <a:solidFill>
            <a:srgbClr val="FDF2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executed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396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queues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774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and Performer compile and the dispatcher's logic is verified in dry run, but the queue activities have not run against a live queue.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9992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scraping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369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mode parses the explorer's HTML. UiAutomation 25.10 removed the classic scraping activity and its replacement needs a recorded descriptor.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587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dialog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0965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Exercised in simulated and unattended modes only — a dialog cannot be driven headlessly, so it is demonstrated live instead.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7183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chain data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9560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mode shares the same parser as the tested paths but has not been run against Etherscan, as no API key is configured.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74243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precisely what is unfinished is part of the engineering, not an apology for it.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556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120640"/>
            <a:ext cx="4572000" cy="4572000"/>
          </a:xfrm>
          <a:prstGeom prst="ellipse">
            <a:avLst/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468112" cy="1280160"/>
          </a:xfrm>
          <a:prstGeom prst="roundRect">
            <a:avLst>
              <a:gd name="adj" fmla="val 3571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92224"/>
            <a:ext cx="310896" cy="310896"/>
          </a:xfrm>
          <a:prstGeom prst="ellipse">
            <a:avLst/>
          </a:prstGeom>
          <a:solidFill>
            <a:srgbClr val="FF8AAF"/>
          </a:solidFill>
          <a:ln w="12700">
            <a:solidFill>
              <a:srgbClr val="FF8AA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8333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queue loop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176272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Dispatcher and Performer against a live Orchestrator queue and measure throughput under parallel workers.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1572768"/>
            <a:ext cx="5468112" cy="1280160"/>
          </a:xfrm>
          <a:prstGeom prst="roundRect">
            <a:avLst>
              <a:gd name="adj" fmla="val 3571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1792224"/>
            <a:ext cx="310896" cy="310896"/>
          </a:xfrm>
          <a:prstGeom prst="ellipse">
            <a:avLst/>
          </a:prstGeom>
          <a:solidFill>
            <a:srgbClr val="FF8AAF"/>
          </a:solidFill>
          <a:ln w="12700">
            <a:solidFill>
              <a:srgbClr val="FF8A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8232" y="18333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anomaly detection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176272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UiPath AI Center on historical transactions to catch fraud patterns no fixed rule anticipates.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054096"/>
            <a:ext cx="5468112" cy="1280160"/>
          </a:xfrm>
          <a:prstGeom prst="roundRect">
            <a:avLst>
              <a:gd name="adj" fmla="val 3571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273552"/>
            <a:ext cx="310896" cy="310896"/>
          </a:xfrm>
          <a:prstGeom prst="ellipse">
            <a:avLst/>
          </a:prstGeom>
          <a:solidFill>
            <a:srgbClr val="FF8AAF"/>
          </a:solidFill>
          <a:ln w="12700">
            <a:solidFill>
              <a:srgbClr val="FF8AA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3147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 fusion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65760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on-chain records against temperature and GPS telemetry, so a cold-chain breach is caught as well as a clerical 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3054096"/>
            <a:ext cx="5468112" cy="1280160"/>
          </a:xfrm>
          <a:prstGeom prst="roundRect">
            <a:avLst>
              <a:gd name="adj" fmla="val 3571"/>
            </a:avLst>
          </a:prstGeom>
          <a:solidFill>
            <a:srgbClr val="2F1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3273552"/>
            <a:ext cx="310896" cy="310896"/>
          </a:xfrm>
          <a:prstGeom prst="ellipse">
            <a:avLst/>
          </a:prstGeom>
          <a:solidFill>
            <a:srgbClr val="FF8AAF"/>
          </a:solidFill>
          <a:ln w="12700">
            <a:solidFill>
              <a:srgbClr val="FF8AA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33147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validation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365760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scheduled polling with blockchain WebSocket subscriptions for sub-second latency.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608576"/>
            <a:ext cx="11055096" cy="1225296"/>
          </a:xfrm>
          <a:prstGeom prst="roundRect">
            <a:avLst>
              <a:gd name="adj" fmla="val 3731"/>
            </a:avLst>
          </a:prstGeom>
          <a:solidFill>
            <a:srgbClr val="1A1038"/>
          </a:solidFill>
          <a:ln w="9525">
            <a:solidFill>
              <a:srgbClr val="48367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" y="477316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 of blockchain records against enterprise systems, six rules a business team can configure, escalation where human judgement belongs, and an audit trail that proves it was not altered afterwards.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54132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a twelve-check acceptance suite and seven test cases that run in one command.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0533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1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github.com/AdithyaSM31/UiPath-Blockchain-Transaction-Validation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2540</Words>
  <Application>Microsoft Office PowerPoint</Application>
  <PresentationFormat>Widescreen</PresentationFormat>
  <Paragraphs>352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UiPath-Based Validation of Blockchain Transactions for Transparent Logistics</dc:title>
  <dc:subject>PptxGenJS Presentation</dc:subject>
  <dc:creator>Adithya Sankar Menon; Nitin Nandakumar</dc:creator>
  <cp:lastModifiedBy>Adithya SM</cp:lastModifiedBy>
  <cp:revision>3</cp:revision>
  <dcterms:created xsi:type="dcterms:W3CDTF">2026-09-12T05:33:23Z</dcterms:created>
  <dcterms:modified xsi:type="dcterms:W3CDTF">2026-09-15T06:12:21Z</dcterms:modified>
</cp:coreProperties>
</file>
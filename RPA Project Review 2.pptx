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F1D6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2F1D63"/>
                </a:solidFill>
                <a:latin typeface="Calibri"/>
              </a:rPr>
              <a:t>Transaction outcomes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Outcome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A7F4B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8B931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B3261E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Passed</c:v>
                </c:pt>
                <c:pt idx="1">
                  <c:v>Warning</c:v>
                </c:pt>
                <c:pt idx="2">
                  <c:v>Failed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40</c:v>
                </c:pt>
                <c:pt idx="1">
                  <c:v>1</c:v>
                </c:pt>
                <c:pt idx="2">
                  <c:v>7</c:v>
                </c:pt>
              </c:numCache>
            </c:numRef>
          </c:val>
        </c:ser>
        <c:firstSliceAng val="0"/>
        <c:holeSize val="56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41C3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Findings</c:v>
                </c:pt>
              </c:strCache>
            </c:strRef>
          </c:tx>
          <c:spPr>
            <a:solidFill>
              <a:srgbClr val="2F1D6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F1D6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R1 Timestamp</c:v>
                  </c:pt>
                  <c:pt idx="1">
                    <c:v>R2 Quantity</c:v>
                  </c:pt>
                  <c:pt idx="2">
                    <c:v>R3 Whitelist</c:v>
                  </c:pt>
                  <c:pt idx="3">
                    <c:v>R4 Duplicate</c:v>
                  </c:pt>
                  <c:pt idx="4">
                    <c:v>R5 Sequence</c:v>
                  </c:pt>
                  <c:pt idx="5">
                    <c:v>R6 Contract event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F1D6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41C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</c:scaling>
        <c:delete val="0"/>
        <c:axPos val="l"/>
        <c:majorGridlines>
          <c:spPr>
            <a:ln w="9525" cap="flat">
              <a:solidFill>
                <a:srgbClr val="E2DC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4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Nitin opens. One line: blockchain makes a record immutable, it does not make it correct — that is the gap this project fills.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proposed at Review 1 is built. Phase 5 is deliberately marked partial — the package is published to Orchestrator, but the queue activities have not been executed against a live queue. Say that plainly.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intellectual core of the project and the question most likely to be probed. Land the distinction between immutable and verified before showing any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Adithya leads here. Emphasise the normalisation point — it is the design decision that earns the chain-agnostic claim, and it is provable with the chain-swap demo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seeded failure is a real, valid on-chain transaction. Point out that the demo data contains exactly one anomaly per rule so the run exercises all six.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 seconds of workflow execution. Roughly 12 of those are Excel starting up; the validation engine itself is about 4 seconds. Against a manual baseline of 2-3 minutes per transaction this supports the 90% reduction claim from Review 1 — present it as an estimate, not a measured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oracle is the point worth making here: we did not just assert our own output was right, we verified it against an independent implementation.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moment: toggle R4 off live. Adithya leads. The point is that change control sits with the people who own the domain knowledge, not with developers.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Nitin leads. Demo the dialog live if the projector allows — set AttendedMode True and EscalationMode PROMPT beforehand. Choose REJECTED so the decision shows in the dashboard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90 seconds that separate the project from a data-comparison script. Open the CSV, show the three hash columns, then run tamper_test.ps1 live. It flips one verdict, detects it at the exact line, and restores the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 the bug story even if not asked — it is the most credible sentence available, because it is what actually happens when you test properly.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Adithya leads. Note that Etherscan retired its V1 endpoints, so the project uses the V2 multichain endpoint — which is also why switching to Polygon is a single config cell.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skip this slide. Answer plainly if asked — waffling reads as not knowing. The three gaps are queues, browser automation and the dialog.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returning to the opening line: immutable is not the same as verified, and this is the bot that does the verifying. Then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6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-1371600"/>
            <a:ext cx="5120640" cy="5120640"/>
          </a:xfrm>
          <a:prstGeom prst="ellipse">
            <a:avLst/>
          </a:prstGeom>
          <a:solidFill>
            <a:srgbClr val="2F1D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3383280"/>
            <a:ext cx="2926080" cy="2926080"/>
          </a:xfrm>
          <a:prstGeom prst="ellipse">
            <a:avLst/>
          </a:prstGeom>
          <a:solidFill>
            <a:srgbClr val="483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29844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20" kern="0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REVIEW 2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00784"/>
            <a:ext cx="7955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UiPath-Based Validation of Blockchain Transactions for Transparent Logistics</a:t>
            </a:r>
            <a:endParaRPr lang="en-US" sz="37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3529584"/>
            <a:ext cx="7589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FC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RPA bot that reconciles on-chain logistics events against enterprise ERP records, flags anomalies, escalates to a human, and proves its own audit trail was not altered.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46817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Adithya Sankar Menon</a:t>
            </a:r>
            <a:pPr indent="0" marL="0">
              <a:buNone/>
            </a:pPr>
            <a:r>
              <a:rPr lang="en-US" sz="1300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23BRS1079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9926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Nitin Nandakumar</a:t>
            </a:r>
            <a:pPr indent="0" marL="0">
              <a:buNone/>
            </a:pPr>
            <a:r>
              <a:rPr lang="en-US" sz="1300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23BRS1378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74243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 Process Automation  ·  12 September 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REVIEW 1 LEFT OFF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proposal to a working system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5096" cy="78638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19072"/>
            <a:ext cx="310896" cy="310896"/>
          </a:xfrm>
          <a:prstGeom prst="ellipse">
            <a:avLst/>
          </a:prstGeom>
          <a:solidFill>
            <a:srgbClr val="2F1D63"/>
          </a:solidFill>
          <a:ln w="12700">
            <a:solidFill>
              <a:srgbClr val="2F1D6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176022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60934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+ ERP extraction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9019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053328" y="170992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4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53328" y="175564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150608" y="174650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extraction modes, all agreeing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2377440"/>
            <a:ext cx="11055096" cy="78638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4672" y="2615184"/>
            <a:ext cx="310896" cy="310896"/>
          </a:xfrm>
          <a:prstGeom prst="ellipse">
            <a:avLst/>
          </a:prstGeom>
          <a:solidFill>
            <a:srgbClr val="2F1D63"/>
          </a:solidFill>
          <a:ln w="12700">
            <a:solidFill>
              <a:srgbClr val="2F1D6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65633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25054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and mapping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279806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53328" y="26060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4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53328" y="2651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7150608" y="264261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ABI decode, 0 unmatched rows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3273552"/>
            <a:ext cx="11055096" cy="78638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04672" y="3511296"/>
            <a:ext cx="310896" cy="310896"/>
          </a:xfrm>
          <a:prstGeom prst="ellipse">
            <a:avLst/>
          </a:prstGeom>
          <a:solidFill>
            <a:srgbClr val="2F1D63"/>
          </a:solidFill>
          <a:ln w="12700">
            <a:solidFill>
              <a:srgbClr val="2F1D6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355244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3401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Six-rule validation engine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280160" y="369417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053328" y="3502152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4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053328" y="354787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7150608" y="35387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fire, 0 false positives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169664"/>
            <a:ext cx="11055096" cy="78638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04672" y="4407408"/>
            <a:ext cx="310896" cy="310896"/>
          </a:xfrm>
          <a:prstGeom prst="ellipse">
            <a:avLst/>
          </a:prstGeom>
          <a:solidFill>
            <a:srgbClr val="2F1D63"/>
          </a:solidFill>
          <a:ln w="12700">
            <a:solidFill>
              <a:srgbClr val="2F1D6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" y="444855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1280160" y="4297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Reporting, alerting, audit trail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280160" y="459028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053328" y="4398264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4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053328" y="444398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7150608" y="44348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Excel, dashboard, hash-chained log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66928" y="5065776"/>
            <a:ext cx="11055096" cy="78638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04672" y="5303520"/>
            <a:ext cx="310896" cy="310896"/>
          </a:xfrm>
          <a:prstGeom prst="ellipse">
            <a:avLst/>
          </a:prstGeom>
          <a:solidFill>
            <a:srgbClr val="2F1D63"/>
          </a:solidFill>
          <a:ln w="12700">
            <a:solidFill>
              <a:srgbClr val="2F1D6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04672" y="5344668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1280160" y="5193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deployment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1280160" y="54864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053328" y="5294376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DF2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053328" y="53400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7150608" y="533095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Published; queues not run live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645566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 ·  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6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4206240" cy="4206240"/>
          </a:xfrm>
          <a:prstGeom prst="ellipse">
            <a:avLst/>
          </a:prstGeom>
          <a:solidFill>
            <a:srgbClr val="2F1D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111556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PROBLEM, IN ONE LINE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10241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makes a record </a:t>
            </a:r>
            <a:pPr indent="0" marL="0">
              <a:lnSpc>
                <a:spcPts val="4600"/>
              </a:lnSpc>
              <a:buNone/>
            </a:pPr>
            <a:r>
              <a:rPr lang="en-US" sz="3400" b="1" i="1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</a:t>
            </a:r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make it </a:t>
            </a:r>
            <a:endParaRPr lang="en-US" sz="34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400" b="1" i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</a:t>
            </a:r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3584448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CFC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tampered quantity, a forged timestamp or an unauthorised wallet is recorded just as permanently as a legitimate one. Every anomaly our bot catches is a perfectly valid on-chain transaction — correctly signed, immutably stored, and wrong.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4828032"/>
            <a:ext cx="3456432" cy="1115568"/>
          </a:xfrm>
          <a:prstGeom prst="roundRect">
            <a:avLst>
              <a:gd name="adj" fmla="val 4918"/>
            </a:avLst>
          </a:prstGeom>
          <a:solidFill>
            <a:srgbClr val="2F1D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497433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5266944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FC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cross-check hashes against ERP records by hand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51960" y="4828032"/>
            <a:ext cx="3456432" cy="1115568"/>
          </a:xfrm>
          <a:prstGeom prst="roundRect">
            <a:avLst>
              <a:gd name="adj" fmla="val 4918"/>
            </a:avLst>
          </a:prstGeom>
          <a:solidFill>
            <a:srgbClr val="2F1D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71416" y="497433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Siloed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71416" y="5266944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FC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Explorers emit JSON and hex; ERP systems speak Excel and SQL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36992" y="4828032"/>
            <a:ext cx="3456432" cy="1115568"/>
          </a:xfrm>
          <a:prstGeom prst="roundRect">
            <a:avLst>
              <a:gd name="adj" fmla="val 4918"/>
            </a:avLst>
          </a:prstGeom>
          <a:solidFill>
            <a:srgbClr val="2F1D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56448" y="497433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Unprovable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156448" y="5266944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FC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manual verification log is not itself evidence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WORKFLOWS, ORCHESTRATED BY MAIN.XAML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2670048" cy="2432304"/>
          </a:xfrm>
          <a:prstGeom prst="roundRect">
            <a:avLst>
              <a:gd name="adj" fmla="val 1880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00784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483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74650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212848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170432" y="2212848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config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596896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1170432" y="25968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chain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2980944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2980944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ERP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3364992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170432" y="3364992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and join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383280" y="1517904"/>
            <a:ext cx="2670048" cy="2432304"/>
          </a:xfrm>
          <a:prstGeom prst="roundRect">
            <a:avLst>
              <a:gd name="adj" fmla="val 1880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566160" y="1700784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2F1D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66160" y="174650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2212848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3986784" y="2212848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R1–R6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2596896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3986784" y="25968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to human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99632" y="1517904"/>
            <a:ext cx="2670048" cy="2432304"/>
          </a:xfrm>
          <a:prstGeom prst="roundRect">
            <a:avLst>
              <a:gd name="adj" fmla="val 1880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382512" y="1700784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483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82512" y="174650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82512" y="2212848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803136" y="2212848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 log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382512" y="2596896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803136" y="25968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chain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015984" y="1517904"/>
            <a:ext cx="2670048" cy="2432304"/>
          </a:xfrm>
          <a:prstGeom prst="roundRect">
            <a:avLst>
              <a:gd name="adj" fmla="val 1880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198864" y="1700784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483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98864" y="174650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198864" y="2212848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9619488" y="2212848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report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9198864" y="2596896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9619488" y="25968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dashboard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9198864" y="2980944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9619488" y="2980944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9198864" y="3364992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9619488" y="3364992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JSON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18688" y="2551176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41" name="Text 39"/>
          <p:cNvSpPr txBox="1"/>
          <p:nvPr/>
        </p:nvSpPr>
        <p:spPr>
          <a:xfrm>
            <a:off x="6035040" y="2551176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42" name="Text 40"/>
          <p:cNvSpPr txBox="1"/>
          <p:nvPr/>
        </p:nvSpPr>
        <p:spPr>
          <a:xfrm>
            <a:off x="8851392" y="2551176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43" name="Shape 41"/>
          <p:cNvSpPr/>
          <p:nvPr/>
        </p:nvSpPr>
        <p:spPr>
          <a:xfrm>
            <a:off x="566928" y="4224528"/>
            <a:ext cx="3483864" cy="969264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68096" y="4389120"/>
            <a:ext cx="804672" cy="292608"/>
          </a:xfrm>
          <a:prstGeom prst="roundRect">
            <a:avLst>
              <a:gd name="adj" fmla="val 50000"/>
            </a:avLst>
          </a:prstGeom>
          <a:solidFill>
            <a:srgbClr val="FF8A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68096" y="4430268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0C0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768096" y="47548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Bundled Etherscan-shaped JSON. The default, so a demo never depends on Wi-Fi or a rate limit.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270248" y="4224528"/>
            <a:ext cx="3483864" cy="969264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471416" y="4389120"/>
            <a:ext cx="804672" cy="292608"/>
          </a:xfrm>
          <a:prstGeom prst="roundRect">
            <a:avLst>
              <a:gd name="adj" fmla="val 50000"/>
            </a:avLst>
          </a:prstGeom>
          <a:solidFill>
            <a:srgbClr val="FF8A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471416" y="4430268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0C0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4471416" y="47548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Etherscan V2 multichain endpoint, with the network selected by chain id.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7973568" y="4224528"/>
            <a:ext cx="3483864" cy="969264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174736" y="4389120"/>
            <a:ext cx="804672" cy="292608"/>
          </a:xfrm>
          <a:prstGeom prst="roundRect">
            <a:avLst>
              <a:gd name="adj" fmla="val 50000"/>
            </a:avLst>
          </a:prstGeom>
          <a:solidFill>
            <a:srgbClr val="FF8A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174736" y="4430268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0C0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8174736" y="47548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explorer's own transaction table, fetched and parsed from the page.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566928" y="5376672"/>
            <a:ext cx="11055096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56" name="Text 54"/>
          <p:cNvSpPr txBox="1"/>
          <p:nvPr/>
        </p:nvSpPr>
        <p:spPr>
          <a:xfrm>
            <a:off x="786384" y="5522976"/>
            <a:ext cx="10616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internal schema.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JSON, the live Etherscan V2 API and explorer-page scraping all normalise to the same DataTable, so the validation engine cannot tell which source produced its data. That is what makes the bot blockchain-agnostic in practice rather than only in configuration.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566928" y="645566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 ·  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RULES, EVERY ONE DRIVEN BY CONFIG.XLSX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validation engine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36192"/>
          <a:ext cx="11055096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4480560"/>
                <a:gridCol w="1197864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1D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checks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1D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Seeded failure in the demo data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1D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1D6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  Timestamp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On-chain time vs the ERP's expected milestone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SHP-1002 warns · SHP-1003 fails at 5h20m drift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  Quantity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ABI-decoded on-chain quantity vs the purchase order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SHP-1005 recorded 480 against a PO for 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  Whitelist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Sender must be an approved partner wallet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SHP-1007 signed by an unknown wallet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  Duplicate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transaction hash recorded twice per shipment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SHP-1009 delivery replayed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  Sequence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Milestones occur in the configured order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SHP-1011 delivered before in-transit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  Contract event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shipment emits the required event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SHP-1012 never confirms receipt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4809744"/>
            <a:ext cx="5468112" cy="1335024"/>
          </a:xfrm>
          <a:prstGeom prst="roundRect">
            <a:avLst>
              <a:gd name="adj" fmla="val 3425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86384" y="49743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Set-based, not row-by-row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786384" y="5266944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R4, R5 and R6 compare rows against one another, so each rule receives the whole table. That is also 6 workflow invocations per run instead of 288.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190488" y="4809744"/>
            <a:ext cx="5468112" cy="1335024"/>
          </a:xfrm>
          <a:prstGeom prst="roundRect">
            <a:avLst>
              <a:gd name="adj" fmla="val 3425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409944" y="49743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are configuration, not code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409944" y="5266944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rule is a separate workflow, but whether it runs, its severity and its thresholds all live in a spreadsheet a logistics manager can edit.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645566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 ·  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TRANSACTIONS · 12 SHIPMENTS · 21 SECONDS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from a real run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2615184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63677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12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validated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48716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 rule evaluations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10128" y="1517904"/>
            <a:ext cx="2615184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474720" y="163677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212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all six rules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48716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83.3% pass rate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3328" y="1517904"/>
            <a:ext cx="2615184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217920" y="163677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212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48716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failed · 1 warning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796528" y="1517904"/>
            <a:ext cx="2615184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961120" y="163677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A6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212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Escalated to a human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0" y="248716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Unapproved wallet</a:t>
            </a:r>
            <a:endParaRPr lang="en-US" sz="10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566928" y="3218688"/>
          <a:ext cx="48463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Shape 18"/>
          <p:cNvSpPr/>
          <p:nvPr/>
        </p:nvSpPr>
        <p:spPr>
          <a:xfrm>
            <a:off x="5705856" y="3218688"/>
            <a:ext cx="5952744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943600" y="340156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numbers mean</a:t>
            </a:r>
            <a:endParaRPr lang="en-US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5943600" y="3767328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of 7 seeded anomalies detected, with zero false positives.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clean shipments passed all six rules on every event.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reports two rows for one anomaly by design — from the ledger alone there is no way to tell which copy of a duplicated transaction was legitimate, so both are flagged.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Deterministic: the same 48 transactions give the same verdict on every run, which is what makes the acceptance suite possible.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645566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 ·  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PER RULE, FROM ONE RUN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earns its place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572768"/>
          <a:ext cx="64922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351776" y="1572768"/>
            <a:ext cx="4306824" cy="1700784"/>
          </a:xfrm>
          <a:prstGeom prst="roundRect">
            <a:avLst>
              <a:gd name="adj" fmla="val 2688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571232" y="173736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7/7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7571232" y="232257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anomalies detected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571232" y="2615184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rule fires on a clean shipment, and no anomaly goes unreported.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51776" y="3419856"/>
            <a:ext cx="4306824" cy="1810512"/>
          </a:xfrm>
          <a:prstGeom prst="roundRect">
            <a:avLst>
              <a:gd name="adj" fmla="val 2525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571232" y="35844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counts differ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7571232" y="3913632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shows 2 — one warning and one failure, proving the three-band logic.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shows 2 — both copies of the replayed transaction are flagged.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66928" y="5413248"/>
            <a:ext cx="11055096" cy="78638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86384" y="5541264"/>
            <a:ext cx="10616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Independently checked.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Python oracle re-derives the expected outcome for all 48 transactions straight from the raw JSON and the ERP workbook. The bot and the oracle agree on every row — if they ever disagree, the run is not signed off.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645566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 ·  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RULES · BLOCKCHAIN AGNOSTIC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 1 and 3 — configuration is the product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468112" cy="2212848"/>
          </a:xfrm>
          <a:prstGeom prst="roundRect">
            <a:avLst>
              <a:gd name="adj" fmla="val 2066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55648"/>
            <a:ext cx="310896" cy="310896"/>
          </a:xfrm>
          <a:prstGeom prst="ellipse">
            <a:avLst/>
          </a:prstGeom>
          <a:solidFill>
            <a:srgbClr val="FF8AAF"/>
          </a:solidFill>
          <a:ln w="12700">
            <a:solidFill>
              <a:srgbClr val="FF8AA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179679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77393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without code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2128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Disable R4 in the spreadsheet, save, re-run: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04672" y="2505456"/>
            <a:ext cx="4992624" cy="859536"/>
          </a:xfrm>
          <a:prstGeom prst="roundRect">
            <a:avLst>
              <a:gd name="adj" fmla="val 4255"/>
            </a:avLst>
          </a:prstGeom>
          <a:solidFill>
            <a:srgbClr val="0C062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9264" y="2615184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FE3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R4 is disabled in Config.xlsx - skipped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C7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total=48 pass=42 warn=1 fail=5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04672" y="341985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Failures drop from 7 to 5. No workflow was opened and nothing was republished.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90488" y="1554480"/>
            <a:ext cx="5468112" cy="2212848"/>
          </a:xfrm>
          <a:prstGeom prst="roundRect">
            <a:avLst>
              <a:gd name="adj" fmla="val 2066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28232" y="1755648"/>
            <a:ext cx="310896" cy="310896"/>
          </a:xfrm>
          <a:prstGeom prst="ellipse">
            <a:avLst/>
          </a:prstGeom>
          <a:solidFill>
            <a:srgbClr val="FF8AAF"/>
          </a:solidFill>
          <a:ln w="12700">
            <a:solidFill>
              <a:srgbClr val="FF8AA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28232" y="179679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903720" y="177393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blockchain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28232" y="2212848"/>
          <a:ext cx="4992624" cy="914400"/>
        </p:xfrm>
        <a:graphic>
          <a:graphicData uri="http://schemas.openxmlformats.org/drawingml/2006/table">
            <a:tbl>
              <a:tblPr/>
              <a:tblGrid>
                <a:gridCol w="1883664"/>
                <a:gridCol w="1188720"/>
                <a:gridCol w="19202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1D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1D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1D6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/ 40 / 1 / 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Polygon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/ 40 / 1 / 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6428232" y="334670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outcomes on two networks, with only config changed between runs.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3913632"/>
            <a:ext cx="11055096" cy="2231136"/>
          </a:xfrm>
          <a:prstGeom prst="roundRect">
            <a:avLst>
              <a:gd name="adj" fmla="val 2049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04672" y="407822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Config.xlsx — the control panel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04672" y="43891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sheets and forty settings. Everything operational lives here, so the bot adapts without a developer.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" y="477316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804672" y="500176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mode, chain, endpoints, paths, escalation, alerting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4407408" y="477316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ValidationRules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4407408" y="500176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rules run, severity, thresholds, fail action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8010144" y="477316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ApprovedWallets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8010144" y="500176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partner whitelist R3 checks against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4672" y="537667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FieldMapping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804672" y="560527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field to logistics field, with transform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4407408" y="537667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EventSequence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4407408" y="560527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milestone order R5 enforces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8010144" y="537667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EventSignatures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8010144" y="560527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signatures, selectors and event topic hashes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645566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 ·  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ANOMALIES GO TO A PERSON, NOT A LOG FILE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 2 — the bot knows when to stop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596896" cy="2157984"/>
          </a:xfrm>
          <a:prstGeom prst="roundRect">
            <a:avLst>
              <a:gd name="adj" fmla="val 2119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86384" y="1773936"/>
            <a:ext cx="310896" cy="310896"/>
          </a:xfrm>
          <a:prstGeom prst="ellipse">
            <a:avLst/>
          </a:prstGeom>
          <a:solidFill>
            <a:srgbClr val="2F1D63"/>
          </a:solidFill>
          <a:ln w="12700">
            <a:solidFill>
              <a:srgbClr val="2F1D6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81508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2128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523744"/>
            <a:ext cx="221284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 finds a delivery signed by a wallet that is not on the approved-partner list.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64992" y="1572768"/>
            <a:ext cx="2596896" cy="2157984"/>
          </a:xfrm>
          <a:prstGeom prst="roundRect">
            <a:avLst>
              <a:gd name="adj" fmla="val 2119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84448" y="1773936"/>
            <a:ext cx="310896" cy="310896"/>
          </a:xfrm>
          <a:prstGeom prst="ellipse">
            <a:avLst/>
          </a:prstGeom>
          <a:solidFill>
            <a:srgbClr val="2F1D63"/>
          </a:solidFill>
          <a:ln w="12700">
            <a:solidFill>
              <a:srgbClr val="2F1D6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84448" y="181508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22128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3584448" y="2523744"/>
            <a:ext cx="221284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 is marked CRITICAL in Config.xlsx, with fail action ESCALATE.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63056" y="1572768"/>
            <a:ext cx="2596896" cy="2157984"/>
          </a:xfrm>
          <a:prstGeom prst="roundRect">
            <a:avLst>
              <a:gd name="adj" fmla="val 2119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82512" y="1773936"/>
            <a:ext cx="310896" cy="310896"/>
          </a:xfrm>
          <a:prstGeom prst="ellipse">
            <a:avLst/>
          </a:prstGeom>
          <a:solidFill>
            <a:srgbClr val="2F1D63"/>
          </a:solidFill>
          <a:ln w="12700">
            <a:solidFill>
              <a:srgbClr val="2F1D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82512" y="181508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382512" y="22128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6382512" y="2523744"/>
            <a:ext cx="221284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 stops and shows the reviewer the shipment, the wallet and the finding.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961120" y="1572768"/>
            <a:ext cx="2596896" cy="2157984"/>
          </a:xfrm>
          <a:prstGeom prst="roundRect">
            <a:avLst>
              <a:gd name="adj" fmla="val 2119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80576" y="1773936"/>
            <a:ext cx="310896" cy="310896"/>
          </a:xfrm>
          <a:prstGeom prst="ellipse">
            <a:avLst/>
          </a:prstGeom>
          <a:solidFill>
            <a:srgbClr val="2F1D63"/>
          </a:solidFill>
          <a:ln w="12700">
            <a:solidFill>
              <a:srgbClr val="2F1D6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80576" y="181508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9180576" y="22128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9180576" y="2523744"/>
            <a:ext cx="221284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is written into the results before the audit log is generated.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3931920"/>
            <a:ext cx="11055096" cy="1170432"/>
          </a:xfrm>
          <a:prstGeom prst="roundRect">
            <a:avLst>
              <a:gd name="adj" fmla="val 3906"/>
            </a:avLst>
          </a:prstGeom>
          <a:solidFill>
            <a:srgbClr val="2F1D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1248" y="4096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41248" y="44074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4D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reviewer's decision is hashed into the audit chain alongside the machine's verdict. A human judgement becomes evidence, with the same tamper-evidence as everything the bot concluded on its own — not a note written beside the record.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5266944"/>
            <a:ext cx="11055096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804672" y="5431536"/>
            <a:ext cx="105796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when nobody is watching.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unattended robot has no one to answer a dialog. The bot detects that and downgrades PROMPT to AUTO_LOG, recording the anomaly as DEFERRED and continuing, so a scheduled job can never hang waiting for a person who is not there.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45566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 ·  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06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CLAIM IN THE PROJECT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 4 — an audit trail that proves itself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26464"/>
            <a:ext cx="10424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FC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entry carries the hash of the entry before it — the same idea as the blockchain we are auditing, applied to the audit itself.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066544"/>
            <a:ext cx="3401568" cy="877824"/>
          </a:xfrm>
          <a:prstGeom prst="roundRect">
            <a:avLst>
              <a:gd name="adj" fmla="val 5208"/>
            </a:avLst>
          </a:prstGeom>
          <a:solidFill>
            <a:srgbClr val="2F1D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8096" y="2194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8A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RecordHash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24871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C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the verdict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023360" y="2304288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270248" y="2066544"/>
            <a:ext cx="3401568" cy="877824"/>
          </a:xfrm>
          <a:prstGeom prst="roundRect">
            <a:avLst>
              <a:gd name="adj" fmla="val 5208"/>
            </a:avLst>
          </a:prstGeom>
          <a:solidFill>
            <a:srgbClr val="2F1D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71416" y="2194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8A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PrevHash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471416" y="24871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C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to the entry before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26680" y="2304288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7973568" y="2066544"/>
            <a:ext cx="3401568" cy="877824"/>
          </a:xfrm>
          <a:prstGeom prst="roundRect">
            <a:avLst>
              <a:gd name="adj" fmla="val 5208"/>
            </a:avLst>
          </a:prstGeom>
          <a:solidFill>
            <a:srgbClr val="2F1D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74736" y="2194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8A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EntryHash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174736" y="24871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C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seals this entry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320040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TEST: CHANGE ONE VERDICT FROM FAIL TO PASS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529584"/>
            <a:ext cx="11055096" cy="1408176"/>
          </a:xfrm>
          <a:prstGeom prst="roundRect">
            <a:avLst>
              <a:gd name="adj" fmla="val 3247"/>
            </a:avLst>
          </a:prstGeom>
          <a:solidFill>
            <a:srgbClr val="1A1038"/>
          </a:solidFill>
          <a:ln w="9525">
            <a:solidFill>
              <a:srgbClr val="48367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" y="37490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FF9C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 - first problem at line 7.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E4DF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line 7: record contents were altered (RecordHash mismatch) - SHP-1005/Dispatched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E4DF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line 7: EntryHash does not match its own contents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51389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336</a:t>
            </a:r>
            <a:endParaRPr lang="en-US" sz="27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56144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entries verified across 7 runs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270248" y="51389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700" dirty="0"/>
          </a:p>
        </p:txBody>
      </p:sp>
      <p:sp>
        <p:nvSpPr>
          <p:cNvPr id="22" name="Text 20"/>
          <p:cNvSpPr txBox="1"/>
          <p:nvPr/>
        </p:nvSpPr>
        <p:spPr>
          <a:xfrm>
            <a:off x="4270248" y="56144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 changed is enough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973568" y="51389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</a:t>
            </a:r>
            <a:endParaRPr lang="en-US" sz="2700" dirty="0"/>
          </a:p>
        </p:txBody>
      </p:sp>
      <p:sp>
        <p:nvSpPr>
          <p:cNvPr id="24" name="Text 22"/>
          <p:cNvSpPr txBox="1"/>
          <p:nvPr/>
        </p:nvSpPr>
        <p:spPr>
          <a:xfrm>
            <a:off x="7973568" y="56144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record, bot, machine, time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603504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 is append-only and spans every run. Altering any historical row breaks every link after it, so history cannot be quietly rewritten.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VERIFIES EVERY CLAIM IN THIS DECK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know it works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356616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636776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12/12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1284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checks passing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25112" y="1517904"/>
            <a:ext cx="356616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489704" y="1636776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7/7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489704" y="221284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UiPath test cases passing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83296" y="1517904"/>
            <a:ext cx="3575304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47888" y="1636776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247888" y="22128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Analyzer errors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962656"/>
            <a:ext cx="5468112" cy="3108960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04672" y="31455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suite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" y="3493008"/>
            <a:ext cx="5029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anomalies present and ABI decodes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rules fire with the expected counts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 disabled in Excel is skipped at runtime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Self-contained dashboard is produced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result on a second blockchain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Edited audit log is detected at the right line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extraction modes agree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splits 48 transactions into 12 queue items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90488" y="2962656"/>
            <a:ext cx="5468112" cy="3108960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28232" y="31455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cases in Studio's Test Explorer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28232" y="3474720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drive one rule each against fixtures built inside the test, so a failure points at exactly one rule. The seventh writes an audit chain, tampers with it and asserts the tampering is caught.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28232" y="4224528"/>
            <a:ext cx="4992624" cy="1700784"/>
          </a:xfrm>
          <a:prstGeom prst="roundRect">
            <a:avLst>
              <a:gd name="adj" fmla="val 2688"/>
            </a:avLst>
          </a:prstGeom>
          <a:solidFill>
            <a:srgbClr val="E4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47688" y="43708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 found a real bug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647688" y="4681728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56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writing the duplicate-detection test we discovered R4 assumed a transaction hash was at least twelve characters, and it crashed on a malformed one. Found, fixed and now covered — which is what testing is for.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645566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 ·  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TO UIPATH AUTOMATION CLOUD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and technology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468112" cy="2395728"/>
          </a:xfrm>
          <a:prstGeom prst="roundRect">
            <a:avLst>
              <a:gd name="adj" fmla="val 1908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04672" y="171907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1031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487168" y="21031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BlockchainLogisticsValidator v1.0.92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52374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487168" y="252374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processes feed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29443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487168" y="294436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trigger, every 4 hours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804672" y="33649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volume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487168" y="336499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queue item per shipment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90488" y="1554480"/>
            <a:ext cx="5468112" cy="2395728"/>
          </a:xfrm>
          <a:prstGeom prst="roundRect">
            <a:avLst>
              <a:gd name="adj" fmla="val 1908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28232" y="171907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shipment, not a transaction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28232" y="2066544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the six rules compare events against each other, so a worker handed a single transaction could not evaluate duplicates, ordering or required events at all. A shipment is the smallest unit that keeps every rule meaningful — and no rule reaches across shipments, so nothing is lost by splitting there.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428232" y="35112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transactions → 12 queue items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096512"/>
            <a:ext cx="11055096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04672" y="426110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04672" y="466344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RPA platform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04672" y="48920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UiPath Studio 25.10, Windows .NET 8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511296" y="466344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511296" y="48920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UiPath Orchestrator (Automation Cloud)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466344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source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217920" y="48920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Etherscan V2 multichain API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924544" y="466344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data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924544" y="48920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workbooks via Excel activities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04672" y="532180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04672" y="555040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ClosedXML, self-contained HTML, SMTP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3511296" y="532180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511296" y="555040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UiPath Testing Activities, 7 cases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6217920" y="532180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Cryptography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217920" y="555040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SHA-256, keccak-256 selectors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8924544" y="532180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8924544" y="555040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and GitHub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" y="645566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 ·  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PLAINLY SO NOTHING IS OVERCLAIMED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works, and what does not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468112" cy="4023360"/>
          </a:xfrm>
          <a:prstGeom prst="roundRect">
            <a:avLst>
              <a:gd name="adj" fmla="val 1136"/>
            </a:avLst>
          </a:prstGeom>
          <a:solidFill>
            <a:srgbClr val="E4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5564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and verified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39696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6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pipeline end to end, 48 transactions in 21 seconds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6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validation rules, against an independent oracle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6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extraction modes producing identical results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6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toggling from the spreadsheet with no code change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6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capture in simulated and unattended modes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6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 audit trail, 336 entries across 7 runs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6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 detection at the exact altered line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6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report, HTML dashboard, alerting, KPI export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6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published to Orchestrator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90488" y="1572768"/>
            <a:ext cx="5468112" cy="4023360"/>
          </a:xfrm>
          <a:prstGeom prst="roundRect">
            <a:avLst>
              <a:gd name="adj" fmla="val 1136"/>
            </a:avLst>
          </a:prstGeom>
          <a:solidFill>
            <a:srgbClr val="FDF2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46520" y="175564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executed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2139696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queues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37744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Dispatcher and Performer compile and the dispatcher's logic is verified in dry run, but the queue activities have not run against a live queue.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99923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scraping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323697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mode parses the explorer's HTML. UiAutomation 25.10 removed the classic scraping activity and its replacement needs a recorded descriptor.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385876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dialog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409651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Exercised in simulated and unattended modes only — a dialog cannot be driven headlessly, so it is demonstrated live instead.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471830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chain data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495604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mode shares the same parser as the tested paths but has not been run against Etherscan, as no API key is configured.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5742432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precisely what is unfinished is part of the engineering, not an apology for it.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645566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 ·  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06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5120640"/>
            <a:ext cx="4572000" cy="4572000"/>
          </a:xfrm>
          <a:prstGeom prst="ellipse">
            <a:avLst/>
          </a:prstGeom>
          <a:solidFill>
            <a:srgbClr val="2F1D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 next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5468112" cy="1280160"/>
          </a:xfrm>
          <a:prstGeom prst="roundRect">
            <a:avLst>
              <a:gd name="adj" fmla="val 3571"/>
            </a:avLst>
          </a:prstGeom>
          <a:solidFill>
            <a:srgbClr val="2F1D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1792224"/>
            <a:ext cx="310896" cy="310896"/>
          </a:xfrm>
          <a:prstGeom prst="ellipse">
            <a:avLst/>
          </a:prstGeom>
          <a:solidFill>
            <a:srgbClr val="FF8AAF"/>
          </a:solidFill>
          <a:ln w="12700">
            <a:solidFill>
              <a:srgbClr val="FF8AA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83337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8105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queue loop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176272"/>
            <a:ext cx="4992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FC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Dispatcher and Performer against a live Orchestrator queue and measure throughput under parallel workers.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90488" y="1572768"/>
            <a:ext cx="5468112" cy="1280160"/>
          </a:xfrm>
          <a:prstGeom prst="roundRect">
            <a:avLst>
              <a:gd name="adj" fmla="val 3571"/>
            </a:avLst>
          </a:prstGeom>
          <a:solidFill>
            <a:srgbClr val="2F1D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28232" y="1792224"/>
            <a:ext cx="310896" cy="310896"/>
          </a:xfrm>
          <a:prstGeom prst="ellipse">
            <a:avLst/>
          </a:prstGeom>
          <a:solidFill>
            <a:srgbClr val="FF8AAF"/>
          </a:solidFill>
          <a:ln w="12700">
            <a:solidFill>
              <a:srgbClr val="FF8AA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28232" y="183337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903720" y="18105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ML-based anomaly detection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2176272"/>
            <a:ext cx="4992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FC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UiPath AI Center on historical transactions to catch fraud patterns no fixed rule anticipates.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054096"/>
            <a:ext cx="5468112" cy="1280160"/>
          </a:xfrm>
          <a:prstGeom prst="roundRect">
            <a:avLst>
              <a:gd name="adj" fmla="val 3571"/>
            </a:avLst>
          </a:prstGeom>
          <a:solidFill>
            <a:srgbClr val="2F1D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3273552"/>
            <a:ext cx="310896" cy="310896"/>
          </a:xfrm>
          <a:prstGeom prst="ellipse">
            <a:avLst/>
          </a:prstGeom>
          <a:solidFill>
            <a:srgbClr val="FF8AAF"/>
          </a:solidFill>
          <a:ln w="12700">
            <a:solidFill>
              <a:srgbClr val="FF8AA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4672" y="331470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32918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data fusion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04672" y="3657600"/>
            <a:ext cx="4992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FC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on-chain records against temperature and GPS telemetry, so a cold-chain breach is caught as well as a clerical one.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90488" y="3054096"/>
            <a:ext cx="5468112" cy="1280160"/>
          </a:xfrm>
          <a:prstGeom prst="roundRect">
            <a:avLst>
              <a:gd name="adj" fmla="val 3571"/>
            </a:avLst>
          </a:prstGeom>
          <a:solidFill>
            <a:srgbClr val="2F1D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28232" y="3273552"/>
            <a:ext cx="310896" cy="310896"/>
          </a:xfrm>
          <a:prstGeom prst="ellipse">
            <a:avLst/>
          </a:prstGeom>
          <a:solidFill>
            <a:srgbClr val="FF8AAF"/>
          </a:solidFill>
          <a:ln w="12700">
            <a:solidFill>
              <a:srgbClr val="FF8AA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28232" y="331470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903720" y="32918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validation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428232" y="3657600"/>
            <a:ext cx="4992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FC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scheduled polling with blockchain WebSocket subscriptions for sub-second latency.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4608576"/>
            <a:ext cx="11055096" cy="1225296"/>
          </a:xfrm>
          <a:prstGeom prst="roundRect">
            <a:avLst>
              <a:gd name="adj" fmla="val 3731"/>
            </a:avLst>
          </a:prstGeom>
          <a:solidFill>
            <a:srgbClr val="1A1038"/>
          </a:solidFill>
          <a:ln w="9525">
            <a:solidFill>
              <a:srgbClr val="48367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77824" y="4773168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4D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reconciliation of blockchain records against enterprise systems, six rules a business team can configure, escalation where human judgement belongs, and an audit trail that proves it was not altered afterwards.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877824" y="541324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by a twelve-check acceptance suite and seven test cases that run in one command.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605332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81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github.com/AdithyaSM31/UiPath-Blockchain-Transaction-Validation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UiPath-Based Validation of Blockchain Transactions for Transparent Logistics</dc:title>
  <dc:subject>PptxGenJS Presentation</dc:subject>
  <dc:creator>Adithya Sankar Menon; Nitin Nandakumar</dc:creator>
  <cp:lastModifiedBy>Adithya Sankar Menon; Nitin Nandakumar</cp:lastModifiedBy>
  <cp:revision>1</cp:revision>
  <dcterms:created xsi:type="dcterms:W3CDTF">2026-09-12T05:29:50Z</dcterms:created>
  <dcterms:modified xsi:type="dcterms:W3CDTF">2026-09-12T05:29:50Z</dcterms:modified>
</cp:coreProperties>
</file>
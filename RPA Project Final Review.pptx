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dc284bb-8e46-d3c5-0034-c1351af7bcbc}">
          <p14:sldIdLst>
            <p14:sldId id="256"/>
            <p14:sldId id="257"/>
            <p14:sldId id="258"/>
          </p14:sldIdLst>
        </p14:section>
        <p14:section name="The system" id="{8d47bcf0-eed0-c615-5a02-a5d704c4dcd0}">
          <p14:sldIdLst>
            <p14:sldId id="259"/>
            <p14:sldId id="260"/>
            <p14:sldId id="261"/>
            <p14:sldId id="262"/>
            <p14:sldId id="263"/>
          </p14:sldIdLst>
        </p14:section>
        <p14:section name="Novelties" id="{a2fc5fbf-3824-13f3-5038-cbe03ee23e43}">
          <p14:sldIdLst>
            <p14:sldId id="264"/>
            <p14:sldId id="265"/>
            <p14:sldId id="266"/>
          </p14:sldIdLst>
        </p14:section>
        <p14:section name="Evidence" id="{06fc3fe9-aab5-a976-5386-a769ec5ab3a7}">
          <p14:sldIdLst>
            <p14:sldId id="267"/>
            <p14:sldId id="268"/>
            <p14:sldId id="269"/>
          </p14:sldIdLst>
        </p14:section>
        <p14:section name="Close" id="{5339330e-9d76-187d-362b-078f94fb8180}">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6212B"/>
                </a:solidFill>
                <a:latin typeface="+mn-lt"/>
              </a:defRPr>
            </a:pPr>
            <a:r>
              <a:rPr sz="1500" b="0" i="0" u="none" strike="noStrike">
                <a:solidFill>
                  <a:srgbClr val="16212B"/>
                </a:solidFill>
                <a:latin typeface="+mn-lt"/>
              </a:rPr>
              <a:t>Verdicts across 48 transactions</a:t>
            </a:r>
          </a:p>
        </c:rich>
      </c:tx>
      <c:layout/>
      <c:overlay val="0"/>
    </c:title>
    <c:autoTitleDeleted val="0"/>
    <c:plotArea>
      <c:layout/>
      <c:doughnutChart>
        <c:varyColors val="1"/>
        <c:ser>
          <c:idx val="0"/>
          <c:order val="0"/>
          <c:tx>
            <c:strRef>
              <c:f>Sheet1!$B$1</c:f>
              <c:strCache>
                <c:ptCount val="1"/>
                <c:pt idx="0">
                  <c:v>Verdicts</c:v>
                </c:pt>
              </c:strCache>
            </c:strRef>
          </c:tx>
          <c:spPr>
            <a:solidFill>
              <a:schemeClr val="accent1"/>
            </a:solidFill>
            <a:ln w="9525" cap="flat">
              <a:solidFill>
                <a:srgbClr val="F9F9F9"/>
              </a:solidFill>
              <a:prstDash val="solid"/>
              <a:round/>
            </a:ln>
            <a:effectLst/>
          </c:spPr>
          <c:dPt>
            <c:idx val="0"/>
            <c:bubble3D val="0"/>
            <c:spPr>
              <a:solidFill>
                <a:srgbClr val="2B8F55"/>
              </a:solidFill>
              <a:effectLst/>
            </c:spPr>
          </c:dPt>
          <c:dPt>
            <c:idx val="1"/>
            <c:bubble3D val="0"/>
            <c:spPr>
              <a:solidFill>
                <a:srgbClr val="C9821E"/>
              </a:solidFill>
              <a:effectLst/>
            </c:spPr>
          </c:dPt>
          <c:dPt>
            <c:idx val="2"/>
            <c:bubble3D val="0"/>
            <c:spPr>
              <a:solidFill>
                <a:srgbClr val="C43D3D"/>
              </a:solidFill>
              <a:effectLst/>
            </c:spPr>
          </c:dPt>
          <c:dLbls>
            <c:dLbl>
              <c:idx val="0"/>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Pass</c:v>
                </c:pt>
                <c:pt idx="1">
                  <c:v>Warning</c:v>
                </c:pt>
                <c:pt idx="2">
                  <c:v>Fail</c:v>
                </c:pt>
              </c:strCache>
            </c:strRef>
          </c:cat>
          <c:val>
            <c:numRef>
              <c:f>Sheet1!$B$2:$B$4</c:f>
              <c:numCache>
                <c:ptCount val="3"/>
                <c:pt idx="0">
                  <c:v>40</c:v>
                </c:pt>
                <c:pt idx="1">
                  <c:v>1</c:v>
                </c:pt>
                <c:pt idx="2">
                  <c:v>7</c:v>
                </c:pt>
              </c:numCache>
            </c:numRef>
          </c:val>
        </c:ser>
        <c:firstSliceAng val="0"/>
        <c:holeSize val="62"/>
      </c:doughnutChart>
      <c:spPr>
        <a:noFill/>
        <a:ln>
          <a:noFill/>
        </a:ln>
        <a:effectLst/>
      </c:spPr>
    </c:plotArea>
    <c:legend>
      <c:legendPos val="b"/>
      <c:overlay val="0"/>
      <c:txPr>
        <a:bodyPr/>
        <a:lstStyle/>
        <a:p>
          <a:pPr>
            <a:defRPr sz="1300">
              <a:solidFill>
                <a:srgbClr val="16212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6212B"/>
                </a:solidFill>
                <a:latin typeface="+mn-lt"/>
              </a:defRPr>
            </a:pPr>
            <a:r>
              <a:rPr sz="1500" b="0" i="0" u="none" strike="noStrike">
                <a:solidFill>
                  <a:srgbClr val="16212B"/>
                </a:solidFill>
                <a:latin typeface="+mn-lt"/>
              </a:rPr>
              <a:t>Rows flagged by each rule</a:t>
            </a:r>
          </a:p>
        </c:rich>
      </c:tx>
      <c:layout/>
      <c:overlay val="0"/>
    </c:title>
    <c:autoTitleDeleted val="0"/>
    <c:plotArea>
      <c:layout/>
      <c:barChart>
        <c:barDir val="bar"/>
        <c:grouping val="clustered"/>
        <c:varyColors val="0"/>
        <c:ser>
          <c:idx val="0"/>
          <c:order val="0"/>
          <c:tx>
            <c:strRef>
              <c:f>Sheet1!$B$1</c:f>
              <c:strCache>
                <c:ptCount val="1"/>
                <c:pt idx="0">
                  <c:v>Findings</c:v>
                </c:pt>
              </c:strCache>
            </c:strRef>
          </c:tx>
          <c:spPr>
            <a:solidFill>
              <a:srgbClr val="0E8577"/>
            </a:solidFill>
            <a:effectLst/>
          </c:spPr>
          <c:invertIfNegative val="0"/>
          <c:dLbls>
            <c:numFmt formatCode="#,##0" sourceLinked="0"/>
            <c:txPr>
              <a:bodyPr/>
              <a:lstStyle/>
              <a:p>
                <a:pPr>
                  <a:defRPr b="1" i="0" strike="noStrike" sz="1400" u="none">
                    <a:solidFill>
                      <a:srgbClr val="16212B"/>
                    </a:solidFill>
                    <a:latin typeface="+mn-lt"/>
                  </a:defRPr>
                </a:pPr>
              </a:p>
            </c:txPr>
            <c:showLegendKey val="0"/>
            <c:showVal val="1"/>
            <c:showCatName val="0"/>
            <c:showSerName val="0"/>
            <c:showPercent val="0"/>
            <c:showBubbleSize val="0"/>
            <c:showLeaderLines val="0"/>
          </c:dLbls>
          <c:cat>
            <c:multiLvlStrRef>
              <c:f>Sheet1!$A$2:$A$7</c:f>
              <c:multiLvlStrCache>
                <c:ptCount val="6"/>
                <c:lvl>
                  <c:pt idx="0">
                    <c:v>R1 Timestamp</c:v>
                  </c:pt>
                  <c:pt idx="1">
                    <c:v>R2 Quantity</c:v>
                  </c:pt>
                  <c:pt idx="2">
                    <c:v>R3 Wallet</c:v>
                  </c:pt>
                  <c:pt idx="3">
                    <c:v>R4 Duplicates</c:v>
                  </c:pt>
                  <c:pt idx="4">
                    <c:v>R5 Sequence</c:v>
                  </c:pt>
                  <c:pt idx="5">
                    <c:v>R6 Contract event</c:v>
                  </c:pt>
                </c:lvl>
              </c:multiLvlStrCache>
            </c:multiLvlStrRef>
          </c:cat>
          <c:val>
            <c:numRef>
              <c:f>Sheet1!$B$2:$B$7</c:f>
              <c:numCache>
                <c:formatCode>General</c:formatCode>
                <c:ptCount val="6"/>
                <c:pt idx="0">
                  <c:v>2</c:v>
                </c:pt>
                <c:pt idx="1">
                  <c:v>1</c:v>
                </c:pt>
                <c:pt idx="2">
                  <c:v>1</c:v>
                </c:pt>
                <c:pt idx="3">
                  <c:v>2</c:v>
                </c:pt>
                <c:pt idx="4">
                  <c:v>1</c:v>
                </c:pt>
                <c:pt idx="5">
                  <c:v>1</c:v>
                </c:pt>
              </c:numCache>
            </c:numRef>
          </c:val>
        </c:ser>
        <c:dLbls>
          <c:numFmt formatCode="#,##0" sourceLinked="0"/>
          <c:txPr>
            <a:bodyPr/>
            <a:lstStyle/>
            <a:p>
              <a:pPr>
                <a:defRPr b="1" i="0" strike="noStrike" sz="1400" u="none">
                  <a:solidFill>
                    <a:srgbClr val="16212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6212B"/>
                </a:solidFill>
                <a:latin typeface="+mn-lt"/>
              </a:defRPr>
            </a:pPr>
            <a:endParaRPr lang="en-US"/>
          </a:p>
        </c:txPr>
        <c:crossAx val="2094734552"/>
        <c:crosses val="autoZero"/>
        <c:auto val="1"/>
        <c:lblAlgn val="ctr"/>
        <c:noMultiLvlLbl val="1"/>
      </c:catAx>
      <c:valAx>
        <c:axId val="2094734552"/>
        <c:scaling>
          <c:orientation val="minMax"/>
          <c:max val="2.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opens. One sentence before anything else: blockchain makes a record immutable, but it does not make it correct - that gap is the whole project. This is the final review of a finished system, and everything in the deck is reproducible with one command. Do not read the names off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no computer needed. A pharmaceutical shipment moves through six companies; each handoff is written to a blockchain, so the record is immutable. But immutable is not correct - a tampered quantity, a forged timestamp or an unauthorised wallet is recorded just as permanently as a legitimate one. Today somebody cross-checks those records against the ERP by hand. At thousands a day, nobody can. Land immutable vs verified - it is the point most likely to be probed.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Either presenter, about a minute. At Review 2 the pipeline worked end to end, but six commitments from Review 1 were still open. Go down the list one clause each - the mapping engine ('the readers got dumber and a spreadsheet got smarter'), ledger noise, LOOKUP, the PDF, Teams and Slack, and the work queue that now runs entirely in Studio. Each gets its own slide or demo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leads. Four phases: ingest, validate, evidence, report. The point to emphasise is 14_Finalise_Run - batch mode and the queue Performer both call it, so queue mode is not a second, divergent code path. If asked why Invoke Code rather than all activities: three of the six rules compare rows against one another, and a state machine drawn as activities would be unreadable.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leads - new since Review 2. The three readers now only fetch; 01d builds the canonical table purely from the selected FieldMapping sheet, so a feed with different field names needs a new sheet, not a new workflow. The Besu export has different field names, hex numbers and a different time format, and reaches the same verdict. DECODE reads the shipment key from call data; LOOKUP takes it from a mapping file. And real ledgers carry noise - transfers and other contract calls - which is set aside, not flagged (TC12).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leads. Each rule is its own workflow, and each catches one seeded anomaly. R4 and R5 are set-based - they compare rows against each other - which is why rules take the whole table rather than one row at a time. R3 is CRITICAL, so it escalates to a human (slide 10). Every threshold and severity lives in Config.xlsx.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leads. About 24 seconds of workflow execution on this laptop. Against a manual baseline of two to three minutes per transaction this supports the 90%+ effort reduction from Review 1 - present it as an estimate against a stated baseline, not a measured comparison. The determinism point matters: the same 48 transactions give the same verdict every run, which is what lets the test suite assert exact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 drop if short on time. The oracle is the point: we did not just assert our own output was right, we checked it against a deliberately separate implementation (tools/verify_seeded_data.py) written from the data, not from the bot's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 demo moment: toggle R4 to FALSE in Config.xlsx, save, re-run from Studio. The log says 'R4 is disabled in Config.xlsx - skipped' and failures drop from 7 to 5. Then Novelty 3: Ethereum, Polygon and a Besu export reach identical results with only configuration changed (tools/chain_swap_demo.ps1). Set R4 back to TRUE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leads. Demo live if the projector allows: set EscalationMode = PROMPT and AttendedMode = True, run Main, and the window appears for SHP-1007. Choose REJECTED, type your name and a note, press Record decision and resume. The decision shows up in the dashboard and the PDF, and it is hashed into the audit chain like the machine's verdict. Set EscalationMode back to SIMULATE afterwards. tools/review_window_test.ps1 drives this same window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 the strongest moment. Each entry carries the hash of the one before it: the same idea as the blockchain we are auditing, applied to the audit itself. Demo: run tools/tamper_test.ps1. It verifies clean, flips one FAIL verdict to PASS - the exact edit someone covering up an anomaly would make - re-verifies, and names the exact line. Then it restores the file and verifies clean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leads. Open the newest Excel report and read one FailureReasons cell aloud - plain English on purpose, because the reader is a logistics manager. The PDF is what you hand an auditor: bot identity, configuration, every finding with the reviewer's decision, and the audit-chain head hash. The dashboard is one HTML file with no server and no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Adithya - drop if short on time. Set RunMode = DISPATCH, run Main: it writes one work item per shipment. Open Workflows/Queue/Performer.xaml and Run File: it processes them and produces the same audit trail and reports as a batch run. Say plainly that the queue is a local file and the project runs in Studio only - our Orchestrator access ended before the final review. Set RunMode back to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leads. Every claim in the deck is reproducible with one command - run it the night before, not during the review: it takes about fifteen minutes and answers on-screen windows itself near the end. Volunteer the bug story even if not asked; it is what actually happens when you test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Nitin - do not skip. Answer plainly; waffling reads as not knowing. Orchestrator is out of scope because the project runs in Studio only. The other gaps are accounts or tools, not capability: a live API key, the browser extension, and real mail and chat endpoints - each path is exercised locally up to that final hop. Nothing is stubbed.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Either presenter. Return to the opening line: immutable is not the same as verified, and this is the bot that does the verifying. Then invite questions. Expect: is blockchain data already trustworthy; why RPA rather than a Python script; why hash the audit log; is the data real; where are the tests; what does not work; why not Orchestrator. All are answered in docs/FINAL_REVIEW_SPEAKING_NOTES.md.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rtlCol="0"/>
          <a:lstStyle>
            <a:lvl1pPr algn="l" indent="0" marL="0">
              <a:buNone/>
              <a:defRPr lang="en-US" sz="3200" b="1" dirty="0">
                <a:solidFill>
                  <a:schemeClr val="tx1"/>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Final Project Review  ·  Blockchain Logistics Validator</a:t>
            </a:r>
            <a:endParaRPr lang="en-US" sz="10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3.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68680"/>
            <a:ext cx="7132320" cy="320040"/>
          </a:xfrm>
          <a:prstGeom prst="rect">
            <a:avLst/>
          </a:prstGeom>
          <a:noFill/>
          <a:ln/>
        </p:spPr>
        <p:txBody>
          <a:bodyPr wrap="square" lIns="0" tIns="0" rIns="0" bIns="0" rtlCol="0" anchor="t"/>
          <a:lstStyle/>
          <a:p>
            <a:pPr indent="0" marL="0">
              <a:buNone/>
            </a:pPr>
            <a:r>
              <a:rPr lang="en-US" sz="1300" b="1" spc="300" kern="0" dirty="0">
                <a:solidFill>
                  <a:schemeClr val="accent6"/>
                </a:solidFill>
              </a:rPr>
              <a:t>FINAL PROJECT REVIEW  ·  ROBOTIC PROCESS AUTOMATION</a:t>
            </a:r>
            <a:endParaRPr lang="en-US" sz="1300" dirty="0"/>
          </a:p>
        </p:txBody>
      </p:sp>
      <p:sp>
        <p:nvSpPr>
          <p:cNvPr id="3" name="Text 1"/>
          <p:cNvSpPr txBox="1"/>
          <p:nvPr/>
        </p:nvSpPr>
        <p:spPr>
          <a:xfrm>
            <a:off x="640080" y="1325880"/>
            <a:ext cx="6949440" cy="2103120"/>
          </a:xfrm>
          <a:prstGeom prst="rect">
            <a:avLst/>
          </a:prstGeom>
          <a:noFill/>
          <a:ln/>
        </p:spPr>
        <p:txBody>
          <a:bodyPr wrap="square" lIns="0" tIns="0" rIns="0" bIns="0" rtlCol="0" anchor="t"/>
          <a:lstStyle/>
          <a:p>
            <a:pPr indent="0" marL="0">
              <a:buNone/>
            </a:pPr>
            <a:r>
              <a:rPr lang="en-US" sz="3800" b="1" dirty="0">
                <a:solidFill>
                  <a:schemeClr val="bg1"/>
                </a:solidFill>
                <a:latin typeface="Calibri" pitchFamily="34" charset="0"/>
                <a:ea typeface="Calibri" pitchFamily="34" charset="-122"/>
                <a:cs typeface="Calibri" pitchFamily="34" charset="-120"/>
              </a:rPr>
              <a:t>UiPath-Based Validation of Blockchain Transactions for Transparent Logistics</a:t>
            </a:r>
            <a:endParaRPr lang="en-US" sz="3800" dirty="0"/>
          </a:p>
        </p:txBody>
      </p:sp>
      <p:sp>
        <p:nvSpPr>
          <p:cNvPr id="4" name="Text 2"/>
          <p:cNvSpPr txBox="1"/>
          <p:nvPr/>
        </p:nvSpPr>
        <p:spPr>
          <a:xfrm>
            <a:off x="640080" y="3611880"/>
            <a:ext cx="6949440" cy="457200"/>
          </a:xfrm>
          <a:prstGeom prst="rect">
            <a:avLst/>
          </a:prstGeom>
          <a:noFill/>
          <a:ln/>
        </p:spPr>
        <p:txBody>
          <a:bodyPr wrap="square" lIns="0" tIns="0" rIns="0" bIns="0" rtlCol="0" anchor="t"/>
          <a:lstStyle/>
          <a:p>
            <a:pPr indent="0" marL="0">
              <a:buNone/>
            </a:pPr>
            <a:r>
              <a:rPr lang="en-US" sz="2200" i="1" dirty="0">
                <a:solidFill>
                  <a:schemeClr val="accent6"/>
                </a:solidFill>
              </a:rPr>
              <a:t>Immutable is not the same as verified.</a:t>
            </a:r>
            <a:endParaRPr lang="en-US" sz="2200" dirty="0"/>
          </a:p>
        </p:txBody>
      </p:sp>
      <p:sp>
        <p:nvSpPr>
          <p:cNvPr id="5" name="Text 3"/>
          <p:cNvSpPr txBox="1"/>
          <p:nvPr/>
        </p:nvSpPr>
        <p:spPr>
          <a:xfrm>
            <a:off x="640080" y="4754880"/>
            <a:ext cx="3108960" cy="365760"/>
          </a:xfrm>
          <a:prstGeom prst="rect">
            <a:avLst/>
          </a:prstGeom>
          <a:noFill/>
          <a:ln/>
        </p:spPr>
        <p:txBody>
          <a:bodyPr wrap="square" lIns="0" tIns="0" rIns="0" bIns="0" rtlCol="0" anchor="t"/>
          <a:lstStyle/>
          <a:p>
            <a:pPr indent="0" marL="0">
              <a:buNone/>
            </a:pPr>
            <a:r>
              <a:rPr lang="en-US" sz="1800" b="1" dirty="0">
                <a:solidFill>
                  <a:schemeClr val="bg1"/>
                </a:solidFill>
              </a:rPr>
              <a:t>Adithya Sankar Menon</a:t>
            </a:r>
            <a:endParaRPr lang="en-US" sz="1800" dirty="0"/>
          </a:p>
        </p:txBody>
      </p:sp>
      <p:sp>
        <p:nvSpPr>
          <p:cNvPr id="6" name="Text 4"/>
          <p:cNvSpPr txBox="1"/>
          <p:nvPr/>
        </p:nvSpPr>
        <p:spPr>
          <a:xfrm>
            <a:off x="640080" y="5120640"/>
            <a:ext cx="3108960" cy="320040"/>
          </a:xfrm>
          <a:prstGeom prst="rect">
            <a:avLst/>
          </a:prstGeom>
          <a:noFill/>
          <a:ln/>
        </p:spPr>
        <p:txBody>
          <a:bodyPr wrap="square" lIns="0" tIns="0" rIns="0" bIns="0" rtlCol="0" anchor="t"/>
          <a:lstStyle/>
          <a:p>
            <a:pPr indent="0" marL="0">
              <a:buNone/>
            </a:pPr>
            <a:r>
              <a:rPr lang="en-US" sz="1400" dirty="0">
                <a:solidFill>
                  <a:srgbClr val="A9C3C8"/>
                </a:solidFill>
              </a:rPr>
              <a:t>23BRS1079</a:t>
            </a:r>
            <a:endParaRPr lang="en-US" sz="1400" dirty="0"/>
          </a:p>
        </p:txBody>
      </p:sp>
      <p:sp>
        <p:nvSpPr>
          <p:cNvPr id="7" name="Text 5"/>
          <p:cNvSpPr txBox="1"/>
          <p:nvPr/>
        </p:nvSpPr>
        <p:spPr>
          <a:xfrm>
            <a:off x="3931920" y="4754880"/>
            <a:ext cx="3108960" cy="365760"/>
          </a:xfrm>
          <a:prstGeom prst="rect">
            <a:avLst/>
          </a:prstGeom>
          <a:noFill/>
          <a:ln/>
        </p:spPr>
        <p:txBody>
          <a:bodyPr wrap="square" lIns="0" tIns="0" rIns="0" bIns="0" rtlCol="0" anchor="t"/>
          <a:lstStyle/>
          <a:p>
            <a:pPr indent="0" marL="0">
              <a:buNone/>
            </a:pPr>
            <a:r>
              <a:rPr lang="en-US" sz="1800" b="1" dirty="0">
                <a:solidFill>
                  <a:schemeClr val="bg1"/>
                </a:solidFill>
              </a:rPr>
              <a:t>Nitin Nandakumar</a:t>
            </a:r>
            <a:endParaRPr lang="en-US" sz="1800" dirty="0"/>
          </a:p>
        </p:txBody>
      </p:sp>
      <p:sp>
        <p:nvSpPr>
          <p:cNvPr id="8" name="Text 6"/>
          <p:cNvSpPr txBox="1"/>
          <p:nvPr/>
        </p:nvSpPr>
        <p:spPr>
          <a:xfrm>
            <a:off x="3931920" y="5120640"/>
            <a:ext cx="3108960" cy="320040"/>
          </a:xfrm>
          <a:prstGeom prst="rect">
            <a:avLst/>
          </a:prstGeom>
          <a:noFill/>
          <a:ln/>
        </p:spPr>
        <p:txBody>
          <a:bodyPr wrap="square" lIns="0" tIns="0" rIns="0" bIns="0" rtlCol="0" anchor="t"/>
          <a:lstStyle/>
          <a:p>
            <a:pPr indent="0" marL="0">
              <a:buNone/>
            </a:pPr>
            <a:r>
              <a:rPr lang="en-US" sz="1400" dirty="0">
                <a:solidFill>
                  <a:srgbClr val="A9C3C8"/>
                </a:solidFill>
              </a:rPr>
              <a:t>23BRS1378</a:t>
            </a:r>
            <a:endParaRPr lang="en-US" sz="1400" dirty="0"/>
          </a:p>
        </p:txBody>
      </p:sp>
      <p:sp>
        <p:nvSpPr>
          <p:cNvPr id="9" name="Text 7"/>
          <p:cNvSpPr txBox="1"/>
          <p:nvPr/>
        </p:nvSpPr>
        <p:spPr>
          <a:xfrm>
            <a:off x="640080" y="5897880"/>
            <a:ext cx="3657600" cy="320040"/>
          </a:xfrm>
          <a:prstGeom prst="rect">
            <a:avLst/>
          </a:prstGeom>
          <a:noFill/>
          <a:ln/>
        </p:spPr>
        <p:txBody>
          <a:bodyPr wrap="square" lIns="0" tIns="0" rIns="0" bIns="0" rtlCol="0" anchor="t"/>
          <a:lstStyle/>
          <a:p>
            <a:pPr indent="0" marL="0">
              <a:buNone/>
            </a:pPr>
            <a:r>
              <a:rPr lang="en-US" sz="1400" dirty="0">
                <a:solidFill>
                  <a:srgbClr val="A9C3C8"/>
                </a:solidFill>
              </a:rPr>
              <a:t>October 2026</a:t>
            </a:r>
            <a:endParaRPr lang="en-US" sz="1400" dirty="0"/>
          </a:p>
        </p:txBody>
      </p:sp>
      <p:sp>
        <p:nvSpPr>
          <p:cNvPr id="10" name="Shape 8"/>
          <p:cNvSpPr/>
          <p:nvPr/>
        </p:nvSpPr>
        <p:spPr>
          <a:xfrm>
            <a:off x="8412480" y="1920240"/>
            <a:ext cx="1325880" cy="1325880"/>
          </a:xfrm>
          <a:prstGeom prst="line">
            <a:avLst/>
          </a:prstGeom>
          <a:noFill/>
          <a:ln w="31750">
            <a:solidFill>
              <a:srgbClr val="8FE0D2"/>
            </a:solidFill>
            <a:prstDash val="dash"/>
          </a:ln>
        </p:spPr>
      </p:sp>
      <p:sp>
        <p:nvSpPr>
          <p:cNvPr id="11" name="Shape 9"/>
          <p:cNvSpPr/>
          <p:nvPr/>
        </p:nvSpPr>
        <p:spPr>
          <a:xfrm>
            <a:off x="9738360" y="3246120"/>
            <a:ext cx="1325880" cy="1325880"/>
          </a:xfrm>
          <a:prstGeom prst="line">
            <a:avLst/>
          </a:prstGeom>
          <a:noFill/>
          <a:ln w="31750">
            <a:solidFill>
              <a:srgbClr val="8FE0D2"/>
            </a:solidFill>
            <a:prstDash val="dash"/>
          </a:ln>
        </p:spPr>
      </p:sp>
      <p:sp>
        <p:nvSpPr>
          <p:cNvPr id="12" name="Chain block 1"/>
          <p:cNvSpPr/>
          <p:nvPr/>
        </p:nvSpPr>
        <p:spPr>
          <a:xfrm>
            <a:off x="7863840" y="1371600"/>
            <a:ext cx="1097280" cy="1097280"/>
          </a:xfrm>
          <a:prstGeom prst="roundRect">
            <a:avLst>
              <a:gd name="adj" fmla="val 13333"/>
            </a:avLst>
          </a:prstGeom>
          <a:solidFill>
            <a:srgbClr val="14404A"/>
          </a:solidFill>
          <a:ln w="19050">
            <a:solidFill>
              <a:srgbClr val="8FE0D2"/>
            </a:solidFill>
            <a:prstDash val="solid"/>
          </a:ln>
        </p:spPr>
      </p:sp>
      <p:pic>
        <p:nvPicPr>
          <p:cNvPr id="13" name="Image 0" descr="Block">    </p:cNvPr>
          <p:cNvPicPr>
            <a:picLocks noChangeAspect="1"/>
          </p:cNvPicPr>
          <p:nvPr/>
        </p:nvPicPr>
        <p:blipFill>
          <a:blip r:embed="rId1"/>
          <a:stretch>
            <a:fillRect/>
          </a:stretch>
        </p:blipFill>
        <p:spPr>
          <a:xfrm>
            <a:off x="8183880" y="1691640"/>
            <a:ext cx="457200" cy="457200"/>
          </a:xfrm>
          <a:prstGeom prst="rect">
            <a:avLst/>
          </a:prstGeom>
        </p:spPr>
      </p:pic>
      <p:sp>
        <p:nvSpPr>
          <p:cNvPr id="14" name="Chain block 2"/>
          <p:cNvSpPr/>
          <p:nvPr/>
        </p:nvSpPr>
        <p:spPr>
          <a:xfrm>
            <a:off x="9189720" y="2697480"/>
            <a:ext cx="1097280" cy="1097280"/>
          </a:xfrm>
          <a:prstGeom prst="roundRect">
            <a:avLst>
              <a:gd name="adj" fmla="val 13333"/>
            </a:avLst>
          </a:prstGeom>
          <a:solidFill>
            <a:srgbClr val="14404A"/>
          </a:solidFill>
          <a:ln w="19050">
            <a:solidFill>
              <a:srgbClr val="8FE0D2"/>
            </a:solidFill>
            <a:prstDash val="solid"/>
          </a:ln>
        </p:spPr>
      </p:sp>
      <p:pic>
        <p:nvPicPr>
          <p:cNvPr id="15" name="Image 1" descr="Block">    </p:cNvPr>
          <p:cNvPicPr>
            <a:picLocks noChangeAspect="1"/>
          </p:cNvPicPr>
          <p:nvPr/>
        </p:nvPicPr>
        <p:blipFill>
          <a:blip r:embed="rId2"/>
          <a:stretch>
            <a:fillRect/>
          </a:stretch>
        </p:blipFill>
        <p:spPr>
          <a:xfrm>
            <a:off x="9509760" y="3017520"/>
            <a:ext cx="457200" cy="457200"/>
          </a:xfrm>
          <a:prstGeom prst="rect">
            <a:avLst/>
          </a:prstGeom>
        </p:spPr>
      </p:pic>
      <p:sp>
        <p:nvSpPr>
          <p:cNvPr id="16" name="Chain block 3"/>
          <p:cNvSpPr/>
          <p:nvPr/>
        </p:nvSpPr>
        <p:spPr>
          <a:xfrm>
            <a:off x="10515600" y="4023360"/>
            <a:ext cx="1097280" cy="1097280"/>
          </a:xfrm>
          <a:prstGeom prst="roundRect">
            <a:avLst>
              <a:gd name="adj" fmla="val 13333"/>
            </a:avLst>
          </a:prstGeom>
          <a:solidFill>
            <a:schemeClr val="accent1"/>
          </a:solidFill>
          <a:ln w="19050">
            <a:solidFill>
              <a:srgbClr val="0E8577"/>
            </a:solidFill>
            <a:prstDash val="solid"/>
          </a:ln>
        </p:spPr>
      </p:sp>
      <p:pic>
        <p:nvPicPr>
          <p:cNvPr id="17" name="Image 2" descr="Verified block">    </p:cNvPr>
          <p:cNvPicPr>
            <a:picLocks noChangeAspect="1"/>
          </p:cNvPicPr>
          <p:nvPr/>
        </p:nvPicPr>
        <p:blipFill>
          <a:blip r:embed="rId3"/>
          <a:stretch>
            <a:fillRect/>
          </a:stretch>
        </p:blipFill>
        <p:spPr>
          <a:xfrm>
            <a:off x="10835640" y="4343400"/>
            <a:ext cx="457200" cy="457200"/>
          </a:xfrm>
          <a:prstGeom prst="rect">
            <a:avLst/>
          </a:prstGeom>
        </p:spPr>
      </p:pic>
      <p:sp>
        <p:nvSpPr>
          <p:cNvPr id="18" name="Text 13"/>
          <p:cNvSpPr txBox="1"/>
          <p:nvPr/>
        </p:nvSpPr>
        <p:spPr>
          <a:xfrm>
            <a:off x="7863840" y="1005840"/>
            <a:ext cx="2194560" cy="274320"/>
          </a:xfrm>
          <a:prstGeom prst="rect">
            <a:avLst/>
          </a:prstGeom>
          <a:noFill/>
          <a:ln/>
        </p:spPr>
        <p:txBody>
          <a:bodyPr wrap="square" lIns="0" tIns="0" rIns="0" bIns="0" rtlCol="0" anchor="t"/>
          <a:lstStyle/>
          <a:p>
            <a:pPr indent="0" marL="0">
              <a:buNone/>
            </a:pPr>
            <a:r>
              <a:rPr lang="en-US" sz="1200" dirty="0">
                <a:solidFill>
                  <a:srgbClr val="A9C3C8"/>
                </a:solidFill>
              </a:rPr>
              <a:t>on-chain records</a:t>
            </a:r>
            <a:endParaRPr lang="en-US" sz="1200" dirty="0"/>
          </a:p>
        </p:txBody>
      </p:sp>
      <p:sp>
        <p:nvSpPr>
          <p:cNvPr id="19" name="Text 14"/>
          <p:cNvSpPr txBox="1"/>
          <p:nvPr/>
        </p:nvSpPr>
        <p:spPr>
          <a:xfrm>
            <a:off x="9418320" y="5212080"/>
            <a:ext cx="2194560" cy="274320"/>
          </a:xfrm>
          <a:prstGeom prst="rect">
            <a:avLst/>
          </a:prstGeom>
          <a:noFill/>
          <a:ln/>
        </p:spPr>
        <p:txBody>
          <a:bodyPr wrap="square" lIns="0" tIns="0" rIns="0" bIns="0" rtlCol="0" anchor="t"/>
          <a:lstStyle/>
          <a:p>
            <a:pPr algn="r" indent="0" marL="0">
              <a:buNone/>
            </a:pPr>
            <a:r>
              <a:rPr lang="en-US" sz="1200" b="1" dirty="0">
                <a:solidFill>
                  <a:schemeClr val="accent6"/>
                </a:solidFill>
              </a:rPr>
              <a:t>verified by the bot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 PROBLEM</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Blockchain makes a record immutable, not correct</a:t>
            </a:r>
            <a:endParaRPr lang="en-US" sz="3200" dirty="0"/>
          </a:p>
        </p:txBody>
      </p:sp>
      <p:sp>
        <p:nvSpPr>
          <p:cNvPr id="4" name="Text 2"/>
          <p:cNvSpPr txBox="1"/>
          <p:nvPr/>
        </p:nvSpPr>
        <p:spPr>
          <a:xfrm>
            <a:off x="548640" y="1691640"/>
            <a:ext cx="5212080" cy="1828800"/>
          </a:xfrm>
          <a:prstGeom prst="rect">
            <a:avLst/>
          </a:prstGeom>
          <a:noFill/>
          <a:ln/>
        </p:spPr>
        <p:txBody>
          <a:bodyPr wrap="square" lIns="0" tIns="0" rIns="0" bIns="0" rtlCol="0" anchor="t"/>
          <a:lstStyle/>
          <a:p>
            <a:pPr indent="0" marL="0">
              <a:buNone/>
            </a:pPr>
            <a:r>
              <a:rPr lang="en-US" sz="2400" dirty="0">
                <a:solidFill>
                  <a:schemeClr val="tx1"/>
                </a:solidFill>
              </a:rPr>
              <a:t>A tampered quantity, a forged timestamp or an unauthorised wallet is recorded just as permanently as a legitimate one.</a:t>
            </a:r>
            <a:endParaRPr lang="en-US" sz="2400" dirty="0"/>
          </a:p>
        </p:txBody>
      </p:sp>
      <p:sp>
        <p:nvSpPr>
          <p:cNvPr id="5" name="Key point"/>
          <p:cNvSpPr/>
          <p:nvPr/>
        </p:nvSpPr>
        <p:spPr>
          <a:xfrm>
            <a:off x="548640" y="3886200"/>
            <a:ext cx="5212080" cy="1737360"/>
          </a:xfrm>
          <a:prstGeom prst="roundRect">
            <a:avLst>
              <a:gd name="adj" fmla="val 5263"/>
            </a:avLst>
          </a:prstGeom>
          <a:solidFill>
            <a:schemeClr val="bg2"/>
          </a:solidFill>
          <a:ln/>
        </p:spPr>
      </p:sp>
      <p:sp>
        <p:nvSpPr>
          <p:cNvPr id="6" name="Warning badge"/>
          <p:cNvSpPr/>
          <p:nvPr/>
        </p:nvSpPr>
        <p:spPr>
          <a:xfrm>
            <a:off x="868680" y="4206240"/>
            <a:ext cx="731520" cy="731520"/>
          </a:xfrm>
          <a:prstGeom prst="ellipse">
            <a:avLst/>
          </a:prstGeom>
          <a:solidFill>
            <a:schemeClr val="accent2"/>
          </a:solidFill>
          <a:ln/>
        </p:spPr>
      </p:sp>
      <p:pic>
        <p:nvPicPr>
          <p:cNvPr id="7" name="Image 0" descr="Warning">    </p:cNvPr>
          <p:cNvPicPr>
            <a:picLocks noChangeAspect="1"/>
          </p:cNvPicPr>
          <p:nvPr/>
        </p:nvPicPr>
        <p:blipFill>
          <a:blip r:embed="rId1"/>
          <a:stretch>
            <a:fillRect/>
          </a:stretch>
        </p:blipFill>
        <p:spPr>
          <a:xfrm>
            <a:off x="1051560" y="4389120"/>
            <a:ext cx="365760" cy="365760"/>
          </a:xfrm>
          <a:prstGeom prst="rect">
            <a:avLst/>
          </a:prstGeom>
        </p:spPr>
      </p:pic>
      <p:sp>
        <p:nvSpPr>
          <p:cNvPr id="8" name="Text 5"/>
          <p:cNvSpPr txBox="1"/>
          <p:nvPr/>
        </p:nvSpPr>
        <p:spPr>
          <a:xfrm>
            <a:off x="1828800" y="4160520"/>
            <a:ext cx="3703320" cy="1188720"/>
          </a:xfrm>
          <a:prstGeom prst="rect">
            <a:avLst/>
          </a:prstGeom>
          <a:noFill/>
          <a:ln/>
        </p:spPr>
        <p:txBody>
          <a:bodyPr wrap="square" lIns="0" tIns="0" rIns="0" bIns="0" rtlCol="0" anchor="ctr"/>
          <a:lstStyle/>
          <a:p>
            <a:pPr indent="0" marL="0">
              <a:buNone/>
            </a:pPr>
            <a:r>
              <a:rPr lang="en-US" sz="1800" b="1" dirty="0">
                <a:solidFill>
                  <a:schemeClr val="tx1"/>
                </a:solidFill>
              </a:rPr>
              <a:t>Every anomaly this bot catches is a perfectly valid on-chain transaction.</a:t>
            </a:r>
            <a:endParaRPr lang="en-US" sz="1800" dirty="0"/>
          </a:p>
        </p:txBody>
      </p:sp>
      <p:sp>
        <p:nvSpPr>
          <p:cNvPr id="9" name="Manual badge"/>
          <p:cNvSpPr/>
          <p:nvPr/>
        </p:nvSpPr>
        <p:spPr>
          <a:xfrm>
            <a:off x="6355080" y="1737360"/>
            <a:ext cx="685800" cy="685800"/>
          </a:xfrm>
          <a:prstGeom prst="ellipse">
            <a:avLst/>
          </a:prstGeom>
          <a:solidFill>
            <a:schemeClr val="accent1"/>
          </a:solidFill>
          <a:ln/>
        </p:spPr>
      </p:sp>
      <p:pic>
        <p:nvPicPr>
          <p:cNvPr id="10" name="Image 1" descr="Manual">    </p:cNvPr>
          <p:cNvPicPr>
            <a:picLocks noChangeAspect="1"/>
          </p:cNvPicPr>
          <p:nvPr/>
        </p:nvPicPr>
        <p:blipFill>
          <a:blip r:embed="rId2"/>
          <a:stretch>
            <a:fillRect/>
          </a:stretch>
        </p:blipFill>
        <p:spPr>
          <a:xfrm>
            <a:off x="6526530" y="1908810"/>
            <a:ext cx="342900" cy="342900"/>
          </a:xfrm>
          <a:prstGeom prst="rect">
            <a:avLst/>
          </a:prstGeom>
        </p:spPr>
      </p:pic>
      <p:sp>
        <p:nvSpPr>
          <p:cNvPr id="11" name="Text 7"/>
          <p:cNvSpPr txBox="1"/>
          <p:nvPr/>
        </p:nvSpPr>
        <p:spPr>
          <a:xfrm>
            <a:off x="7269480" y="1719072"/>
            <a:ext cx="4389120" cy="365760"/>
          </a:xfrm>
          <a:prstGeom prst="rect">
            <a:avLst/>
          </a:prstGeom>
          <a:noFill/>
          <a:ln/>
        </p:spPr>
        <p:txBody>
          <a:bodyPr wrap="square" lIns="0" tIns="0" rIns="0" bIns="0" rtlCol="0" anchor="t"/>
          <a:lstStyle/>
          <a:p>
            <a:pPr indent="0" marL="0">
              <a:buNone/>
            </a:pPr>
            <a:r>
              <a:rPr lang="en-US" sz="2000" b="1" dirty="0">
                <a:solidFill>
                  <a:schemeClr val="tx1"/>
                </a:solidFill>
              </a:rPr>
              <a:t>Manual</a:t>
            </a:r>
            <a:endParaRPr lang="en-US" sz="2000" dirty="0"/>
          </a:p>
        </p:txBody>
      </p:sp>
      <p:sp>
        <p:nvSpPr>
          <p:cNvPr id="12" name="Text 8"/>
          <p:cNvSpPr txBox="1"/>
          <p:nvPr/>
        </p:nvSpPr>
        <p:spPr>
          <a:xfrm>
            <a:off x="7269480" y="2121408"/>
            <a:ext cx="4389120" cy="777240"/>
          </a:xfrm>
          <a:prstGeom prst="rect">
            <a:avLst/>
          </a:prstGeom>
          <a:noFill/>
          <a:ln/>
        </p:spPr>
        <p:txBody>
          <a:bodyPr wrap="square" lIns="0" tIns="0" rIns="0" bIns="0" rtlCol="0" anchor="t"/>
          <a:lstStyle/>
          <a:p>
            <a:pPr indent="0" marL="0">
              <a:buNone/>
            </a:pPr>
            <a:r>
              <a:rPr lang="en-US" sz="1500" dirty="0">
                <a:solidFill>
                  <a:schemeClr val="accent5"/>
                </a:solidFill>
              </a:rPr>
              <a:t>Operators cross-check transaction hashes against ERP records by hand, one at a time.</a:t>
            </a:r>
            <a:endParaRPr lang="en-US" sz="1500" dirty="0"/>
          </a:p>
        </p:txBody>
      </p:sp>
      <p:sp>
        <p:nvSpPr>
          <p:cNvPr id="13" name="Siloed badge"/>
          <p:cNvSpPr/>
          <p:nvPr/>
        </p:nvSpPr>
        <p:spPr>
          <a:xfrm>
            <a:off x="6355080" y="3063240"/>
            <a:ext cx="685800" cy="685800"/>
          </a:xfrm>
          <a:prstGeom prst="ellipse">
            <a:avLst/>
          </a:prstGeom>
          <a:solidFill>
            <a:schemeClr val="accent1"/>
          </a:solidFill>
          <a:ln/>
        </p:spPr>
      </p:sp>
      <p:pic>
        <p:nvPicPr>
          <p:cNvPr id="14" name="Image 2" descr="Siloed">    </p:cNvPr>
          <p:cNvPicPr>
            <a:picLocks noChangeAspect="1"/>
          </p:cNvPicPr>
          <p:nvPr/>
        </p:nvPicPr>
        <p:blipFill>
          <a:blip r:embed="rId3"/>
          <a:stretch>
            <a:fillRect/>
          </a:stretch>
        </p:blipFill>
        <p:spPr>
          <a:xfrm>
            <a:off x="6526530" y="3234690"/>
            <a:ext cx="342900" cy="342900"/>
          </a:xfrm>
          <a:prstGeom prst="rect">
            <a:avLst/>
          </a:prstGeom>
        </p:spPr>
      </p:pic>
      <p:sp>
        <p:nvSpPr>
          <p:cNvPr id="15" name="Text 10"/>
          <p:cNvSpPr txBox="1"/>
          <p:nvPr/>
        </p:nvSpPr>
        <p:spPr>
          <a:xfrm>
            <a:off x="7269480" y="3044952"/>
            <a:ext cx="4389120" cy="365760"/>
          </a:xfrm>
          <a:prstGeom prst="rect">
            <a:avLst/>
          </a:prstGeom>
          <a:noFill/>
          <a:ln/>
        </p:spPr>
        <p:txBody>
          <a:bodyPr wrap="square" lIns="0" tIns="0" rIns="0" bIns="0" rtlCol="0" anchor="t"/>
          <a:lstStyle/>
          <a:p>
            <a:pPr indent="0" marL="0">
              <a:buNone/>
            </a:pPr>
            <a:r>
              <a:rPr lang="en-US" sz="2000" b="1" dirty="0">
                <a:solidFill>
                  <a:schemeClr val="tx1"/>
                </a:solidFill>
              </a:rPr>
              <a:t>Siloed</a:t>
            </a:r>
            <a:endParaRPr lang="en-US" sz="2000" dirty="0"/>
          </a:p>
        </p:txBody>
      </p:sp>
      <p:sp>
        <p:nvSpPr>
          <p:cNvPr id="16" name="Text 11"/>
          <p:cNvSpPr txBox="1"/>
          <p:nvPr/>
        </p:nvSpPr>
        <p:spPr>
          <a:xfrm>
            <a:off x="7269480" y="3447288"/>
            <a:ext cx="4389120" cy="777240"/>
          </a:xfrm>
          <a:prstGeom prst="rect">
            <a:avLst/>
          </a:prstGeom>
          <a:noFill/>
          <a:ln/>
        </p:spPr>
        <p:txBody>
          <a:bodyPr wrap="square" lIns="0" tIns="0" rIns="0" bIns="0" rtlCol="0" anchor="t"/>
          <a:lstStyle/>
          <a:p>
            <a:pPr indent="0" marL="0">
              <a:buNone/>
            </a:pPr>
            <a:r>
              <a:rPr lang="en-US" sz="1500" dirty="0">
                <a:solidFill>
                  <a:schemeClr val="accent5"/>
                </a:solidFill>
              </a:rPr>
              <a:t>Explorers speak JSON and hex; ERP systems speak Excel and SQL.</a:t>
            </a:r>
            <a:endParaRPr lang="en-US" sz="1500" dirty="0"/>
          </a:p>
        </p:txBody>
      </p:sp>
      <p:sp>
        <p:nvSpPr>
          <p:cNvPr id="17" name="Unprovable badge"/>
          <p:cNvSpPr/>
          <p:nvPr/>
        </p:nvSpPr>
        <p:spPr>
          <a:xfrm>
            <a:off x="6355080" y="4389120"/>
            <a:ext cx="685800" cy="685800"/>
          </a:xfrm>
          <a:prstGeom prst="ellipse">
            <a:avLst/>
          </a:prstGeom>
          <a:solidFill>
            <a:schemeClr val="accent1"/>
          </a:solidFill>
          <a:ln/>
        </p:spPr>
      </p:sp>
      <p:pic>
        <p:nvPicPr>
          <p:cNvPr id="18" name="Image 3" descr="Unprovable">    </p:cNvPr>
          <p:cNvPicPr>
            <a:picLocks noChangeAspect="1"/>
          </p:cNvPicPr>
          <p:nvPr/>
        </p:nvPicPr>
        <p:blipFill>
          <a:blip r:embed="rId4"/>
          <a:stretch>
            <a:fillRect/>
          </a:stretch>
        </p:blipFill>
        <p:spPr>
          <a:xfrm>
            <a:off x="6526530" y="4560570"/>
            <a:ext cx="342900" cy="342900"/>
          </a:xfrm>
          <a:prstGeom prst="rect">
            <a:avLst/>
          </a:prstGeom>
        </p:spPr>
      </p:pic>
      <p:sp>
        <p:nvSpPr>
          <p:cNvPr id="19" name="Text 13"/>
          <p:cNvSpPr txBox="1"/>
          <p:nvPr/>
        </p:nvSpPr>
        <p:spPr>
          <a:xfrm>
            <a:off x="7269480" y="4370832"/>
            <a:ext cx="4389120" cy="365760"/>
          </a:xfrm>
          <a:prstGeom prst="rect">
            <a:avLst/>
          </a:prstGeom>
          <a:noFill/>
          <a:ln/>
        </p:spPr>
        <p:txBody>
          <a:bodyPr wrap="square" lIns="0" tIns="0" rIns="0" bIns="0" rtlCol="0" anchor="t"/>
          <a:lstStyle/>
          <a:p>
            <a:pPr indent="0" marL="0">
              <a:buNone/>
            </a:pPr>
            <a:r>
              <a:rPr lang="en-US" sz="2000" b="1" dirty="0">
                <a:solidFill>
                  <a:schemeClr val="tx1"/>
                </a:solidFill>
              </a:rPr>
              <a:t>Unprovable</a:t>
            </a:r>
            <a:endParaRPr lang="en-US" sz="2000" dirty="0"/>
          </a:p>
        </p:txBody>
      </p:sp>
      <p:sp>
        <p:nvSpPr>
          <p:cNvPr id="20" name="Text 14"/>
          <p:cNvSpPr txBox="1"/>
          <p:nvPr/>
        </p:nvSpPr>
        <p:spPr>
          <a:xfrm>
            <a:off x="7269480" y="4773168"/>
            <a:ext cx="4389120" cy="777240"/>
          </a:xfrm>
          <a:prstGeom prst="rect">
            <a:avLst/>
          </a:prstGeom>
          <a:noFill/>
          <a:ln/>
        </p:spPr>
        <p:txBody>
          <a:bodyPr wrap="square" lIns="0" tIns="0" rIns="0" bIns="0" rtlCol="0" anchor="t"/>
          <a:lstStyle/>
          <a:p>
            <a:pPr indent="0" marL="0">
              <a:buNone/>
            </a:pPr>
            <a:r>
              <a:rPr lang="en-US" sz="1500" dirty="0">
                <a:solidFill>
                  <a:schemeClr val="accent5"/>
                </a:solidFill>
              </a:rPr>
              <a:t>A hand-kept verification log is not evidence: anyone can edit it afterwards.</a:t>
            </a:r>
            <a:endParaRPr lang="en-US" sz="15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SINCE REVIEW 2</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Six gaps closed since the last review</a:t>
            </a:r>
            <a:endParaRPr lang="en-US" sz="3200" dirty="0"/>
          </a:p>
        </p:txBody>
      </p:sp>
      <p:sp>
        <p:nvSpPr>
          <p:cNvPr id="4" name="Field-mapping engine"/>
          <p:cNvSpPr/>
          <p:nvPr/>
        </p:nvSpPr>
        <p:spPr>
          <a:xfrm>
            <a:off x="548640" y="1691640"/>
            <a:ext cx="3515258" cy="2057400"/>
          </a:xfrm>
          <a:prstGeom prst="roundRect">
            <a:avLst>
              <a:gd name="adj" fmla="val 4444"/>
            </a:avLst>
          </a:prstGeom>
          <a:solidFill>
            <a:schemeClr val="bg2"/>
          </a:solidFill>
          <a:ln/>
        </p:spPr>
      </p:sp>
      <p:sp>
        <p:nvSpPr>
          <p:cNvPr id="5" name="Field-mapping engine badge"/>
          <p:cNvSpPr/>
          <p:nvPr/>
        </p:nvSpPr>
        <p:spPr>
          <a:xfrm>
            <a:off x="822960" y="1965960"/>
            <a:ext cx="594360" cy="594360"/>
          </a:xfrm>
          <a:prstGeom prst="ellipse">
            <a:avLst/>
          </a:prstGeom>
          <a:solidFill>
            <a:schemeClr val="accent1"/>
          </a:solidFill>
          <a:ln/>
        </p:spPr>
      </p:sp>
      <p:pic>
        <p:nvPicPr>
          <p:cNvPr id="6" name="Image 0" descr="Field-mapping engine">    </p:cNvPr>
          <p:cNvPicPr>
            <a:picLocks noChangeAspect="1"/>
          </p:cNvPicPr>
          <p:nvPr/>
        </p:nvPicPr>
        <p:blipFill>
          <a:blip r:embed="rId1"/>
          <a:stretch>
            <a:fillRect/>
          </a:stretch>
        </p:blipFill>
        <p:spPr>
          <a:xfrm>
            <a:off x="971550" y="2114550"/>
            <a:ext cx="297180" cy="297180"/>
          </a:xfrm>
          <a:prstGeom prst="rect">
            <a:avLst/>
          </a:prstGeom>
        </p:spPr>
      </p:pic>
      <p:sp>
        <p:nvSpPr>
          <p:cNvPr id="7" name="Text 4"/>
          <p:cNvSpPr txBox="1"/>
          <p:nvPr/>
        </p:nvSpPr>
        <p:spPr>
          <a:xfrm>
            <a:off x="1554480" y="1965960"/>
            <a:ext cx="2280818" cy="594360"/>
          </a:xfrm>
          <a:prstGeom prst="rect">
            <a:avLst/>
          </a:prstGeom>
          <a:noFill/>
          <a:ln/>
        </p:spPr>
        <p:txBody>
          <a:bodyPr wrap="square" lIns="0" tIns="0" rIns="0" bIns="0" rtlCol="0" anchor="ctr"/>
          <a:lstStyle/>
          <a:p>
            <a:pPr indent="0" marL="0">
              <a:buNone/>
            </a:pPr>
            <a:r>
              <a:rPr lang="en-US" sz="1700" b="1" dirty="0">
                <a:solidFill>
                  <a:schemeClr val="tx1"/>
                </a:solidFill>
              </a:rPr>
              <a:t>Field-mapping engine</a:t>
            </a:r>
            <a:endParaRPr lang="en-US" sz="1700" dirty="0"/>
          </a:p>
        </p:txBody>
      </p:sp>
      <p:sp>
        <p:nvSpPr>
          <p:cNvPr id="8" name="Text 5"/>
          <p:cNvSpPr txBox="1"/>
          <p:nvPr/>
        </p:nvSpPr>
        <p:spPr>
          <a:xfrm>
            <a:off x="822960" y="2743200"/>
            <a:ext cx="2966618" cy="868680"/>
          </a:xfrm>
          <a:prstGeom prst="rect">
            <a:avLst/>
          </a:prstGeom>
          <a:noFill/>
          <a:ln/>
        </p:spPr>
        <p:txBody>
          <a:bodyPr wrap="square" lIns="0" tIns="0" rIns="0" bIns="0" rtlCol="0" anchor="t"/>
          <a:lstStyle/>
          <a:p>
            <a:pPr indent="0" marL="0">
              <a:buNone/>
            </a:pPr>
            <a:r>
              <a:rPr lang="en-US" sz="1400" dirty="0">
                <a:solidFill>
                  <a:schemeClr val="accent5"/>
                </a:solidFill>
              </a:rPr>
              <a:t>Readers fetch; a spreadsheet translates. A new feed schema needs a sheet, not a workflow.</a:t>
            </a:r>
            <a:endParaRPr lang="en-US" sz="1400" dirty="0"/>
          </a:p>
        </p:txBody>
      </p:sp>
      <p:sp>
        <p:nvSpPr>
          <p:cNvPr id="9" name="Ledger noise handled"/>
          <p:cNvSpPr/>
          <p:nvPr/>
        </p:nvSpPr>
        <p:spPr>
          <a:xfrm>
            <a:off x="4338218" y="1691640"/>
            <a:ext cx="3515258" cy="2057400"/>
          </a:xfrm>
          <a:prstGeom prst="roundRect">
            <a:avLst>
              <a:gd name="adj" fmla="val 4444"/>
            </a:avLst>
          </a:prstGeom>
          <a:solidFill>
            <a:schemeClr val="bg2"/>
          </a:solidFill>
          <a:ln/>
        </p:spPr>
      </p:sp>
      <p:sp>
        <p:nvSpPr>
          <p:cNvPr id="10" name="Ledger noise handled badge"/>
          <p:cNvSpPr/>
          <p:nvPr/>
        </p:nvSpPr>
        <p:spPr>
          <a:xfrm>
            <a:off x="4612538" y="1965960"/>
            <a:ext cx="594360" cy="594360"/>
          </a:xfrm>
          <a:prstGeom prst="ellipse">
            <a:avLst/>
          </a:prstGeom>
          <a:solidFill>
            <a:schemeClr val="accent1"/>
          </a:solidFill>
          <a:ln/>
        </p:spPr>
      </p:sp>
      <p:pic>
        <p:nvPicPr>
          <p:cNvPr id="11" name="Image 1" descr="Ledger noise handled">    </p:cNvPr>
          <p:cNvPicPr>
            <a:picLocks noChangeAspect="1"/>
          </p:cNvPicPr>
          <p:nvPr/>
        </p:nvPicPr>
        <p:blipFill>
          <a:blip r:embed="rId2"/>
          <a:stretch>
            <a:fillRect/>
          </a:stretch>
        </p:blipFill>
        <p:spPr>
          <a:xfrm>
            <a:off x="4761128" y="2114550"/>
            <a:ext cx="297180" cy="297180"/>
          </a:xfrm>
          <a:prstGeom prst="rect">
            <a:avLst/>
          </a:prstGeom>
        </p:spPr>
      </p:pic>
      <p:sp>
        <p:nvSpPr>
          <p:cNvPr id="12" name="Text 8"/>
          <p:cNvSpPr txBox="1"/>
          <p:nvPr/>
        </p:nvSpPr>
        <p:spPr>
          <a:xfrm>
            <a:off x="5344058" y="1965960"/>
            <a:ext cx="2280818" cy="594360"/>
          </a:xfrm>
          <a:prstGeom prst="rect">
            <a:avLst/>
          </a:prstGeom>
          <a:noFill/>
          <a:ln/>
        </p:spPr>
        <p:txBody>
          <a:bodyPr wrap="square" lIns="0" tIns="0" rIns="0" bIns="0" rtlCol="0" anchor="ctr"/>
          <a:lstStyle/>
          <a:p>
            <a:pPr indent="0" marL="0">
              <a:buNone/>
            </a:pPr>
            <a:r>
              <a:rPr lang="en-US" sz="1700" b="1" dirty="0">
                <a:solidFill>
                  <a:schemeClr val="tx1"/>
                </a:solidFill>
              </a:rPr>
              <a:t>Ledger noise handled</a:t>
            </a:r>
            <a:endParaRPr lang="en-US" sz="1700" dirty="0"/>
          </a:p>
        </p:txBody>
      </p:sp>
      <p:sp>
        <p:nvSpPr>
          <p:cNvPr id="13" name="Text 9"/>
          <p:cNvSpPr txBox="1"/>
          <p:nvPr/>
        </p:nvSpPr>
        <p:spPr>
          <a:xfrm>
            <a:off x="4612538" y="2743200"/>
            <a:ext cx="2966618" cy="868680"/>
          </a:xfrm>
          <a:prstGeom prst="rect">
            <a:avLst/>
          </a:prstGeom>
          <a:noFill/>
          <a:ln/>
        </p:spPr>
        <p:txBody>
          <a:bodyPr wrap="square" lIns="0" tIns="0" rIns="0" bIns="0" rtlCol="0" anchor="t"/>
          <a:lstStyle/>
          <a:p>
            <a:pPr indent="0" marL="0">
              <a:buNone/>
            </a:pPr>
            <a:r>
              <a:rPr lang="en-US" sz="1400" dirty="0">
                <a:solidFill>
                  <a:schemeClr val="accent5"/>
                </a:solidFill>
              </a:rPr>
              <a:t>Value transfers and calls to other functions are set aside, not mistaken for fraud.</a:t>
            </a:r>
            <a:endParaRPr lang="en-US" sz="1400" dirty="0"/>
          </a:p>
        </p:txBody>
      </p:sp>
      <p:sp>
        <p:nvSpPr>
          <p:cNvPr id="14" name="LOOKUP linking"/>
          <p:cNvSpPr/>
          <p:nvPr/>
        </p:nvSpPr>
        <p:spPr>
          <a:xfrm>
            <a:off x="8127797" y="1691640"/>
            <a:ext cx="3515258" cy="2057400"/>
          </a:xfrm>
          <a:prstGeom prst="roundRect">
            <a:avLst>
              <a:gd name="adj" fmla="val 4444"/>
            </a:avLst>
          </a:prstGeom>
          <a:solidFill>
            <a:schemeClr val="bg2"/>
          </a:solidFill>
          <a:ln/>
        </p:spPr>
      </p:sp>
      <p:sp>
        <p:nvSpPr>
          <p:cNvPr id="15" name="LOOKUP linking badge"/>
          <p:cNvSpPr/>
          <p:nvPr/>
        </p:nvSpPr>
        <p:spPr>
          <a:xfrm>
            <a:off x="8402117" y="1965960"/>
            <a:ext cx="594360" cy="594360"/>
          </a:xfrm>
          <a:prstGeom prst="ellipse">
            <a:avLst/>
          </a:prstGeom>
          <a:solidFill>
            <a:schemeClr val="accent1"/>
          </a:solidFill>
          <a:ln/>
        </p:spPr>
      </p:sp>
      <p:pic>
        <p:nvPicPr>
          <p:cNvPr id="16" name="Image 2" descr="LOOKUP linking">    </p:cNvPr>
          <p:cNvPicPr>
            <a:picLocks noChangeAspect="1"/>
          </p:cNvPicPr>
          <p:nvPr/>
        </p:nvPicPr>
        <p:blipFill>
          <a:blip r:embed="rId3"/>
          <a:stretch>
            <a:fillRect/>
          </a:stretch>
        </p:blipFill>
        <p:spPr>
          <a:xfrm>
            <a:off x="8550707" y="2114550"/>
            <a:ext cx="297180" cy="297180"/>
          </a:xfrm>
          <a:prstGeom prst="rect">
            <a:avLst/>
          </a:prstGeom>
        </p:spPr>
      </p:pic>
      <p:sp>
        <p:nvSpPr>
          <p:cNvPr id="17" name="Text 12"/>
          <p:cNvSpPr txBox="1"/>
          <p:nvPr/>
        </p:nvSpPr>
        <p:spPr>
          <a:xfrm>
            <a:off x="9133637" y="1965960"/>
            <a:ext cx="2280818" cy="594360"/>
          </a:xfrm>
          <a:prstGeom prst="rect">
            <a:avLst/>
          </a:prstGeom>
          <a:noFill/>
          <a:ln/>
        </p:spPr>
        <p:txBody>
          <a:bodyPr wrap="square" lIns="0" tIns="0" rIns="0" bIns="0" rtlCol="0" anchor="ctr"/>
          <a:lstStyle/>
          <a:p>
            <a:pPr indent="0" marL="0">
              <a:buNone/>
            </a:pPr>
            <a:r>
              <a:rPr lang="en-US" sz="1700" b="1" dirty="0">
                <a:solidFill>
                  <a:schemeClr val="tx1"/>
                </a:solidFill>
              </a:rPr>
              <a:t>LOOKUP linking</a:t>
            </a:r>
            <a:endParaRPr lang="en-US" sz="1700" dirty="0"/>
          </a:p>
        </p:txBody>
      </p:sp>
      <p:sp>
        <p:nvSpPr>
          <p:cNvPr id="18" name="Text 13"/>
          <p:cNvSpPr txBox="1"/>
          <p:nvPr/>
        </p:nvSpPr>
        <p:spPr>
          <a:xfrm>
            <a:off x="8402117" y="2743200"/>
            <a:ext cx="2966618" cy="868680"/>
          </a:xfrm>
          <a:prstGeom prst="rect">
            <a:avLst/>
          </a:prstGeom>
          <a:noFill/>
          <a:ln/>
        </p:spPr>
        <p:txBody>
          <a:bodyPr wrap="square" lIns="0" tIns="0" rIns="0" bIns="0" rtlCol="0" anchor="t"/>
          <a:lstStyle/>
          <a:p>
            <a:pPr indent="0" marL="0">
              <a:buNone/>
            </a:pPr>
            <a:r>
              <a:rPr lang="en-US" sz="1400" dirty="0">
                <a:solidFill>
                  <a:schemeClr val="accent5"/>
                </a:solidFill>
              </a:rPr>
              <a:t>When a contract carries no shipment key, a mapping file supplies it.</a:t>
            </a:r>
            <a:endParaRPr lang="en-US" sz="1400" dirty="0"/>
          </a:p>
        </p:txBody>
      </p:sp>
      <p:sp>
        <p:nvSpPr>
          <p:cNvPr id="19" name="PDF audit report"/>
          <p:cNvSpPr/>
          <p:nvPr/>
        </p:nvSpPr>
        <p:spPr>
          <a:xfrm>
            <a:off x="548640" y="4023360"/>
            <a:ext cx="3515258" cy="2057400"/>
          </a:xfrm>
          <a:prstGeom prst="roundRect">
            <a:avLst>
              <a:gd name="adj" fmla="val 4444"/>
            </a:avLst>
          </a:prstGeom>
          <a:solidFill>
            <a:schemeClr val="bg2"/>
          </a:solidFill>
          <a:ln/>
        </p:spPr>
      </p:sp>
      <p:sp>
        <p:nvSpPr>
          <p:cNvPr id="20" name="PDF audit report badge"/>
          <p:cNvSpPr/>
          <p:nvPr/>
        </p:nvSpPr>
        <p:spPr>
          <a:xfrm>
            <a:off x="822960" y="4297680"/>
            <a:ext cx="594360" cy="594360"/>
          </a:xfrm>
          <a:prstGeom prst="ellipse">
            <a:avLst/>
          </a:prstGeom>
          <a:solidFill>
            <a:schemeClr val="accent1"/>
          </a:solidFill>
          <a:ln/>
        </p:spPr>
      </p:sp>
      <p:pic>
        <p:nvPicPr>
          <p:cNvPr id="21" name="Image 3" descr="PDF audit report">    </p:cNvPr>
          <p:cNvPicPr>
            <a:picLocks noChangeAspect="1"/>
          </p:cNvPicPr>
          <p:nvPr/>
        </p:nvPicPr>
        <p:blipFill>
          <a:blip r:embed="rId4"/>
          <a:stretch>
            <a:fillRect/>
          </a:stretch>
        </p:blipFill>
        <p:spPr>
          <a:xfrm>
            <a:off x="971550" y="4446270"/>
            <a:ext cx="297180" cy="297180"/>
          </a:xfrm>
          <a:prstGeom prst="rect">
            <a:avLst/>
          </a:prstGeom>
        </p:spPr>
      </p:pic>
      <p:sp>
        <p:nvSpPr>
          <p:cNvPr id="22" name="Text 16"/>
          <p:cNvSpPr txBox="1"/>
          <p:nvPr/>
        </p:nvSpPr>
        <p:spPr>
          <a:xfrm>
            <a:off x="1554480" y="4297680"/>
            <a:ext cx="2280818" cy="594360"/>
          </a:xfrm>
          <a:prstGeom prst="rect">
            <a:avLst/>
          </a:prstGeom>
          <a:noFill/>
          <a:ln/>
        </p:spPr>
        <p:txBody>
          <a:bodyPr wrap="square" lIns="0" tIns="0" rIns="0" bIns="0" rtlCol="0" anchor="ctr"/>
          <a:lstStyle/>
          <a:p>
            <a:pPr indent="0" marL="0">
              <a:buNone/>
            </a:pPr>
            <a:r>
              <a:rPr lang="en-US" sz="1700" b="1" dirty="0">
                <a:solidFill>
                  <a:schemeClr val="tx1"/>
                </a:solidFill>
              </a:rPr>
              <a:t>PDF audit report</a:t>
            </a:r>
            <a:endParaRPr lang="en-US" sz="1700" dirty="0"/>
          </a:p>
        </p:txBody>
      </p:sp>
      <p:sp>
        <p:nvSpPr>
          <p:cNvPr id="23" name="Text 17"/>
          <p:cNvSpPr txBox="1"/>
          <p:nvPr/>
        </p:nvSpPr>
        <p:spPr>
          <a:xfrm>
            <a:off x="822960" y="5074920"/>
            <a:ext cx="2966618" cy="868680"/>
          </a:xfrm>
          <a:prstGeom prst="rect">
            <a:avLst/>
          </a:prstGeom>
          <a:noFill/>
          <a:ln/>
        </p:spPr>
        <p:txBody>
          <a:bodyPr wrap="square" lIns="0" tIns="0" rIns="0" bIns="0" rtlCol="0" anchor="t"/>
          <a:lstStyle/>
          <a:p>
            <a:pPr indent="0" marL="0">
              <a:buNone/>
            </a:pPr>
            <a:r>
              <a:rPr lang="en-US" sz="1400" dirty="0">
                <a:solidFill>
                  <a:schemeClr val="accent5"/>
                </a:solidFill>
              </a:rPr>
              <a:t>The document handed to an auditor: findings, decisions, chain head, signature block.</a:t>
            </a:r>
            <a:endParaRPr lang="en-US" sz="1400" dirty="0"/>
          </a:p>
        </p:txBody>
      </p:sp>
      <p:sp>
        <p:nvSpPr>
          <p:cNvPr id="24" name="Teams and Slack alerts"/>
          <p:cNvSpPr/>
          <p:nvPr/>
        </p:nvSpPr>
        <p:spPr>
          <a:xfrm>
            <a:off x="4338218" y="4023360"/>
            <a:ext cx="3515258" cy="2057400"/>
          </a:xfrm>
          <a:prstGeom prst="roundRect">
            <a:avLst>
              <a:gd name="adj" fmla="val 4444"/>
            </a:avLst>
          </a:prstGeom>
          <a:solidFill>
            <a:schemeClr val="bg2"/>
          </a:solidFill>
          <a:ln/>
        </p:spPr>
      </p:sp>
      <p:sp>
        <p:nvSpPr>
          <p:cNvPr id="25" name="Teams and Slack alerts badge"/>
          <p:cNvSpPr/>
          <p:nvPr/>
        </p:nvSpPr>
        <p:spPr>
          <a:xfrm>
            <a:off x="4612538" y="4297680"/>
            <a:ext cx="594360" cy="594360"/>
          </a:xfrm>
          <a:prstGeom prst="ellipse">
            <a:avLst/>
          </a:prstGeom>
          <a:solidFill>
            <a:schemeClr val="accent1"/>
          </a:solidFill>
          <a:ln/>
        </p:spPr>
      </p:sp>
      <p:pic>
        <p:nvPicPr>
          <p:cNvPr id="26" name="Image 4" descr="Teams and Slack alerts">    </p:cNvPr>
          <p:cNvPicPr>
            <a:picLocks noChangeAspect="1"/>
          </p:cNvPicPr>
          <p:nvPr/>
        </p:nvPicPr>
        <p:blipFill>
          <a:blip r:embed="rId5"/>
          <a:stretch>
            <a:fillRect/>
          </a:stretch>
        </p:blipFill>
        <p:spPr>
          <a:xfrm>
            <a:off x="4761128" y="4446270"/>
            <a:ext cx="297180" cy="297180"/>
          </a:xfrm>
          <a:prstGeom prst="rect">
            <a:avLst/>
          </a:prstGeom>
        </p:spPr>
      </p:pic>
      <p:sp>
        <p:nvSpPr>
          <p:cNvPr id="27" name="Text 20"/>
          <p:cNvSpPr txBox="1"/>
          <p:nvPr/>
        </p:nvSpPr>
        <p:spPr>
          <a:xfrm>
            <a:off x="5344058" y="4297680"/>
            <a:ext cx="2280818" cy="594360"/>
          </a:xfrm>
          <a:prstGeom prst="rect">
            <a:avLst/>
          </a:prstGeom>
          <a:noFill/>
          <a:ln/>
        </p:spPr>
        <p:txBody>
          <a:bodyPr wrap="square" lIns="0" tIns="0" rIns="0" bIns="0" rtlCol="0" anchor="ctr"/>
          <a:lstStyle/>
          <a:p>
            <a:pPr indent="0" marL="0">
              <a:buNone/>
            </a:pPr>
            <a:r>
              <a:rPr lang="en-US" sz="1700" b="1" dirty="0">
                <a:solidFill>
                  <a:schemeClr val="tx1"/>
                </a:solidFill>
              </a:rPr>
              <a:t>Teams and Slack alerts</a:t>
            </a:r>
            <a:endParaRPr lang="en-US" sz="1700" dirty="0"/>
          </a:p>
        </p:txBody>
      </p:sp>
      <p:sp>
        <p:nvSpPr>
          <p:cNvPr id="28" name="Text 21"/>
          <p:cNvSpPr txBox="1"/>
          <p:nvPr/>
        </p:nvSpPr>
        <p:spPr>
          <a:xfrm>
            <a:off x="4612538" y="5074920"/>
            <a:ext cx="2966618" cy="868680"/>
          </a:xfrm>
          <a:prstGeom prst="rect">
            <a:avLst/>
          </a:prstGeom>
          <a:noFill/>
          <a:ln/>
        </p:spPr>
        <p:txBody>
          <a:bodyPr wrap="square" lIns="0" tIns="0" rIns="0" bIns="0" rtlCol="0" anchor="t"/>
          <a:lstStyle/>
          <a:p>
            <a:pPr indent="0" marL="0">
              <a:buNone/>
            </a:pPr>
            <a:r>
              <a:rPr lang="en-US" sz="1400" dirty="0">
                <a:solidFill>
                  <a:schemeClr val="accent5"/>
                </a:solidFill>
              </a:rPr>
              <a:t>An Adaptive Card and a Block Kit message alongside the e-mail.</a:t>
            </a:r>
            <a:endParaRPr lang="en-US" sz="1400" dirty="0"/>
          </a:p>
        </p:txBody>
      </p:sp>
      <p:sp>
        <p:nvSpPr>
          <p:cNvPr id="29" name="Work queue in Studio"/>
          <p:cNvSpPr/>
          <p:nvPr/>
        </p:nvSpPr>
        <p:spPr>
          <a:xfrm>
            <a:off x="8127797" y="4023360"/>
            <a:ext cx="3515258" cy="2057400"/>
          </a:xfrm>
          <a:prstGeom prst="roundRect">
            <a:avLst>
              <a:gd name="adj" fmla="val 4444"/>
            </a:avLst>
          </a:prstGeom>
          <a:solidFill>
            <a:schemeClr val="bg2"/>
          </a:solidFill>
          <a:ln/>
        </p:spPr>
      </p:sp>
      <p:sp>
        <p:nvSpPr>
          <p:cNvPr id="30" name="Work queue in Studio badge"/>
          <p:cNvSpPr/>
          <p:nvPr/>
        </p:nvSpPr>
        <p:spPr>
          <a:xfrm>
            <a:off x="8402117" y="4297680"/>
            <a:ext cx="594360" cy="594360"/>
          </a:xfrm>
          <a:prstGeom prst="ellipse">
            <a:avLst/>
          </a:prstGeom>
          <a:solidFill>
            <a:schemeClr val="accent1"/>
          </a:solidFill>
          <a:ln/>
        </p:spPr>
      </p:sp>
      <p:pic>
        <p:nvPicPr>
          <p:cNvPr id="31" name="Image 5" descr="Work queue in Studio">    </p:cNvPr>
          <p:cNvPicPr>
            <a:picLocks noChangeAspect="1"/>
          </p:cNvPicPr>
          <p:nvPr/>
        </p:nvPicPr>
        <p:blipFill>
          <a:blip r:embed="rId6"/>
          <a:stretch>
            <a:fillRect/>
          </a:stretch>
        </p:blipFill>
        <p:spPr>
          <a:xfrm>
            <a:off x="8550707" y="4446270"/>
            <a:ext cx="297180" cy="297180"/>
          </a:xfrm>
          <a:prstGeom prst="rect">
            <a:avLst/>
          </a:prstGeom>
        </p:spPr>
      </p:pic>
      <p:sp>
        <p:nvSpPr>
          <p:cNvPr id="32" name="Text 24"/>
          <p:cNvSpPr txBox="1"/>
          <p:nvPr/>
        </p:nvSpPr>
        <p:spPr>
          <a:xfrm>
            <a:off x="9133637" y="4297680"/>
            <a:ext cx="2280818" cy="594360"/>
          </a:xfrm>
          <a:prstGeom prst="rect">
            <a:avLst/>
          </a:prstGeom>
          <a:noFill/>
          <a:ln/>
        </p:spPr>
        <p:txBody>
          <a:bodyPr wrap="square" lIns="0" tIns="0" rIns="0" bIns="0" rtlCol="0" anchor="ctr"/>
          <a:lstStyle/>
          <a:p>
            <a:pPr indent="0" marL="0">
              <a:buNone/>
            </a:pPr>
            <a:r>
              <a:rPr lang="en-US" sz="1700" b="1" dirty="0">
                <a:solidFill>
                  <a:schemeClr val="tx1"/>
                </a:solidFill>
              </a:rPr>
              <a:t>Work queue in Studio</a:t>
            </a:r>
            <a:endParaRPr lang="en-US" sz="1700" dirty="0"/>
          </a:p>
        </p:txBody>
      </p:sp>
      <p:sp>
        <p:nvSpPr>
          <p:cNvPr id="33" name="Text 25"/>
          <p:cNvSpPr txBox="1"/>
          <p:nvPr/>
        </p:nvSpPr>
        <p:spPr>
          <a:xfrm>
            <a:off x="8402117" y="5074920"/>
            <a:ext cx="2966618" cy="868680"/>
          </a:xfrm>
          <a:prstGeom prst="rect">
            <a:avLst/>
          </a:prstGeom>
          <a:noFill/>
          <a:ln/>
        </p:spPr>
        <p:txBody>
          <a:bodyPr wrap="square" lIns="0" tIns="0" rIns="0" bIns="0" rtlCol="0" anchor="t"/>
          <a:lstStyle/>
          <a:p>
            <a:pPr indent="0" marL="0">
              <a:buNone/>
            </a:pPr>
            <a:r>
              <a:rPr lang="en-US" sz="1400" dirty="0">
                <a:solidFill>
                  <a:schemeClr val="accent5"/>
                </a:solidFill>
              </a:rPr>
              <a:t>Dispatcher and Performer split a run per shipment, with no Orchestrator.</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ARCHITECTURE</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28 workflows, orchestrated by Main.xaml</a:t>
            </a:r>
            <a:endParaRPr lang="en-US" sz="3200" dirty="0"/>
          </a:p>
        </p:txBody>
      </p:sp>
      <p:sp>
        <p:nvSpPr>
          <p:cNvPr id="4" name="1 · INGEST"/>
          <p:cNvSpPr/>
          <p:nvPr/>
        </p:nvSpPr>
        <p:spPr>
          <a:xfrm>
            <a:off x="548640" y="1645920"/>
            <a:ext cx="2567864" cy="3246120"/>
          </a:xfrm>
          <a:prstGeom prst="roundRect">
            <a:avLst>
              <a:gd name="adj" fmla="val 3561"/>
            </a:avLst>
          </a:prstGeom>
          <a:solidFill>
            <a:schemeClr val="bg2"/>
          </a:solidFill>
          <a:ln/>
        </p:spPr>
      </p:sp>
      <p:sp>
        <p:nvSpPr>
          <p:cNvPr id="5" name="Text 3"/>
          <p:cNvSpPr txBox="1"/>
          <p:nvPr/>
        </p:nvSpPr>
        <p:spPr>
          <a:xfrm>
            <a:off x="777240" y="1828800"/>
            <a:ext cx="2110664"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1 · INGEST</a:t>
            </a:r>
            <a:endParaRPr lang="en-US" sz="1400" dirty="0"/>
          </a:p>
        </p:txBody>
      </p:sp>
      <p:sp>
        <p:nvSpPr>
          <p:cNvPr id="6" name="Shape 4"/>
          <p:cNvSpPr/>
          <p:nvPr/>
        </p:nvSpPr>
        <p:spPr>
          <a:xfrm>
            <a:off x="777240" y="2286000"/>
            <a:ext cx="2110664" cy="411480"/>
          </a:xfrm>
          <a:prstGeom prst="roundRect">
            <a:avLst>
              <a:gd name="adj" fmla="val 17778"/>
            </a:avLst>
          </a:prstGeom>
          <a:solidFill>
            <a:schemeClr val="bg1"/>
          </a:solidFill>
          <a:ln w="9525">
            <a:solidFill>
              <a:srgbClr val="D5E1DF"/>
            </a:solidFill>
            <a:prstDash val="solid"/>
          </a:ln>
        </p:spPr>
      </p:sp>
      <p:sp>
        <p:nvSpPr>
          <p:cNvPr id="7" name="Text 5"/>
          <p:cNvSpPr txBox="1"/>
          <p:nvPr/>
        </p:nvSpPr>
        <p:spPr>
          <a:xfrm>
            <a:off x="914400" y="228600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00   </a:t>
            </a:r>
            <a:pPr indent="0" marL="0">
              <a:buNone/>
            </a:pPr>
            <a:r>
              <a:rPr lang="en-US" sz="1400" dirty="0">
                <a:solidFill>
                  <a:schemeClr val="tx1"/>
                </a:solidFill>
              </a:rPr>
              <a:t>Read config</a:t>
            </a:r>
            <a:endParaRPr lang="en-US" sz="1400" dirty="0"/>
          </a:p>
        </p:txBody>
      </p:sp>
      <p:sp>
        <p:nvSpPr>
          <p:cNvPr id="8" name="Shape 6"/>
          <p:cNvSpPr/>
          <p:nvPr/>
        </p:nvSpPr>
        <p:spPr>
          <a:xfrm>
            <a:off x="777240" y="2788920"/>
            <a:ext cx="2110664" cy="411480"/>
          </a:xfrm>
          <a:prstGeom prst="roundRect">
            <a:avLst>
              <a:gd name="adj" fmla="val 17778"/>
            </a:avLst>
          </a:prstGeom>
          <a:solidFill>
            <a:schemeClr val="bg1"/>
          </a:solidFill>
          <a:ln w="9525">
            <a:solidFill>
              <a:srgbClr val="D5E1DF"/>
            </a:solidFill>
            <a:prstDash val="solid"/>
          </a:ln>
        </p:spPr>
      </p:sp>
      <p:sp>
        <p:nvSpPr>
          <p:cNvPr id="9" name="Text 7"/>
          <p:cNvSpPr txBox="1"/>
          <p:nvPr/>
        </p:nvSpPr>
        <p:spPr>
          <a:xfrm>
            <a:off x="914400" y="278892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01   </a:t>
            </a:r>
            <a:pPr indent="0" marL="0">
              <a:buNone/>
            </a:pPr>
            <a:r>
              <a:rPr lang="en-US" sz="1400" dirty="0">
                <a:solidFill>
                  <a:schemeClr val="tx1"/>
                </a:solidFill>
              </a:rPr>
              <a:t>Extract chain</a:t>
            </a:r>
            <a:endParaRPr lang="en-US" sz="1400" dirty="0"/>
          </a:p>
        </p:txBody>
      </p:sp>
      <p:sp>
        <p:nvSpPr>
          <p:cNvPr id="10" name="Shape 8"/>
          <p:cNvSpPr/>
          <p:nvPr/>
        </p:nvSpPr>
        <p:spPr>
          <a:xfrm>
            <a:off x="777240" y="3291840"/>
            <a:ext cx="2110664" cy="411480"/>
          </a:xfrm>
          <a:prstGeom prst="roundRect">
            <a:avLst>
              <a:gd name="adj" fmla="val 17778"/>
            </a:avLst>
          </a:prstGeom>
          <a:solidFill>
            <a:schemeClr val="bg1"/>
          </a:solidFill>
          <a:ln w="9525">
            <a:solidFill>
              <a:srgbClr val="D5E1DF"/>
            </a:solidFill>
            <a:prstDash val="solid"/>
          </a:ln>
        </p:spPr>
      </p:sp>
      <p:sp>
        <p:nvSpPr>
          <p:cNvPr id="11" name="Text 9"/>
          <p:cNvSpPr txBox="1"/>
          <p:nvPr/>
        </p:nvSpPr>
        <p:spPr>
          <a:xfrm>
            <a:off x="914400" y="329184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01d   </a:t>
            </a:r>
            <a:pPr indent="0" marL="0">
              <a:buNone/>
            </a:pPr>
            <a:r>
              <a:rPr lang="en-US" sz="1400" dirty="0">
                <a:solidFill>
                  <a:schemeClr val="tx1"/>
                </a:solidFill>
              </a:rPr>
              <a:t>Field mapping</a:t>
            </a:r>
            <a:endParaRPr lang="en-US" sz="1400" dirty="0"/>
          </a:p>
        </p:txBody>
      </p:sp>
      <p:sp>
        <p:nvSpPr>
          <p:cNvPr id="12" name="Shape 10"/>
          <p:cNvSpPr/>
          <p:nvPr/>
        </p:nvSpPr>
        <p:spPr>
          <a:xfrm>
            <a:off x="777240" y="3794760"/>
            <a:ext cx="2110664" cy="411480"/>
          </a:xfrm>
          <a:prstGeom prst="roundRect">
            <a:avLst>
              <a:gd name="adj" fmla="val 17778"/>
            </a:avLst>
          </a:prstGeom>
          <a:solidFill>
            <a:schemeClr val="bg1"/>
          </a:solidFill>
          <a:ln w="9525">
            <a:solidFill>
              <a:srgbClr val="D5E1DF"/>
            </a:solidFill>
            <a:prstDash val="solid"/>
          </a:ln>
        </p:spPr>
      </p:sp>
      <p:sp>
        <p:nvSpPr>
          <p:cNvPr id="13" name="Text 11"/>
          <p:cNvSpPr txBox="1"/>
          <p:nvPr/>
        </p:nvSpPr>
        <p:spPr>
          <a:xfrm>
            <a:off x="914400" y="379476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02   </a:t>
            </a:r>
            <a:pPr indent="0" marL="0">
              <a:buNone/>
            </a:pPr>
            <a:r>
              <a:rPr lang="en-US" sz="1400" dirty="0">
                <a:solidFill>
                  <a:schemeClr val="tx1"/>
                </a:solidFill>
              </a:rPr>
              <a:t>Extract ERP</a:t>
            </a:r>
            <a:endParaRPr lang="en-US" sz="1400" dirty="0"/>
          </a:p>
        </p:txBody>
      </p:sp>
      <p:sp>
        <p:nvSpPr>
          <p:cNvPr id="14" name="Shape 12"/>
          <p:cNvSpPr/>
          <p:nvPr/>
        </p:nvSpPr>
        <p:spPr>
          <a:xfrm>
            <a:off x="777240" y="4297680"/>
            <a:ext cx="2110664" cy="411480"/>
          </a:xfrm>
          <a:prstGeom prst="roundRect">
            <a:avLst>
              <a:gd name="adj" fmla="val 17778"/>
            </a:avLst>
          </a:prstGeom>
          <a:solidFill>
            <a:schemeClr val="bg1"/>
          </a:solidFill>
          <a:ln w="9525">
            <a:solidFill>
              <a:srgbClr val="D5E1DF"/>
            </a:solidFill>
            <a:prstDash val="solid"/>
          </a:ln>
        </p:spPr>
      </p:sp>
      <p:sp>
        <p:nvSpPr>
          <p:cNvPr id="15" name="Text 13"/>
          <p:cNvSpPr txBox="1"/>
          <p:nvPr/>
        </p:nvSpPr>
        <p:spPr>
          <a:xfrm>
            <a:off x="914400" y="429768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03   </a:t>
            </a:r>
            <a:pPr indent="0" marL="0">
              <a:buNone/>
            </a:pPr>
            <a:r>
              <a:rPr lang="en-US" sz="1400" dirty="0">
                <a:solidFill>
                  <a:schemeClr val="tx1"/>
                </a:solidFill>
              </a:rPr>
              <a:t>Map and join</a:t>
            </a:r>
            <a:endParaRPr lang="en-US" sz="1400" dirty="0"/>
          </a:p>
        </p:txBody>
      </p:sp>
      <p:sp>
        <p:nvSpPr>
          <p:cNvPr id="16" name="2 · VALIDATE"/>
          <p:cNvSpPr/>
          <p:nvPr/>
        </p:nvSpPr>
        <p:spPr>
          <a:xfrm>
            <a:off x="3390824" y="1645920"/>
            <a:ext cx="2567864" cy="3246120"/>
          </a:xfrm>
          <a:prstGeom prst="roundRect">
            <a:avLst>
              <a:gd name="adj" fmla="val 3561"/>
            </a:avLst>
          </a:prstGeom>
          <a:solidFill>
            <a:schemeClr val="bg2"/>
          </a:solidFill>
          <a:ln/>
        </p:spPr>
      </p:sp>
      <p:sp>
        <p:nvSpPr>
          <p:cNvPr id="17" name="Text 15"/>
          <p:cNvSpPr txBox="1"/>
          <p:nvPr/>
        </p:nvSpPr>
        <p:spPr>
          <a:xfrm>
            <a:off x="3619424" y="1828800"/>
            <a:ext cx="2110664"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2 · VALIDATE</a:t>
            </a:r>
            <a:endParaRPr lang="en-US" sz="1400" dirty="0"/>
          </a:p>
        </p:txBody>
      </p:sp>
      <p:sp>
        <p:nvSpPr>
          <p:cNvPr id="18" name="Shape 16"/>
          <p:cNvSpPr/>
          <p:nvPr/>
        </p:nvSpPr>
        <p:spPr>
          <a:xfrm>
            <a:off x="3619424" y="2286000"/>
            <a:ext cx="2110664" cy="411480"/>
          </a:xfrm>
          <a:prstGeom prst="roundRect">
            <a:avLst>
              <a:gd name="adj" fmla="val 17778"/>
            </a:avLst>
          </a:prstGeom>
          <a:solidFill>
            <a:schemeClr val="bg1"/>
          </a:solidFill>
          <a:ln w="9525">
            <a:solidFill>
              <a:srgbClr val="D5E1DF"/>
            </a:solidFill>
            <a:prstDash val="solid"/>
          </a:ln>
        </p:spPr>
      </p:sp>
      <p:sp>
        <p:nvSpPr>
          <p:cNvPr id="19" name="Text 17"/>
          <p:cNvSpPr txBox="1"/>
          <p:nvPr/>
        </p:nvSpPr>
        <p:spPr>
          <a:xfrm>
            <a:off x="3756584" y="228600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05   </a:t>
            </a:r>
            <a:pPr indent="0" marL="0">
              <a:buNone/>
            </a:pPr>
            <a:r>
              <a:rPr lang="en-US" sz="1400" dirty="0">
                <a:solidFill>
                  <a:schemeClr val="tx1"/>
                </a:solidFill>
              </a:rPr>
              <a:t>Rules R1-R6</a:t>
            </a:r>
            <a:endParaRPr lang="en-US" sz="1400" dirty="0"/>
          </a:p>
        </p:txBody>
      </p:sp>
      <p:sp>
        <p:nvSpPr>
          <p:cNvPr id="20" name="Shape 18"/>
          <p:cNvSpPr/>
          <p:nvPr/>
        </p:nvSpPr>
        <p:spPr>
          <a:xfrm>
            <a:off x="3619424" y="2788920"/>
            <a:ext cx="2110664" cy="411480"/>
          </a:xfrm>
          <a:prstGeom prst="roundRect">
            <a:avLst>
              <a:gd name="adj" fmla="val 17778"/>
            </a:avLst>
          </a:prstGeom>
          <a:solidFill>
            <a:schemeClr val="bg1"/>
          </a:solidFill>
          <a:ln w="9525">
            <a:solidFill>
              <a:srgbClr val="D5E1DF"/>
            </a:solidFill>
            <a:prstDash val="solid"/>
          </a:ln>
        </p:spPr>
      </p:sp>
      <p:sp>
        <p:nvSpPr>
          <p:cNvPr id="21" name="Text 19"/>
          <p:cNvSpPr txBox="1"/>
          <p:nvPr/>
        </p:nvSpPr>
        <p:spPr>
          <a:xfrm>
            <a:off x="3756584" y="278892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06   </a:t>
            </a:r>
            <a:pPr indent="0" marL="0">
              <a:buNone/>
            </a:pPr>
            <a:r>
              <a:rPr lang="en-US" sz="1400" dirty="0">
                <a:solidFill>
                  <a:schemeClr val="tx1"/>
                </a:solidFill>
              </a:rPr>
              <a:t>Human review</a:t>
            </a:r>
            <a:endParaRPr lang="en-US" sz="1400" dirty="0"/>
          </a:p>
        </p:txBody>
      </p:sp>
      <p:sp>
        <p:nvSpPr>
          <p:cNvPr id="22" name="Text 20"/>
          <p:cNvSpPr txBox="1"/>
          <p:nvPr/>
        </p:nvSpPr>
        <p:spPr>
          <a:xfrm>
            <a:off x="3619424" y="3429000"/>
            <a:ext cx="2110664" cy="1463040"/>
          </a:xfrm>
          <a:prstGeom prst="rect">
            <a:avLst/>
          </a:prstGeom>
          <a:noFill/>
          <a:ln/>
        </p:spPr>
        <p:txBody>
          <a:bodyPr wrap="square" lIns="0" tIns="0" rIns="0" bIns="0" rtlCol="0" anchor="t"/>
          <a:lstStyle/>
          <a:p>
            <a:pPr indent="0" marL="0">
              <a:buNone/>
            </a:pPr>
            <a:r>
              <a:rPr lang="en-US" sz="1300" dirty="0">
                <a:solidFill>
                  <a:schemeClr val="accent5"/>
                </a:solidFill>
              </a:rPr>
              <a:t>Six rule workflows, switched on and tuned from the ValidationRules sheet. CRITICAL findings pause for a person.</a:t>
            </a:r>
            <a:endParaRPr lang="en-US" sz="1300" dirty="0"/>
          </a:p>
        </p:txBody>
      </p:sp>
      <p:sp>
        <p:nvSpPr>
          <p:cNvPr id="23" name="3 · EVIDENCE"/>
          <p:cNvSpPr/>
          <p:nvPr/>
        </p:nvSpPr>
        <p:spPr>
          <a:xfrm>
            <a:off x="6233008" y="1645920"/>
            <a:ext cx="2567864" cy="3246120"/>
          </a:xfrm>
          <a:prstGeom prst="roundRect">
            <a:avLst>
              <a:gd name="adj" fmla="val 3561"/>
            </a:avLst>
          </a:prstGeom>
          <a:solidFill>
            <a:schemeClr val="bg2"/>
          </a:solidFill>
          <a:ln/>
        </p:spPr>
      </p:sp>
      <p:sp>
        <p:nvSpPr>
          <p:cNvPr id="24" name="Text 22"/>
          <p:cNvSpPr txBox="1"/>
          <p:nvPr/>
        </p:nvSpPr>
        <p:spPr>
          <a:xfrm>
            <a:off x="6461608" y="1828800"/>
            <a:ext cx="2110664"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 EVIDENCE</a:t>
            </a:r>
            <a:endParaRPr lang="en-US" sz="1400" dirty="0"/>
          </a:p>
        </p:txBody>
      </p:sp>
      <p:sp>
        <p:nvSpPr>
          <p:cNvPr id="25" name="Shape 23"/>
          <p:cNvSpPr/>
          <p:nvPr/>
        </p:nvSpPr>
        <p:spPr>
          <a:xfrm>
            <a:off x="6461608" y="2286000"/>
            <a:ext cx="2110664" cy="411480"/>
          </a:xfrm>
          <a:prstGeom prst="roundRect">
            <a:avLst>
              <a:gd name="adj" fmla="val 17778"/>
            </a:avLst>
          </a:prstGeom>
          <a:solidFill>
            <a:schemeClr val="bg1"/>
          </a:solidFill>
          <a:ln w="9525">
            <a:solidFill>
              <a:srgbClr val="D5E1DF"/>
            </a:solidFill>
            <a:prstDash val="solid"/>
          </a:ln>
        </p:spPr>
      </p:sp>
      <p:sp>
        <p:nvSpPr>
          <p:cNvPr id="26" name="Text 24"/>
          <p:cNvSpPr txBox="1"/>
          <p:nvPr/>
        </p:nvSpPr>
        <p:spPr>
          <a:xfrm>
            <a:off x="6598768" y="228600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10   </a:t>
            </a:r>
            <a:pPr indent="0" marL="0">
              <a:buNone/>
            </a:pPr>
            <a:r>
              <a:rPr lang="en-US" sz="1400" dirty="0">
                <a:solidFill>
                  <a:schemeClr val="tx1"/>
                </a:solidFill>
              </a:rPr>
              <a:t>Hash-chained log</a:t>
            </a:r>
            <a:endParaRPr lang="en-US" sz="1400" dirty="0"/>
          </a:p>
        </p:txBody>
      </p:sp>
      <p:sp>
        <p:nvSpPr>
          <p:cNvPr id="27" name="Shape 25"/>
          <p:cNvSpPr/>
          <p:nvPr/>
        </p:nvSpPr>
        <p:spPr>
          <a:xfrm>
            <a:off x="6461608" y="2788920"/>
            <a:ext cx="2110664" cy="411480"/>
          </a:xfrm>
          <a:prstGeom prst="roundRect">
            <a:avLst>
              <a:gd name="adj" fmla="val 17778"/>
            </a:avLst>
          </a:prstGeom>
          <a:solidFill>
            <a:schemeClr val="bg1"/>
          </a:solidFill>
          <a:ln w="9525">
            <a:solidFill>
              <a:srgbClr val="D5E1DF"/>
            </a:solidFill>
            <a:prstDash val="solid"/>
          </a:ln>
        </p:spPr>
      </p:sp>
      <p:sp>
        <p:nvSpPr>
          <p:cNvPr id="28" name="Text 26"/>
          <p:cNvSpPr txBox="1"/>
          <p:nvPr/>
        </p:nvSpPr>
        <p:spPr>
          <a:xfrm>
            <a:off x="6598768" y="278892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12   </a:t>
            </a:r>
            <a:pPr indent="0" marL="0">
              <a:buNone/>
            </a:pPr>
            <a:r>
              <a:rPr lang="en-US" sz="1400" dirty="0">
                <a:solidFill>
                  <a:schemeClr val="tx1"/>
                </a:solidFill>
              </a:rPr>
              <a:t>Verify chain</a:t>
            </a:r>
            <a:endParaRPr lang="en-US" sz="1400" dirty="0"/>
          </a:p>
        </p:txBody>
      </p:sp>
      <p:sp>
        <p:nvSpPr>
          <p:cNvPr id="29" name="Text 27"/>
          <p:cNvSpPr txBox="1"/>
          <p:nvPr/>
        </p:nvSpPr>
        <p:spPr>
          <a:xfrm>
            <a:off x="6461608" y="3429000"/>
            <a:ext cx="2110664" cy="1463040"/>
          </a:xfrm>
          <a:prstGeom prst="rect">
            <a:avLst/>
          </a:prstGeom>
          <a:noFill/>
          <a:ln/>
        </p:spPr>
        <p:txBody>
          <a:bodyPr wrap="square" lIns="0" tIns="0" rIns="0" bIns="0" rtlCol="0" anchor="t"/>
          <a:lstStyle/>
          <a:p>
            <a:pPr indent="0" marL="0">
              <a:buNone/>
            </a:pPr>
            <a:r>
              <a:rPr lang="en-US" sz="1300" dirty="0">
                <a:solidFill>
                  <a:schemeClr val="accent5"/>
                </a:solidFill>
              </a:rPr>
              <a:t>Every verdict is appended to a hash-chained CSV, then the whole chain is re-verified.</a:t>
            </a:r>
            <a:endParaRPr lang="en-US" sz="1300" dirty="0"/>
          </a:p>
        </p:txBody>
      </p:sp>
      <p:sp>
        <p:nvSpPr>
          <p:cNvPr id="30" name="4 · REPORT"/>
          <p:cNvSpPr/>
          <p:nvPr/>
        </p:nvSpPr>
        <p:spPr>
          <a:xfrm>
            <a:off x="9075191" y="1645920"/>
            <a:ext cx="2567864" cy="3246120"/>
          </a:xfrm>
          <a:prstGeom prst="roundRect">
            <a:avLst>
              <a:gd name="adj" fmla="val 3561"/>
            </a:avLst>
          </a:prstGeom>
          <a:solidFill>
            <a:schemeClr val="bg2"/>
          </a:solidFill>
          <a:ln/>
        </p:spPr>
      </p:sp>
      <p:sp>
        <p:nvSpPr>
          <p:cNvPr id="31" name="Text 29"/>
          <p:cNvSpPr txBox="1"/>
          <p:nvPr/>
        </p:nvSpPr>
        <p:spPr>
          <a:xfrm>
            <a:off x="9303791" y="1828800"/>
            <a:ext cx="2110664"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4 · REPORT</a:t>
            </a:r>
            <a:endParaRPr lang="en-US" sz="1400" dirty="0"/>
          </a:p>
        </p:txBody>
      </p:sp>
      <p:sp>
        <p:nvSpPr>
          <p:cNvPr id="32" name="Shape 30"/>
          <p:cNvSpPr/>
          <p:nvPr/>
        </p:nvSpPr>
        <p:spPr>
          <a:xfrm>
            <a:off x="9303791" y="2286000"/>
            <a:ext cx="2110664" cy="411480"/>
          </a:xfrm>
          <a:prstGeom prst="roundRect">
            <a:avLst>
              <a:gd name="adj" fmla="val 17778"/>
            </a:avLst>
          </a:prstGeom>
          <a:solidFill>
            <a:schemeClr val="bg1"/>
          </a:solidFill>
          <a:ln w="9525">
            <a:solidFill>
              <a:srgbClr val="D5E1DF"/>
            </a:solidFill>
            <a:prstDash val="solid"/>
          </a:ln>
        </p:spPr>
      </p:sp>
      <p:sp>
        <p:nvSpPr>
          <p:cNvPr id="33" name="Text 31"/>
          <p:cNvSpPr txBox="1"/>
          <p:nvPr/>
        </p:nvSpPr>
        <p:spPr>
          <a:xfrm>
            <a:off x="9440951" y="228600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07   </a:t>
            </a:r>
            <a:pPr indent="0" marL="0">
              <a:buNone/>
            </a:pPr>
            <a:r>
              <a:rPr lang="en-US" sz="1400" dirty="0">
                <a:solidFill>
                  <a:schemeClr val="tx1"/>
                </a:solidFill>
              </a:rPr>
              <a:t>Excel report</a:t>
            </a:r>
            <a:endParaRPr lang="en-US" sz="1400" dirty="0"/>
          </a:p>
        </p:txBody>
      </p:sp>
      <p:sp>
        <p:nvSpPr>
          <p:cNvPr id="34" name="Shape 32"/>
          <p:cNvSpPr/>
          <p:nvPr/>
        </p:nvSpPr>
        <p:spPr>
          <a:xfrm>
            <a:off x="9303791" y="2788920"/>
            <a:ext cx="2110664" cy="411480"/>
          </a:xfrm>
          <a:prstGeom prst="roundRect">
            <a:avLst>
              <a:gd name="adj" fmla="val 17778"/>
            </a:avLst>
          </a:prstGeom>
          <a:solidFill>
            <a:schemeClr val="bg1"/>
          </a:solidFill>
          <a:ln w="9525">
            <a:solidFill>
              <a:srgbClr val="D5E1DF"/>
            </a:solidFill>
            <a:prstDash val="solid"/>
          </a:ln>
        </p:spPr>
      </p:sp>
      <p:sp>
        <p:nvSpPr>
          <p:cNvPr id="35" name="Text 33"/>
          <p:cNvSpPr txBox="1"/>
          <p:nvPr/>
        </p:nvSpPr>
        <p:spPr>
          <a:xfrm>
            <a:off x="9440951" y="278892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08   </a:t>
            </a:r>
            <a:pPr indent="0" marL="0">
              <a:buNone/>
            </a:pPr>
            <a:r>
              <a:rPr lang="en-US" sz="1400" dirty="0">
                <a:solidFill>
                  <a:schemeClr val="tx1"/>
                </a:solidFill>
              </a:rPr>
              <a:t>PDF audit report</a:t>
            </a:r>
            <a:endParaRPr lang="en-US" sz="1400" dirty="0"/>
          </a:p>
        </p:txBody>
      </p:sp>
      <p:sp>
        <p:nvSpPr>
          <p:cNvPr id="36" name="Shape 34"/>
          <p:cNvSpPr/>
          <p:nvPr/>
        </p:nvSpPr>
        <p:spPr>
          <a:xfrm>
            <a:off x="9303791" y="3291840"/>
            <a:ext cx="2110664" cy="411480"/>
          </a:xfrm>
          <a:prstGeom prst="roundRect">
            <a:avLst>
              <a:gd name="adj" fmla="val 17778"/>
            </a:avLst>
          </a:prstGeom>
          <a:solidFill>
            <a:schemeClr val="bg1"/>
          </a:solidFill>
          <a:ln w="9525">
            <a:solidFill>
              <a:srgbClr val="D5E1DF"/>
            </a:solidFill>
            <a:prstDash val="solid"/>
          </a:ln>
        </p:spPr>
      </p:sp>
      <p:sp>
        <p:nvSpPr>
          <p:cNvPr id="37" name="Text 35"/>
          <p:cNvSpPr txBox="1"/>
          <p:nvPr/>
        </p:nvSpPr>
        <p:spPr>
          <a:xfrm>
            <a:off x="9440951" y="329184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13   </a:t>
            </a:r>
            <a:pPr indent="0" marL="0">
              <a:buNone/>
            </a:pPr>
            <a:r>
              <a:rPr lang="en-US" sz="1400" dirty="0">
                <a:solidFill>
                  <a:schemeClr val="tx1"/>
                </a:solidFill>
              </a:rPr>
              <a:t>Dashboard</a:t>
            </a:r>
            <a:endParaRPr lang="en-US" sz="1400" dirty="0"/>
          </a:p>
        </p:txBody>
      </p:sp>
      <p:sp>
        <p:nvSpPr>
          <p:cNvPr id="38" name="Shape 36"/>
          <p:cNvSpPr/>
          <p:nvPr/>
        </p:nvSpPr>
        <p:spPr>
          <a:xfrm>
            <a:off x="9303791" y="3794760"/>
            <a:ext cx="2110664" cy="411480"/>
          </a:xfrm>
          <a:prstGeom prst="roundRect">
            <a:avLst>
              <a:gd name="adj" fmla="val 17778"/>
            </a:avLst>
          </a:prstGeom>
          <a:solidFill>
            <a:schemeClr val="bg1"/>
          </a:solidFill>
          <a:ln w="9525">
            <a:solidFill>
              <a:srgbClr val="D5E1DF"/>
            </a:solidFill>
            <a:prstDash val="solid"/>
          </a:ln>
        </p:spPr>
      </p:sp>
      <p:sp>
        <p:nvSpPr>
          <p:cNvPr id="39" name="Text 37"/>
          <p:cNvSpPr txBox="1"/>
          <p:nvPr/>
        </p:nvSpPr>
        <p:spPr>
          <a:xfrm>
            <a:off x="9440951" y="379476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09   </a:t>
            </a:r>
            <a:pPr indent="0" marL="0">
              <a:buNone/>
            </a:pPr>
            <a:r>
              <a:rPr lang="en-US" sz="1400" dirty="0">
                <a:solidFill>
                  <a:schemeClr val="tx1"/>
                </a:solidFill>
              </a:rPr>
              <a:t>E-mail alert</a:t>
            </a:r>
            <a:endParaRPr lang="en-US" sz="1400" dirty="0"/>
          </a:p>
        </p:txBody>
      </p:sp>
      <p:sp>
        <p:nvSpPr>
          <p:cNvPr id="40" name="Shape 38"/>
          <p:cNvSpPr/>
          <p:nvPr/>
        </p:nvSpPr>
        <p:spPr>
          <a:xfrm>
            <a:off x="9303791" y="4297680"/>
            <a:ext cx="2110664" cy="411480"/>
          </a:xfrm>
          <a:prstGeom prst="roundRect">
            <a:avLst>
              <a:gd name="adj" fmla="val 17778"/>
            </a:avLst>
          </a:prstGeom>
          <a:solidFill>
            <a:schemeClr val="bg1"/>
          </a:solidFill>
          <a:ln w="9525">
            <a:solidFill>
              <a:srgbClr val="D5E1DF"/>
            </a:solidFill>
            <a:prstDash val="solid"/>
          </a:ln>
        </p:spPr>
      </p:sp>
      <p:sp>
        <p:nvSpPr>
          <p:cNvPr id="41" name="Text 39"/>
          <p:cNvSpPr txBox="1"/>
          <p:nvPr/>
        </p:nvSpPr>
        <p:spPr>
          <a:xfrm>
            <a:off x="9440951" y="4297680"/>
            <a:ext cx="1836344" cy="411480"/>
          </a:xfrm>
          <a:prstGeom prst="rect">
            <a:avLst/>
          </a:prstGeom>
          <a:noFill/>
          <a:ln/>
        </p:spPr>
        <p:txBody>
          <a:bodyPr wrap="square" lIns="0" tIns="0" rIns="0" bIns="0" rtlCol="0" anchor="ctr"/>
          <a:lstStyle/>
          <a:p>
            <a:pPr indent="0" marL="0">
              <a:buNone/>
            </a:pPr>
            <a:r>
              <a:rPr lang="en-US" sz="1400" b="1" dirty="0">
                <a:solidFill>
                  <a:schemeClr val="accent1"/>
                </a:solidFill>
              </a:rPr>
              <a:t>09b   </a:t>
            </a:r>
            <a:pPr indent="0" marL="0">
              <a:buNone/>
            </a:pPr>
            <a:r>
              <a:rPr lang="en-US" sz="1400" dirty="0">
                <a:solidFill>
                  <a:schemeClr val="tx1"/>
                </a:solidFill>
              </a:rPr>
              <a:t>Teams / Slack</a:t>
            </a:r>
            <a:endParaRPr lang="en-US" sz="1400" dirty="0"/>
          </a:p>
        </p:txBody>
      </p:sp>
      <p:sp>
        <p:nvSpPr>
          <p:cNvPr id="42" name="Structure in XAML badge"/>
          <p:cNvSpPr/>
          <p:nvPr/>
        </p:nvSpPr>
        <p:spPr>
          <a:xfrm>
            <a:off x="548640" y="5193792"/>
            <a:ext cx="548640" cy="548640"/>
          </a:xfrm>
          <a:prstGeom prst="ellipse">
            <a:avLst/>
          </a:prstGeom>
          <a:solidFill>
            <a:schemeClr val="accent1"/>
          </a:solidFill>
          <a:ln/>
        </p:spPr>
      </p:sp>
      <p:pic>
        <p:nvPicPr>
          <p:cNvPr id="43" name="Image 0" descr="Structure in XAML">    </p:cNvPr>
          <p:cNvPicPr>
            <a:picLocks noChangeAspect="1"/>
          </p:cNvPicPr>
          <p:nvPr/>
        </p:nvPicPr>
        <p:blipFill>
          <a:blip r:embed="rId1"/>
          <a:stretch>
            <a:fillRect/>
          </a:stretch>
        </p:blipFill>
        <p:spPr>
          <a:xfrm>
            <a:off x="685800" y="5330952"/>
            <a:ext cx="274320" cy="274320"/>
          </a:xfrm>
          <a:prstGeom prst="rect">
            <a:avLst/>
          </a:prstGeom>
        </p:spPr>
      </p:pic>
      <p:sp>
        <p:nvSpPr>
          <p:cNvPr id="44" name="Text 41"/>
          <p:cNvSpPr txBox="1"/>
          <p:nvPr/>
        </p:nvSpPr>
        <p:spPr>
          <a:xfrm>
            <a:off x="1280160" y="5120640"/>
            <a:ext cx="2783738" cy="365760"/>
          </a:xfrm>
          <a:prstGeom prst="rect">
            <a:avLst/>
          </a:prstGeom>
          <a:noFill/>
          <a:ln/>
        </p:spPr>
        <p:txBody>
          <a:bodyPr wrap="square" lIns="0" tIns="0" rIns="0" bIns="0" rtlCol="0" anchor="t"/>
          <a:lstStyle/>
          <a:p>
            <a:pPr indent="0" marL="0">
              <a:buNone/>
            </a:pPr>
            <a:r>
              <a:rPr lang="en-US" sz="1600" b="1" dirty="0">
                <a:solidFill>
                  <a:schemeClr val="tx1"/>
                </a:solidFill>
              </a:rPr>
              <a:t>Structure in XAML</a:t>
            </a:r>
            <a:endParaRPr lang="en-US" sz="1600" dirty="0"/>
          </a:p>
        </p:txBody>
      </p:sp>
      <p:sp>
        <p:nvSpPr>
          <p:cNvPr id="45" name="Text 42"/>
          <p:cNvSpPr txBox="1"/>
          <p:nvPr/>
        </p:nvSpPr>
        <p:spPr>
          <a:xfrm>
            <a:off x="1280160" y="5504688"/>
            <a:ext cx="2783738" cy="685800"/>
          </a:xfrm>
          <a:prstGeom prst="rect">
            <a:avLst/>
          </a:prstGeom>
          <a:noFill/>
          <a:ln/>
        </p:spPr>
        <p:txBody>
          <a:bodyPr wrap="square" lIns="0" tIns="0" rIns="0" bIns="0" rtlCol="0" anchor="t"/>
          <a:lstStyle/>
          <a:p>
            <a:pPr indent="0" marL="0">
              <a:buNone/>
            </a:pPr>
            <a:r>
              <a:rPr lang="en-US" sz="1300" dirty="0">
                <a:solidFill>
                  <a:schemeClr val="accent5"/>
                </a:solidFill>
              </a:rPr>
              <a:t>Sequences, Excel, database, mail and HTTP stay visual in Studio.</a:t>
            </a:r>
            <a:endParaRPr lang="en-US" sz="1300" dirty="0"/>
          </a:p>
        </p:txBody>
      </p:sp>
      <p:sp>
        <p:nvSpPr>
          <p:cNvPr id="46" name="Algorithms in Invoke Code badge"/>
          <p:cNvSpPr/>
          <p:nvPr/>
        </p:nvSpPr>
        <p:spPr>
          <a:xfrm>
            <a:off x="4338218" y="5193792"/>
            <a:ext cx="548640" cy="548640"/>
          </a:xfrm>
          <a:prstGeom prst="ellipse">
            <a:avLst/>
          </a:prstGeom>
          <a:solidFill>
            <a:schemeClr val="accent1"/>
          </a:solidFill>
          <a:ln/>
        </p:spPr>
      </p:sp>
      <p:pic>
        <p:nvPicPr>
          <p:cNvPr id="47" name="Image 1" descr="Algorithms in Invoke Code">    </p:cNvPr>
          <p:cNvPicPr>
            <a:picLocks noChangeAspect="1"/>
          </p:cNvPicPr>
          <p:nvPr/>
        </p:nvPicPr>
        <p:blipFill>
          <a:blip r:embed="rId2"/>
          <a:stretch>
            <a:fillRect/>
          </a:stretch>
        </p:blipFill>
        <p:spPr>
          <a:xfrm>
            <a:off x="4475378" y="5330952"/>
            <a:ext cx="274320" cy="274320"/>
          </a:xfrm>
          <a:prstGeom prst="rect">
            <a:avLst/>
          </a:prstGeom>
        </p:spPr>
      </p:pic>
      <p:sp>
        <p:nvSpPr>
          <p:cNvPr id="48" name="Text 44"/>
          <p:cNvSpPr txBox="1"/>
          <p:nvPr/>
        </p:nvSpPr>
        <p:spPr>
          <a:xfrm>
            <a:off x="5069738" y="5120640"/>
            <a:ext cx="2783738" cy="365760"/>
          </a:xfrm>
          <a:prstGeom prst="rect">
            <a:avLst/>
          </a:prstGeom>
          <a:noFill/>
          <a:ln/>
        </p:spPr>
        <p:txBody>
          <a:bodyPr wrap="square" lIns="0" tIns="0" rIns="0" bIns="0" rtlCol="0" anchor="t"/>
          <a:lstStyle/>
          <a:p>
            <a:pPr indent="0" marL="0">
              <a:buNone/>
            </a:pPr>
            <a:r>
              <a:rPr lang="en-US" sz="1600" b="1" dirty="0">
                <a:solidFill>
                  <a:schemeClr val="tx1"/>
                </a:solidFill>
              </a:rPr>
              <a:t>Algorithms in Invoke Code</a:t>
            </a:r>
            <a:endParaRPr lang="en-US" sz="1600" dirty="0"/>
          </a:p>
        </p:txBody>
      </p:sp>
      <p:sp>
        <p:nvSpPr>
          <p:cNvPr id="49" name="Text 45"/>
          <p:cNvSpPr txBox="1"/>
          <p:nvPr/>
        </p:nvSpPr>
        <p:spPr>
          <a:xfrm>
            <a:off x="5069738" y="5504688"/>
            <a:ext cx="2783738" cy="685800"/>
          </a:xfrm>
          <a:prstGeom prst="rect">
            <a:avLst/>
          </a:prstGeom>
          <a:noFill/>
          <a:ln/>
        </p:spPr>
        <p:txBody>
          <a:bodyPr wrap="square" lIns="0" tIns="0" rIns="0" bIns="0" rtlCol="0" anchor="t"/>
          <a:lstStyle/>
          <a:p>
            <a:pPr indent="0" marL="0">
              <a:buNone/>
            </a:pPr>
            <a:r>
              <a:rPr lang="en-US" sz="1300" dirty="0">
                <a:solidFill>
                  <a:schemeClr val="accent5"/>
                </a:solidFill>
              </a:rPr>
              <a:t>ABI decoding, hashing and PDF layout in VB code.</a:t>
            </a:r>
            <a:endParaRPr lang="en-US" sz="1300" dirty="0"/>
          </a:p>
        </p:txBody>
      </p:sp>
      <p:sp>
        <p:nvSpPr>
          <p:cNvPr id="50" name="One finalise pipeline badge"/>
          <p:cNvSpPr/>
          <p:nvPr/>
        </p:nvSpPr>
        <p:spPr>
          <a:xfrm>
            <a:off x="8127797" y="5193792"/>
            <a:ext cx="548640" cy="548640"/>
          </a:xfrm>
          <a:prstGeom prst="ellipse">
            <a:avLst/>
          </a:prstGeom>
          <a:solidFill>
            <a:schemeClr val="accent1"/>
          </a:solidFill>
          <a:ln/>
        </p:spPr>
      </p:sp>
      <p:pic>
        <p:nvPicPr>
          <p:cNvPr id="51" name="Image 2" descr="One finalise pipeline">    </p:cNvPr>
          <p:cNvPicPr>
            <a:picLocks noChangeAspect="1"/>
          </p:cNvPicPr>
          <p:nvPr/>
        </p:nvPicPr>
        <p:blipFill>
          <a:blip r:embed="rId3"/>
          <a:stretch>
            <a:fillRect/>
          </a:stretch>
        </p:blipFill>
        <p:spPr>
          <a:xfrm>
            <a:off x="8264957" y="5330952"/>
            <a:ext cx="274320" cy="274320"/>
          </a:xfrm>
          <a:prstGeom prst="rect">
            <a:avLst/>
          </a:prstGeom>
        </p:spPr>
      </p:pic>
      <p:sp>
        <p:nvSpPr>
          <p:cNvPr id="52" name="Text 47"/>
          <p:cNvSpPr txBox="1"/>
          <p:nvPr/>
        </p:nvSpPr>
        <p:spPr>
          <a:xfrm>
            <a:off x="8859317" y="5120640"/>
            <a:ext cx="2783738" cy="365760"/>
          </a:xfrm>
          <a:prstGeom prst="rect">
            <a:avLst/>
          </a:prstGeom>
          <a:noFill/>
          <a:ln/>
        </p:spPr>
        <p:txBody>
          <a:bodyPr wrap="square" lIns="0" tIns="0" rIns="0" bIns="0" rtlCol="0" anchor="t"/>
          <a:lstStyle/>
          <a:p>
            <a:pPr indent="0" marL="0">
              <a:buNone/>
            </a:pPr>
            <a:r>
              <a:rPr lang="en-US" sz="1600" b="1" dirty="0">
                <a:solidFill>
                  <a:schemeClr val="tx1"/>
                </a:solidFill>
              </a:rPr>
              <a:t>One finalise pipeline</a:t>
            </a:r>
            <a:endParaRPr lang="en-US" sz="1600" dirty="0"/>
          </a:p>
        </p:txBody>
      </p:sp>
      <p:sp>
        <p:nvSpPr>
          <p:cNvPr id="53" name="Text 48"/>
          <p:cNvSpPr txBox="1"/>
          <p:nvPr/>
        </p:nvSpPr>
        <p:spPr>
          <a:xfrm>
            <a:off x="8859317" y="5504688"/>
            <a:ext cx="2783738" cy="685800"/>
          </a:xfrm>
          <a:prstGeom prst="rect">
            <a:avLst/>
          </a:prstGeom>
          <a:noFill/>
          <a:ln/>
        </p:spPr>
        <p:txBody>
          <a:bodyPr wrap="square" lIns="0" tIns="0" rIns="0" bIns="0" rtlCol="0" anchor="t"/>
          <a:lstStyle/>
          <a:p>
            <a:pPr indent="0" marL="0">
              <a:buNone/>
            </a:pPr>
            <a:r>
              <a:rPr lang="en-US" sz="1300" dirty="0">
                <a:solidFill>
                  <a:schemeClr val="accent5"/>
                </a:solidFill>
              </a:rPr>
              <a:t>Batch runs and the Performer share 14_Finalise_Run.</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 MAPPING ENGINE</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Readers fetch. A spreadsheet translates.</a:t>
            </a:r>
            <a:endParaRPr lang="en-US" sz="3200" dirty="0"/>
          </a:p>
        </p:txBody>
      </p:sp>
      <p:sp>
        <p:nvSpPr>
          <p:cNvPr id="4" name="Ethereum"/>
          <p:cNvSpPr/>
          <p:nvPr/>
        </p:nvSpPr>
        <p:spPr>
          <a:xfrm>
            <a:off x="548640" y="1737360"/>
            <a:ext cx="2377440" cy="731520"/>
          </a:xfrm>
          <a:prstGeom prst="roundRect">
            <a:avLst>
              <a:gd name="adj" fmla="val 12500"/>
            </a:avLst>
          </a:prstGeom>
          <a:solidFill>
            <a:schemeClr val="bg1"/>
          </a:solidFill>
          <a:ln w="12700">
            <a:solidFill>
              <a:srgbClr val="D5E1DF"/>
            </a:solidFill>
            <a:prstDash val="solid"/>
          </a:ln>
        </p:spPr>
      </p:sp>
      <p:pic>
        <p:nvPicPr>
          <p:cNvPr id="5" name="Image 0" descr="Ethereum">    </p:cNvPr>
          <p:cNvPicPr>
            <a:picLocks noChangeAspect="1"/>
          </p:cNvPicPr>
          <p:nvPr/>
        </p:nvPicPr>
        <p:blipFill>
          <a:blip r:embed="rId1"/>
          <a:stretch>
            <a:fillRect/>
          </a:stretch>
        </p:blipFill>
        <p:spPr>
          <a:xfrm>
            <a:off x="731520" y="1920240"/>
            <a:ext cx="365760" cy="365760"/>
          </a:xfrm>
          <a:prstGeom prst="rect">
            <a:avLst/>
          </a:prstGeom>
        </p:spPr>
      </p:pic>
      <p:sp>
        <p:nvSpPr>
          <p:cNvPr id="6" name="Text 3"/>
          <p:cNvSpPr txBox="1"/>
          <p:nvPr/>
        </p:nvSpPr>
        <p:spPr>
          <a:xfrm>
            <a:off x="1234440" y="1828800"/>
            <a:ext cx="1645920" cy="292608"/>
          </a:xfrm>
          <a:prstGeom prst="rect">
            <a:avLst/>
          </a:prstGeom>
          <a:noFill/>
          <a:ln/>
        </p:spPr>
        <p:txBody>
          <a:bodyPr wrap="square" lIns="0" tIns="0" rIns="0" bIns="0" rtlCol="0" anchor="t"/>
          <a:lstStyle/>
          <a:p>
            <a:pPr indent="0" marL="0">
              <a:buNone/>
            </a:pPr>
            <a:r>
              <a:rPr lang="en-US" sz="1400" b="1" dirty="0">
                <a:solidFill>
                  <a:schemeClr val="tx1"/>
                </a:solidFill>
              </a:rPr>
              <a:t>Ethereum</a:t>
            </a:r>
            <a:endParaRPr lang="en-US" sz="1400" dirty="0"/>
          </a:p>
        </p:txBody>
      </p:sp>
      <p:sp>
        <p:nvSpPr>
          <p:cNvPr id="7" name="Text 4"/>
          <p:cNvSpPr txBox="1"/>
          <p:nvPr/>
        </p:nvSpPr>
        <p:spPr>
          <a:xfrm>
            <a:off x="1234440" y="2121408"/>
            <a:ext cx="1645920" cy="274320"/>
          </a:xfrm>
          <a:prstGeom prst="rect">
            <a:avLst/>
          </a:prstGeom>
          <a:noFill/>
          <a:ln/>
        </p:spPr>
        <p:txBody>
          <a:bodyPr wrap="square" lIns="0" tIns="0" rIns="0" bIns="0" rtlCol="0" anchor="t"/>
          <a:lstStyle/>
          <a:p>
            <a:pPr indent="0" marL="0">
              <a:buNone/>
            </a:pPr>
            <a:r>
              <a:rPr lang="en-US" sz="1200" dirty="0">
                <a:solidFill>
                  <a:schemeClr val="accent5"/>
                </a:solidFill>
              </a:rPr>
              <a:t>Etherscan V2</a:t>
            </a:r>
            <a:endParaRPr lang="en-US" sz="1200" dirty="0"/>
          </a:p>
        </p:txBody>
      </p:sp>
      <p:sp>
        <p:nvSpPr>
          <p:cNvPr id="8" name="Shape 5"/>
          <p:cNvSpPr/>
          <p:nvPr/>
        </p:nvSpPr>
        <p:spPr>
          <a:xfrm>
            <a:off x="2971800" y="2103120"/>
            <a:ext cx="457200" cy="914400"/>
          </a:xfrm>
          <a:prstGeom prst="line">
            <a:avLst/>
          </a:prstGeom>
          <a:noFill/>
          <a:ln w="19050">
            <a:solidFill>
              <a:srgbClr val="5D6C79"/>
            </a:solidFill>
            <a:prstDash val="solid"/>
            <a:tailEnd type="triangle"/>
          </a:ln>
        </p:spPr>
      </p:sp>
      <p:sp>
        <p:nvSpPr>
          <p:cNvPr id="9" name="Polygon"/>
          <p:cNvSpPr/>
          <p:nvPr/>
        </p:nvSpPr>
        <p:spPr>
          <a:xfrm>
            <a:off x="548640" y="2651760"/>
            <a:ext cx="2377440" cy="731520"/>
          </a:xfrm>
          <a:prstGeom prst="roundRect">
            <a:avLst>
              <a:gd name="adj" fmla="val 12500"/>
            </a:avLst>
          </a:prstGeom>
          <a:solidFill>
            <a:schemeClr val="bg1"/>
          </a:solidFill>
          <a:ln w="12700">
            <a:solidFill>
              <a:srgbClr val="D5E1DF"/>
            </a:solidFill>
            <a:prstDash val="solid"/>
          </a:ln>
        </p:spPr>
      </p:sp>
      <p:pic>
        <p:nvPicPr>
          <p:cNvPr id="10" name="Image 1" descr="Polygon">    </p:cNvPr>
          <p:cNvPicPr>
            <a:picLocks noChangeAspect="1"/>
          </p:cNvPicPr>
          <p:nvPr/>
        </p:nvPicPr>
        <p:blipFill>
          <a:blip r:embed="rId2"/>
          <a:stretch>
            <a:fillRect/>
          </a:stretch>
        </p:blipFill>
        <p:spPr>
          <a:xfrm>
            <a:off x="731520" y="2834640"/>
            <a:ext cx="365760" cy="365760"/>
          </a:xfrm>
          <a:prstGeom prst="rect">
            <a:avLst/>
          </a:prstGeom>
        </p:spPr>
      </p:pic>
      <p:sp>
        <p:nvSpPr>
          <p:cNvPr id="11" name="Text 7"/>
          <p:cNvSpPr txBox="1"/>
          <p:nvPr/>
        </p:nvSpPr>
        <p:spPr>
          <a:xfrm>
            <a:off x="1234440" y="2743200"/>
            <a:ext cx="1645920" cy="292608"/>
          </a:xfrm>
          <a:prstGeom prst="rect">
            <a:avLst/>
          </a:prstGeom>
          <a:noFill/>
          <a:ln/>
        </p:spPr>
        <p:txBody>
          <a:bodyPr wrap="square" lIns="0" tIns="0" rIns="0" bIns="0" rtlCol="0" anchor="t"/>
          <a:lstStyle/>
          <a:p>
            <a:pPr indent="0" marL="0">
              <a:buNone/>
            </a:pPr>
            <a:r>
              <a:rPr lang="en-US" sz="1400" b="1" dirty="0">
                <a:solidFill>
                  <a:schemeClr val="tx1"/>
                </a:solidFill>
              </a:rPr>
              <a:t>Polygon</a:t>
            </a:r>
            <a:endParaRPr lang="en-US" sz="1400" dirty="0"/>
          </a:p>
        </p:txBody>
      </p:sp>
      <p:sp>
        <p:nvSpPr>
          <p:cNvPr id="12" name="Text 8"/>
          <p:cNvSpPr txBox="1"/>
          <p:nvPr/>
        </p:nvSpPr>
        <p:spPr>
          <a:xfrm>
            <a:off x="1234440" y="3035808"/>
            <a:ext cx="1645920" cy="274320"/>
          </a:xfrm>
          <a:prstGeom prst="rect">
            <a:avLst/>
          </a:prstGeom>
          <a:noFill/>
          <a:ln/>
        </p:spPr>
        <p:txBody>
          <a:bodyPr wrap="square" lIns="0" tIns="0" rIns="0" bIns="0" rtlCol="0" anchor="t"/>
          <a:lstStyle/>
          <a:p>
            <a:pPr indent="0" marL="0">
              <a:buNone/>
            </a:pPr>
            <a:r>
              <a:rPr lang="en-US" sz="1200" dirty="0">
                <a:solidFill>
                  <a:schemeClr val="accent5"/>
                </a:solidFill>
              </a:rPr>
              <a:t>Etherscan V2</a:t>
            </a:r>
            <a:endParaRPr lang="en-US" sz="1200" dirty="0"/>
          </a:p>
        </p:txBody>
      </p:sp>
      <p:sp>
        <p:nvSpPr>
          <p:cNvPr id="13" name="Shape 9"/>
          <p:cNvSpPr/>
          <p:nvPr/>
        </p:nvSpPr>
        <p:spPr>
          <a:xfrm>
            <a:off x="2971800" y="3017520"/>
            <a:ext cx="457200" cy="914"/>
          </a:xfrm>
          <a:prstGeom prst="line">
            <a:avLst/>
          </a:prstGeom>
          <a:noFill/>
          <a:ln w="19050">
            <a:solidFill>
              <a:srgbClr val="5D6C79"/>
            </a:solidFill>
            <a:prstDash val="solid"/>
            <a:tailEnd type="triangle"/>
          </a:ln>
        </p:spPr>
      </p:sp>
      <p:sp>
        <p:nvSpPr>
          <p:cNvPr id="14" name="Hyperledger Besu"/>
          <p:cNvSpPr/>
          <p:nvPr/>
        </p:nvSpPr>
        <p:spPr>
          <a:xfrm>
            <a:off x="548640" y="3566160"/>
            <a:ext cx="2377440" cy="731520"/>
          </a:xfrm>
          <a:prstGeom prst="roundRect">
            <a:avLst>
              <a:gd name="adj" fmla="val 12500"/>
            </a:avLst>
          </a:prstGeom>
          <a:solidFill>
            <a:schemeClr val="bg1"/>
          </a:solidFill>
          <a:ln w="12700">
            <a:solidFill>
              <a:srgbClr val="D5E1DF"/>
            </a:solidFill>
            <a:prstDash val="solid"/>
          </a:ln>
        </p:spPr>
      </p:sp>
      <p:pic>
        <p:nvPicPr>
          <p:cNvPr id="15" name="Image 2" descr="Hyperledger Besu">    </p:cNvPr>
          <p:cNvPicPr>
            <a:picLocks noChangeAspect="1"/>
          </p:cNvPicPr>
          <p:nvPr/>
        </p:nvPicPr>
        <p:blipFill>
          <a:blip r:embed="rId3"/>
          <a:stretch>
            <a:fillRect/>
          </a:stretch>
        </p:blipFill>
        <p:spPr>
          <a:xfrm>
            <a:off x="731520" y="3749040"/>
            <a:ext cx="365760" cy="365760"/>
          </a:xfrm>
          <a:prstGeom prst="rect">
            <a:avLst/>
          </a:prstGeom>
        </p:spPr>
      </p:pic>
      <p:sp>
        <p:nvSpPr>
          <p:cNvPr id="16" name="Text 11"/>
          <p:cNvSpPr txBox="1"/>
          <p:nvPr/>
        </p:nvSpPr>
        <p:spPr>
          <a:xfrm>
            <a:off x="1234440" y="3657600"/>
            <a:ext cx="1645920" cy="292608"/>
          </a:xfrm>
          <a:prstGeom prst="rect">
            <a:avLst/>
          </a:prstGeom>
          <a:noFill/>
          <a:ln/>
        </p:spPr>
        <p:txBody>
          <a:bodyPr wrap="square" lIns="0" tIns="0" rIns="0" bIns="0" rtlCol="0" anchor="t"/>
          <a:lstStyle/>
          <a:p>
            <a:pPr indent="0" marL="0">
              <a:buNone/>
            </a:pPr>
            <a:r>
              <a:rPr lang="en-US" sz="1400" b="1" dirty="0">
                <a:solidFill>
                  <a:schemeClr val="tx1"/>
                </a:solidFill>
              </a:rPr>
              <a:t>Hyperledger Besu</a:t>
            </a:r>
            <a:endParaRPr lang="en-US" sz="1400" dirty="0"/>
          </a:p>
        </p:txBody>
      </p:sp>
      <p:sp>
        <p:nvSpPr>
          <p:cNvPr id="17" name="Text 12"/>
          <p:cNvSpPr txBox="1"/>
          <p:nvPr/>
        </p:nvSpPr>
        <p:spPr>
          <a:xfrm>
            <a:off x="1234440" y="3950208"/>
            <a:ext cx="1645920" cy="274320"/>
          </a:xfrm>
          <a:prstGeom prst="rect">
            <a:avLst/>
          </a:prstGeom>
          <a:noFill/>
          <a:ln/>
        </p:spPr>
        <p:txBody>
          <a:bodyPr wrap="square" lIns="0" tIns="0" rIns="0" bIns="0" rtlCol="0" anchor="t"/>
          <a:lstStyle/>
          <a:p>
            <a:pPr indent="0" marL="0">
              <a:buNone/>
            </a:pPr>
            <a:r>
              <a:rPr lang="en-US" sz="1200" dirty="0">
                <a:solidFill>
                  <a:schemeClr val="accent5"/>
                </a:solidFill>
              </a:rPr>
              <a:t>ethereum-etl export</a:t>
            </a:r>
            <a:endParaRPr lang="en-US" sz="1200" dirty="0"/>
          </a:p>
        </p:txBody>
      </p:sp>
      <p:sp>
        <p:nvSpPr>
          <p:cNvPr id="18" name="Shape 13"/>
          <p:cNvSpPr/>
          <p:nvPr/>
        </p:nvSpPr>
        <p:spPr>
          <a:xfrm flipV="1">
            <a:off x="2971800" y="3017520"/>
            <a:ext cx="457200" cy="914400"/>
          </a:xfrm>
          <a:prstGeom prst="line">
            <a:avLst/>
          </a:prstGeom>
          <a:noFill/>
          <a:ln w="19050">
            <a:solidFill>
              <a:srgbClr val="5D6C79"/>
            </a:solidFill>
            <a:prstDash val="solid"/>
            <a:tailEnd type="triangle"/>
          </a:ln>
        </p:spPr>
      </p:sp>
      <p:sp>
        <p:nvSpPr>
          <p:cNvPr id="19" name="FieldMapping sheet"/>
          <p:cNvSpPr/>
          <p:nvPr/>
        </p:nvSpPr>
        <p:spPr>
          <a:xfrm>
            <a:off x="3474720" y="1737360"/>
            <a:ext cx="1965960" cy="2560320"/>
          </a:xfrm>
          <a:prstGeom prst="roundRect">
            <a:avLst>
              <a:gd name="adj" fmla="val 4651"/>
            </a:avLst>
          </a:prstGeom>
          <a:solidFill>
            <a:schemeClr val="accent1"/>
          </a:solidFill>
          <a:ln/>
        </p:spPr>
      </p:sp>
      <p:pic>
        <p:nvPicPr>
          <p:cNvPr id="20" name="Image 3" descr="Mapping sheet">    </p:cNvPr>
          <p:cNvPicPr>
            <a:picLocks noChangeAspect="1"/>
          </p:cNvPicPr>
          <p:nvPr/>
        </p:nvPicPr>
        <p:blipFill>
          <a:blip r:embed="rId4"/>
          <a:stretch>
            <a:fillRect/>
          </a:stretch>
        </p:blipFill>
        <p:spPr>
          <a:xfrm>
            <a:off x="4206240" y="1965960"/>
            <a:ext cx="502920" cy="502920"/>
          </a:xfrm>
          <a:prstGeom prst="rect">
            <a:avLst/>
          </a:prstGeom>
        </p:spPr>
      </p:pic>
      <p:sp>
        <p:nvSpPr>
          <p:cNvPr id="21" name="Text 15"/>
          <p:cNvSpPr txBox="1"/>
          <p:nvPr/>
        </p:nvSpPr>
        <p:spPr>
          <a:xfrm>
            <a:off x="3611880" y="2606040"/>
            <a:ext cx="1691640" cy="594360"/>
          </a:xfrm>
          <a:prstGeom prst="rect">
            <a:avLst/>
          </a:prstGeom>
          <a:noFill/>
          <a:ln/>
        </p:spPr>
        <p:txBody>
          <a:bodyPr wrap="square" lIns="0" tIns="0" rIns="0" bIns="0" rtlCol="0" anchor="t"/>
          <a:lstStyle/>
          <a:p>
            <a:pPr algn="ctr" indent="0" marL="0">
              <a:buNone/>
            </a:pPr>
            <a:r>
              <a:rPr lang="en-US" sz="1600" b="1" dirty="0">
                <a:solidFill>
                  <a:schemeClr val="bg1"/>
                </a:solidFill>
              </a:rPr>
              <a:t>FieldMapping sheet</a:t>
            </a:r>
            <a:endParaRPr lang="en-US" sz="1600" dirty="0"/>
          </a:p>
        </p:txBody>
      </p:sp>
      <p:sp>
        <p:nvSpPr>
          <p:cNvPr id="22" name="Text 16"/>
          <p:cNvSpPr txBox="1"/>
          <p:nvPr/>
        </p:nvSpPr>
        <p:spPr>
          <a:xfrm>
            <a:off x="3611880" y="3246120"/>
            <a:ext cx="1691640" cy="822960"/>
          </a:xfrm>
          <a:prstGeom prst="rect">
            <a:avLst/>
          </a:prstGeom>
          <a:noFill/>
          <a:ln/>
        </p:spPr>
        <p:txBody>
          <a:bodyPr wrap="square" lIns="0" tIns="0" rIns="0" bIns="0" rtlCol="0" anchor="t"/>
          <a:lstStyle/>
          <a:p>
            <a:pPr algn="ctr" indent="0" marL="0">
              <a:buNone/>
            </a:pPr>
            <a:r>
              <a:rPr lang="en-US" sz="1300" dirty="0">
                <a:solidFill>
                  <a:schemeClr val="bg1"/>
                </a:solidFill>
              </a:rPr>
              <a:t>field → column, with a transform</a:t>
            </a:r>
            <a:endParaRPr lang="en-US" sz="1300" dirty="0"/>
          </a:p>
        </p:txBody>
      </p:sp>
      <p:sp>
        <p:nvSpPr>
          <p:cNvPr id="23" name="Shape 17"/>
          <p:cNvSpPr/>
          <p:nvPr/>
        </p:nvSpPr>
        <p:spPr>
          <a:xfrm>
            <a:off x="5486400" y="3017520"/>
            <a:ext cx="411480" cy="914"/>
          </a:xfrm>
          <a:prstGeom prst="line">
            <a:avLst/>
          </a:prstGeom>
          <a:noFill/>
          <a:ln w="25400">
            <a:solidFill>
              <a:srgbClr val="5D6C79"/>
            </a:solidFill>
            <a:prstDash val="solid"/>
            <a:tailEnd type="triangle"/>
          </a:ln>
        </p:spPr>
      </p:sp>
      <p:sp>
        <p:nvSpPr>
          <p:cNvPr id="24" name="Canonical table"/>
          <p:cNvSpPr/>
          <p:nvPr/>
        </p:nvSpPr>
        <p:spPr>
          <a:xfrm>
            <a:off x="5943600" y="2103120"/>
            <a:ext cx="1554480" cy="1828800"/>
          </a:xfrm>
          <a:prstGeom prst="roundRect">
            <a:avLst>
              <a:gd name="adj" fmla="val 5882"/>
            </a:avLst>
          </a:prstGeom>
          <a:solidFill>
            <a:schemeClr val="bg1"/>
          </a:solidFill>
          <a:ln w="12700">
            <a:solidFill>
              <a:srgbClr val="0E8577"/>
            </a:solidFill>
            <a:prstDash val="solid"/>
          </a:ln>
        </p:spPr>
      </p:sp>
      <p:sp>
        <p:nvSpPr>
          <p:cNvPr id="25" name="Text 19"/>
          <p:cNvSpPr txBox="1"/>
          <p:nvPr/>
        </p:nvSpPr>
        <p:spPr>
          <a:xfrm>
            <a:off x="6035040" y="2286000"/>
            <a:ext cx="1371600" cy="685800"/>
          </a:xfrm>
          <a:prstGeom prst="rect">
            <a:avLst/>
          </a:prstGeom>
          <a:noFill/>
          <a:ln/>
        </p:spPr>
        <p:txBody>
          <a:bodyPr wrap="square" lIns="0" tIns="0" rIns="0" bIns="0" rtlCol="0" anchor="t"/>
          <a:lstStyle/>
          <a:p>
            <a:pPr algn="ctr" indent="0" marL="0">
              <a:buNone/>
            </a:pPr>
            <a:r>
              <a:rPr lang="en-US" sz="1500" b="1" dirty="0">
                <a:solidFill>
                  <a:schemeClr val="tx1"/>
                </a:solidFill>
              </a:rPr>
              <a:t>One canonical table</a:t>
            </a:r>
            <a:endParaRPr lang="en-US" sz="1500" dirty="0"/>
          </a:p>
        </p:txBody>
      </p:sp>
      <p:sp>
        <p:nvSpPr>
          <p:cNvPr id="26" name="Text 20"/>
          <p:cNvSpPr txBox="1"/>
          <p:nvPr/>
        </p:nvSpPr>
        <p:spPr>
          <a:xfrm>
            <a:off x="6035040" y="3017520"/>
            <a:ext cx="1371600" cy="822960"/>
          </a:xfrm>
          <a:prstGeom prst="rect">
            <a:avLst/>
          </a:prstGeom>
          <a:noFill/>
          <a:ln/>
        </p:spPr>
        <p:txBody>
          <a:bodyPr wrap="square" lIns="0" tIns="0" rIns="0" bIns="0" rtlCol="0" anchor="t"/>
          <a:lstStyle/>
          <a:p>
            <a:pPr algn="ctr" indent="0" marL="0">
              <a:buNone/>
            </a:pPr>
            <a:r>
              <a:rPr lang="en-US" sz="1200" dirty="0">
                <a:solidFill>
                  <a:schemeClr val="accent5"/>
                </a:solidFill>
              </a:rPr>
              <a:t>the rules never see the source</a:t>
            </a:r>
            <a:endParaRPr lang="en-US" sz="1200" dirty="0"/>
          </a:p>
        </p:txBody>
      </p:sp>
      <p:sp>
        <p:nvSpPr>
          <p:cNvPr id="27" name="Transforms"/>
          <p:cNvSpPr/>
          <p:nvPr/>
        </p:nvSpPr>
        <p:spPr>
          <a:xfrm>
            <a:off x="548640" y="4709160"/>
            <a:ext cx="6949440" cy="1417320"/>
          </a:xfrm>
          <a:prstGeom prst="roundRect">
            <a:avLst>
              <a:gd name="adj" fmla="val 6452"/>
            </a:avLst>
          </a:prstGeom>
          <a:solidFill>
            <a:schemeClr val="bg2"/>
          </a:solidFill>
          <a:ln/>
        </p:spPr>
      </p:sp>
      <p:sp>
        <p:nvSpPr>
          <p:cNvPr id="28" name="Text 22"/>
          <p:cNvSpPr txBox="1"/>
          <p:nvPr/>
        </p:nvSpPr>
        <p:spPr>
          <a:xfrm>
            <a:off x="822960" y="4846320"/>
            <a:ext cx="6400800" cy="365760"/>
          </a:xfrm>
          <a:prstGeom prst="rect">
            <a:avLst/>
          </a:prstGeom>
          <a:noFill/>
          <a:ln/>
        </p:spPr>
        <p:txBody>
          <a:bodyPr wrap="square" lIns="0" tIns="0" rIns="0" bIns="0" rtlCol="0" anchor="t"/>
          <a:lstStyle/>
          <a:p>
            <a:pPr indent="0" marL="0">
              <a:buNone/>
            </a:pPr>
            <a:r>
              <a:rPr lang="en-US" sz="1600" b="1" dirty="0">
                <a:solidFill>
                  <a:schemeClr val="tx1"/>
                </a:solidFill>
              </a:rPr>
              <a:t>One transform per field, chosen in Excel</a:t>
            </a:r>
            <a:endParaRPr lang="en-US" sz="1600" dirty="0"/>
          </a:p>
        </p:txBody>
      </p:sp>
      <p:sp>
        <p:nvSpPr>
          <p:cNvPr id="29" name="Text 23"/>
          <p:cNvSpPr txBox="1"/>
          <p:nvPr/>
        </p:nvSpPr>
        <p:spPr>
          <a:xfrm>
            <a:off x="822960" y="5230368"/>
            <a:ext cx="6400800" cy="777240"/>
          </a:xfrm>
          <a:prstGeom prst="rect">
            <a:avLst/>
          </a:prstGeom>
          <a:noFill/>
          <a:ln/>
        </p:spPr>
        <p:txBody>
          <a:bodyPr wrap="square" lIns="0" tIns="0" rIns="0" bIns="0" rtlCol="0" anchor="t"/>
          <a:lstStyle/>
          <a:p>
            <a:pPr indent="0" marL="0">
              <a:buNone/>
            </a:pPr>
            <a:r>
              <a:rPr lang="en-US" sz="1400" dirty="0">
                <a:solidFill>
                  <a:schemeClr val="accent5"/>
                </a:solidFill>
              </a:rPr>
              <a:t>hex → integer  ·  Unix epoch → UTC time  ·  ISO text → UTC time  ·  ABI string / uint256 / address decoding  ·  decimal  ·  boolean  ·  case</a:t>
            </a:r>
            <a:endParaRPr lang="en-US" sz="1400" dirty="0"/>
          </a:p>
        </p:txBody>
      </p:sp>
      <p:sp>
        <p:nvSpPr>
          <p:cNvPr id="30" name="Text 24"/>
          <p:cNvSpPr txBox="1"/>
          <p:nvPr/>
        </p:nvSpPr>
        <p:spPr>
          <a:xfrm>
            <a:off x="7863840" y="1691640"/>
            <a:ext cx="3779215" cy="365760"/>
          </a:xfrm>
          <a:prstGeom prst="rect">
            <a:avLst/>
          </a:prstGeom>
          <a:noFill/>
          <a:ln/>
        </p:spPr>
        <p:txBody>
          <a:bodyPr wrap="square" lIns="0" tIns="0" rIns="0" bIns="0" rtlCol="0" anchor="t"/>
          <a:lstStyle/>
          <a:p>
            <a:pPr indent="0" marL="0">
              <a:buNone/>
            </a:pPr>
            <a:r>
              <a:rPr lang="en-US" sz="1700" b="1" dirty="0">
                <a:solidFill>
                  <a:schemeClr val="tx1"/>
                </a:solidFill>
              </a:rPr>
              <a:t>Linking a transaction to a shipment</a:t>
            </a:r>
            <a:endParaRPr lang="en-US" sz="1700" dirty="0"/>
          </a:p>
        </p:txBody>
      </p:sp>
      <p:sp>
        <p:nvSpPr>
          <p:cNvPr id="31" name="DECODE"/>
          <p:cNvSpPr/>
          <p:nvPr/>
        </p:nvSpPr>
        <p:spPr>
          <a:xfrm>
            <a:off x="7863840" y="2194560"/>
            <a:ext cx="3779215" cy="1051560"/>
          </a:xfrm>
          <a:prstGeom prst="roundRect">
            <a:avLst>
              <a:gd name="adj" fmla="val 8696"/>
            </a:avLst>
          </a:prstGeom>
          <a:solidFill>
            <a:schemeClr val="bg2"/>
          </a:solidFill>
          <a:ln/>
        </p:spPr>
      </p:sp>
      <p:sp>
        <p:nvSpPr>
          <p:cNvPr id="32" name="Shape 26"/>
          <p:cNvSpPr/>
          <p:nvPr/>
        </p:nvSpPr>
        <p:spPr>
          <a:xfrm>
            <a:off x="8092440" y="2423160"/>
            <a:ext cx="1051560" cy="329184"/>
          </a:xfrm>
          <a:prstGeom prst="roundRect">
            <a:avLst>
              <a:gd name="adj" fmla="val 50000"/>
            </a:avLst>
          </a:prstGeom>
          <a:solidFill>
            <a:schemeClr val="accent1"/>
          </a:solidFill>
          <a:ln/>
        </p:spPr>
      </p:sp>
      <p:sp>
        <p:nvSpPr>
          <p:cNvPr id="33" name="Text 27"/>
          <p:cNvSpPr txBox="1"/>
          <p:nvPr/>
        </p:nvSpPr>
        <p:spPr>
          <a:xfrm>
            <a:off x="8092440" y="2423160"/>
            <a:ext cx="1051560" cy="329184"/>
          </a:xfrm>
          <a:prstGeom prst="rect">
            <a:avLst/>
          </a:prstGeom>
          <a:noFill/>
          <a:ln/>
        </p:spPr>
        <p:txBody>
          <a:bodyPr wrap="square" lIns="0" tIns="0" rIns="0" bIns="0" rtlCol="0" anchor="ctr"/>
          <a:lstStyle/>
          <a:p>
            <a:pPr algn="ctr" indent="0" marL="0">
              <a:buNone/>
            </a:pPr>
            <a:r>
              <a:rPr lang="en-US" sz="1200" b="1" dirty="0">
                <a:solidFill>
                  <a:schemeClr val="bg1"/>
                </a:solidFill>
              </a:rPr>
              <a:t>DECODE</a:t>
            </a:r>
            <a:endParaRPr lang="en-US" sz="1200" dirty="0"/>
          </a:p>
        </p:txBody>
      </p:sp>
      <p:sp>
        <p:nvSpPr>
          <p:cNvPr id="34" name="Text 28"/>
          <p:cNvSpPr txBox="1"/>
          <p:nvPr/>
        </p:nvSpPr>
        <p:spPr>
          <a:xfrm>
            <a:off x="9281160" y="2350008"/>
            <a:ext cx="2179015" cy="777240"/>
          </a:xfrm>
          <a:prstGeom prst="rect">
            <a:avLst/>
          </a:prstGeom>
          <a:noFill/>
          <a:ln/>
        </p:spPr>
        <p:txBody>
          <a:bodyPr wrap="square" lIns="0" tIns="0" rIns="0" bIns="0" rtlCol="0" anchor="ctr"/>
          <a:lstStyle/>
          <a:p>
            <a:pPr indent="0" marL="0">
              <a:buNone/>
            </a:pPr>
            <a:r>
              <a:rPr lang="en-US" sz="1350" dirty="0">
                <a:solidFill>
                  <a:schemeClr val="tx1"/>
                </a:solidFill>
              </a:rPr>
              <a:t>The shipment ID is read straight from the transaction's ABI call data.</a:t>
            </a:r>
            <a:endParaRPr lang="en-US" sz="1350" dirty="0"/>
          </a:p>
        </p:txBody>
      </p:sp>
      <p:sp>
        <p:nvSpPr>
          <p:cNvPr id="35" name="LOOKUP"/>
          <p:cNvSpPr/>
          <p:nvPr/>
        </p:nvSpPr>
        <p:spPr>
          <a:xfrm>
            <a:off x="7863840" y="3383280"/>
            <a:ext cx="3779215" cy="1051560"/>
          </a:xfrm>
          <a:prstGeom prst="roundRect">
            <a:avLst>
              <a:gd name="adj" fmla="val 8696"/>
            </a:avLst>
          </a:prstGeom>
          <a:solidFill>
            <a:schemeClr val="bg2"/>
          </a:solidFill>
          <a:ln/>
        </p:spPr>
      </p:sp>
      <p:sp>
        <p:nvSpPr>
          <p:cNvPr id="36" name="Shape 30"/>
          <p:cNvSpPr/>
          <p:nvPr/>
        </p:nvSpPr>
        <p:spPr>
          <a:xfrm>
            <a:off x="8092440" y="3611880"/>
            <a:ext cx="1051560" cy="329184"/>
          </a:xfrm>
          <a:prstGeom prst="roundRect">
            <a:avLst>
              <a:gd name="adj" fmla="val 50000"/>
            </a:avLst>
          </a:prstGeom>
          <a:solidFill>
            <a:schemeClr val="accent1"/>
          </a:solidFill>
          <a:ln/>
        </p:spPr>
      </p:sp>
      <p:sp>
        <p:nvSpPr>
          <p:cNvPr id="37" name="Text 31"/>
          <p:cNvSpPr txBox="1"/>
          <p:nvPr/>
        </p:nvSpPr>
        <p:spPr>
          <a:xfrm>
            <a:off x="8092440" y="3611880"/>
            <a:ext cx="1051560" cy="329184"/>
          </a:xfrm>
          <a:prstGeom prst="rect">
            <a:avLst/>
          </a:prstGeom>
          <a:noFill/>
          <a:ln/>
        </p:spPr>
        <p:txBody>
          <a:bodyPr wrap="square" lIns="0" tIns="0" rIns="0" bIns="0" rtlCol="0" anchor="ctr"/>
          <a:lstStyle/>
          <a:p>
            <a:pPr algn="ctr" indent="0" marL="0">
              <a:buNone/>
            </a:pPr>
            <a:r>
              <a:rPr lang="en-US" sz="1200" b="1" dirty="0">
                <a:solidFill>
                  <a:schemeClr val="bg1"/>
                </a:solidFill>
              </a:rPr>
              <a:t>LOOKUP</a:t>
            </a:r>
            <a:endParaRPr lang="en-US" sz="1200" dirty="0"/>
          </a:p>
        </p:txBody>
      </p:sp>
      <p:sp>
        <p:nvSpPr>
          <p:cNvPr id="38" name="Text 32"/>
          <p:cNvSpPr txBox="1"/>
          <p:nvPr/>
        </p:nvSpPr>
        <p:spPr>
          <a:xfrm>
            <a:off x="9281160" y="3538728"/>
            <a:ext cx="2179015" cy="777240"/>
          </a:xfrm>
          <a:prstGeom prst="rect">
            <a:avLst/>
          </a:prstGeom>
          <a:noFill/>
          <a:ln/>
        </p:spPr>
        <p:txBody>
          <a:bodyPr wrap="square" lIns="0" tIns="0" rIns="0" bIns="0" rtlCol="0" anchor="ctr"/>
          <a:lstStyle/>
          <a:p>
            <a:pPr indent="0" marL="0">
              <a:buNone/>
            </a:pPr>
            <a:r>
              <a:rPr lang="en-US" sz="1350" dirty="0">
                <a:solidFill>
                  <a:schemeClr val="tx1"/>
                </a:solidFill>
              </a:rPr>
              <a:t>No shipment key on-chain: a mapping file supplies it.</a:t>
            </a:r>
            <a:endParaRPr lang="en-US" sz="1350" dirty="0"/>
          </a:p>
        </p:txBody>
      </p:sp>
      <p:sp>
        <p:nvSpPr>
          <p:cNvPr id="39" name="Ledger noise"/>
          <p:cNvSpPr/>
          <p:nvPr/>
        </p:nvSpPr>
        <p:spPr>
          <a:xfrm>
            <a:off x="7863840" y="4709160"/>
            <a:ext cx="3779215" cy="1417320"/>
          </a:xfrm>
          <a:prstGeom prst="roundRect">
            <a:avLst>
              <a:gd name="adj" fmla="val 6452"/>
            </a:avLst>
          </a:prstGeom>
          <a:solidFill>
            <a:schemeClr val="bg1"/>
          </a:solidFill>
          <a:ln w="12700">
            <a:solidFill>
              <a:srgbClr val="D5E1DF"/>
            </a:solidFill>
            <a:prstDash val="solid"/>
          </a:ln>
        </p:spPr>
      </p:sp>
      <p:sp>
        <p:nvSpPr>
          <p:cNvPr id="40" name="Ledger noise badge"/>
          <p:cNvSpPr/>
          <p:nvPr/>
        </p:nvSpPr>
        <p:spPr>
          <a:xfrm>
            <a:off x="8092440" y="4892040"/>
            <a:ext cx="548640" cy="548640"/>
          </a:xfrm>
          <a:prstGeom prst="ellipse">
            <a:avLst/>
          </a:prstGeom>
          <a:solidFill>
            <a:schemeClr val="accent2"/>
          </a:solidFill>
          <a:ln/>
        </p:spPr>
      </p:sp>
      <p:pic>
        <p:nvPicPr>
          <p:cNvPr id="41" name="Image 4" descr="Ledger noise">    </p:cNvPr>
          <p:cNvPicPr>
            <a:picLocks noChangeAspect="1"/>
          </p:cNvPicPr>
          <p:nvPr/>
        </p:nvPicPr>
        <p:blipFill>
          <a:blip r:embed="rId5"/>
          <a:stretch>
            <a:fillRect/>
          </a:stretch>
        </p:blipFill>
        <p:spPr>
          <a:xfrm>
            <a:off x="8229600" y="5029200"/>
            <a:ext cx="274320" cy="274320"/>
          </a:xfrm>
          <a:prstGeom prst="rect">
            <a:avLst/>
          </a:prstGeom>
        </p:spPr>
      </p:pic>
      <p:sp>
        <p:nvSpPr>
          <p:cNvPr id="42" name="Text 35"/>
          <p:cNvSpPr txBox="1"/>
          <p:nvPr/>
        </p:nvSpPr>
        <p:spPr>
          <a:xfrm>
            <a:off x="8823960" y="4846320"/>
            <a:ext cx="2636215" cy="365760"/>
          </a:xfrm>
          <a:prstGeom prst="rect">
            <a:avLst/>
          </a:prstGeom>
          <a:noFill/>
          <a:ln/>
        </p:spPr>
        <p:txBody>
          <a:bodyPr wrap="square" lIns="0" tIns="0" rIns="0" bIns="0" rtlCol="0" anchor="t"/>
          <a:lstStyle/>
          <a:p>
            <a:pPr indent="0" marL="0">
              <a:buNone/>
            </a:pPr>
            <a:r>
              <a:rPr lang="en-US" sz="1500" b="1" dirty="0">
                <a:solidFill>
                  <a:schemeClr val="tx1"/>
                </a:solidFill>
              </a:rPr>
              <a:t>Ledger noise is set aside</a:t>
            </a:r>
            <a:endParaRPr lang="en-US" sz="1500" dirty="0"/>
          </a:p>
        </p:txBody>
      </p:sp>
      <p:sp>
        <p:nvSpPr>
          <p:cNvPr id="43" name="Text 36"/>
          <p:cNvSpPr txBox="1"/>
          <p:nvPr/>
        </p:nvSpPr>
        <p:spPr>
          <a:xfrm>
            <a:off x="8823960" y="5212080"/>
            <a:ext cx="2636215" cy="822960"/>
          </a:xfrm>
          <a:prstGeom prst="rect">
            <a:avLst/>
          </a:prstGeom>
          <a:noFill/>
          <a:ln/>
        </p:spPr>
        <p:txBody>
          <a:bodyPr wrap="square" lIns="0" tIns="0" rIns="0" bIns="0" rtlCol="0" anchor="t"/>
          <a:lstStyle/>
          <a:p>
            <a:pPr indent="0" marL="0">
              <a:buNone/>
            </a:pPr>
            <a:r>
              <a:rPr lang="en-US" sz="1300" dirty="0">
                <a:solidFill>
                  <a:schemeClr val="accent5"/>
                </a:solidFill>
              </a:rPr>
              <a:t>Transfers and calls to other functions are counted and skipped, not reported as fraud.</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VALIDATION ENGINE</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Six rules, each catching a real kind of fraud</a:t>
            </a:r>
            <a:endParaRPr lang="en-US" sz="3200" dirty="0"/>
          </a:p>
        </p:txBody>
      </p:sp>
      <p:sp>
        <p:nvSpPr>
          <p:cNvPr id="4" name="R1"/>
          <p:cNvSpPr/>
          <p:nvPr/>
        </p:nvSpPr>
        <p:spPr>
          <a:xfrm>
            <a:off x="548640" y="1645920"/>
            <a:ext cx="3515258" cy="2103120"/>
          </a:xfrm>
          <a:prstGeom prst="roundRect">
            <a:avLst>
              <a:gd name="adj" fmla="val 4348"/>
            </a:avLst>
          </a:prstGeom>
          <a:solidFill>
            <a:schemeClr val="bg2"/>
          </a:solidFill>
          <a:ln/>
        </p:spPr>
      </p:sp>
      <p:sp>
        <p:nvSpPr>
          <p:cNvPr id="5" name="Shape 3"/>
          <p:cNvSpPr/>
          <p:nvPr/>
        </p:nvSpPr>
        <p:spPr>
          <a:xfrm>
            <a:off x="822960" y="1920240"/>
            <a:ext cx="685800" cy="384048"/>
          </a:xfrm>
          <a:prstGeom prst="roundRect">
            <a:avLst>
              <a:gd name="adj" fmla="val 50000"/>
            </a:avLst>
          </a:prstGeom>
          <a:solidFill>
            <a:schemeClr val="accent1"/>
          </a:solidFill>
          <a:ln/>
        </p:spPr>
      </p:sp>
      <p:sp>
        <p:nvSpPr>
          <p:cNvPr id="6" name="Text 4"/>
          <p:cNvSpPr txBox="1"/>
          <p:nvPr/>
        </p:nvSpPr>
        <p:spPr>
          <a:xfrm>
            <a:off x="822960" y="1920240"/>
            <a:ext cx="685800" cy="384048"/>
          </a:xfrm>
          <a:prstGeom prst="rect">
            <a:avLst/>
          </a:prstGeom>
          <a:noFill/>
          <a:ln/>
        </p:spPr>
        <p:txBody>
          <a:bodyPr wrap="square" lIns="0" tIns="0" rIns="0" bIns="0" rtlCol="0" anchor="ctr"/>
          <a:lstStyle/>
          <a:p>
            <a:pPr algn="ctr" indent="0" marL="0">
              <a:buNone/>
            </a:pPr>
            <a:r>
              <a:rPr lang="en-US" sz="1500" b="1" dirty="0">
                <a:solidFill>
                  <a:schemeClr val="bg1"/>
                </a:solidFill>
              </a:rPr>
              <a:t>R1</a:t>
            </a:r>
            <a:endParaRPr lang="en-US" sz="1500" dirty="0"/>
          </a:p>
        </p:txBody>
      </p:sp>
      <p:sp>
        <p:nvSpPr>
          <p:cNvPr id="7" name="Text 5"/>
          <p:cNvSpPr txBox="1"/>
          <p:nvPr/>
        </p:nvSpPr>
        <p:spPr>
          <a:xfrm>
            <a:off x="1691640" y="1920240"/>
            <a:ext cx="2143658" cy="384048"/>
          </a:xfrm>
          <a:prstGeom prst="rect">
            <a:avLst/>
          </a:prstGeom>
          <a:noFill/>
          <a:ln/>
        </p:spPr>
        <p:txBody>
          <a:bodyPr wrap="square" lIns="0" tIns="0" rIns="0" bIns="0" rtlCol="0" anchor="ctr"/>
          <a:lstStyle/>
          <a:p>
            <a:pPr indent="0" marL="0">
              <a:buNone/>
            </a:pPr>
            <a:r>
              <a:rPr lang="en-US" sz="1800" b="1" dirty="0">
                <a:solidFill>
                  <a:schemeClr val="tx1"/>
                </a:solidFill>
              </a:rPr>
              <a:t>Timestamp</a:t>
            </a:r>
            <a:endParaRPr lang="en-US" sz="1800" dirty="0"/>
          </a:p>
        </p:txBody>
      </p:sp>
      <p:sp>
        <p:nvSpPr>
          <p:cNvPr id="8" name="Text 6"/>
          <p:cNvSpPr txBox="1"/>
          <p:nvPr/>
        </p:nvSpPr>
        <p:spPr>
          <a:xfrm>
            <a:off x="822960" y="2487168"/>
            <a:ext cx="2966618" cy="777240"/>
          </a:xfrm>
          <a:prstGeom prst="rect">
            <a:avLst/>
          </a:prstGeom>
          <a:noFill/>
          <a:ln/>
        </p:spPr>
        <p:txBody>
          <a:bodyPr wrap="square" lIns="0" tIns="0" rIns="0" bIns="0" rtlCol="0" anchor="t"/>
          <a:lstStyle/>
          <a:p>
            <a:pPr indent="0" marL="0">
              <a:buNone/>
            </a:pPr>
            <a:r>
              <a:rPr lang="en-US" sz="1400" dirty="0">
                <a:solidFill>
                  <a:schemeClr val="accent5"/>
                </a:solidFill>
              </a:rPr>
              <a:t>On-chain time vs the ERP's expected time, with a warning band and a fail band.</a:t>
            </a:r>
            <a:endParaRPr lang="en-US" sz="1400" dirty="0"/>
          </a:p>
        </p:txBody>
      </p:sp>
      <p:sp>
        <p:nvSpPr>
          <p:cNvPr id="9" name="Text 7"/>
          <p:cNvSpPr txBox="1"/>
          <p:nvPr/>
        </p:nvSpPr>
        <p:spPr>
          <a:xfrm>
            <a:off x="822960" y="3291840"/>
            <a:ext cx="2966618" cy="320040"/>
          </a:xfrm>
          <a:prstGeom prst="rect">
            <a:avLst/>
          </a:prstGeom>
          <a:noFill/>
          <a:ln/>
        </p:spPr>
        <p:txBody>
          <a:bodyPr wrap="square" lIns="0" tIns="0" rIns="0" bIns="0" rtlCol="0" anchor="t"/>
          <a:lstStyle/>
          <a:p>
            <a:pPr indent="0" marL="0">
              <a:buNone/>
            </a:pPr>
            <a:r>
              <a:rPr lang="en-US" sz="1300" b="1" dirty="0">
                <a:solidFill>
                  <a:schemeClr val="accent3"/>
                </a:solidFill>
              </a:rPr>
              <a:t>Caught: </a:t>
            </a:r>
            <a:pPr indent="0" marL="0">
              <a:buNone/>
            </a:pPr>
            <a:r>
              <a:rPr lang="en-US" sz="1300" dirty="0">
                <a:solidFill>
                  <a:schemeClr val="tx1"/>
                </a:solidFill>
              </a:rPr>
              <a:t>SHP-1002 warns, SHP-1003 fails</a:t>
            </a:r>
            <a:endParaRPr lang="en-US" sz="1300" dirty="0"/>
          </a:p>
        </p:txBody>
      </p:sp>
      <p:sp>
        <p:nvSpPr>
          <p:cNvPr id="10" name="R2"/>
          <p:cNvSpPr/>
          <p:nvPr/>
        </p:nvSpPr>
        <p:spPr>
          <a:xfrm>
            <a:off x="4338218" y="1645920"/>
            <a:ext cx="3515258" cy="2103120"/>
          </a:xfrm>
          <a:prstGeom prst="roundRect">
            <a:avLst>
              <a:gd name="adj" fmla="val 4348"/>
            </a:avLst>
          </a:prstGeom>
          <a:solidFill>
            <a:schemeClr val="bg2"/>
          </a:solidFill>
          <a:ln/>
        </p:spPr>
      </p:sp>
      <p:sp>
        <p:nvSpPr>
          <p:cNvPr id="11" name="Shape 9"/>
          <p:cNvSpPr/>
          <p:nvPr/>
        </p:nvSpPr>
        <p:spPr>
          <a:xfrm>
            <a:off x="4612538" y="1920240"/>
            <a:ext cx="685800" cy="384048"/>
          </a:xfrm>
          <a:prstGeom prst="roundRect">
            <a:avLst>
              <a:gd name="adj" fmla="val 50000"/>
            </a:avLst>
          </a:prstGeom>
          <a:solidFill>
            <a:schemeClr val="accent1"/>
          </a:solidFill>
          <a:ln/>
        </p:spPr>
      </p:sp>
      <p:sp>
        <p:nvSpPr>
          <p:cNvPr id="12" name="Text 10"/>
          <p:cNvSpPr txBox="1"/>
          <p:nvPr/>
        </p:nvSpPr>
        <p:spPr>
          <a:xfrm>
            <a:off x="4612538" y="1920240"/>
            <a:ext cx="685800" cy="384048"/>
          </a:xfrm>
          <a:prstGeom prst="rect">
            <a:avLst/>
          </a:prstGeom>
          <a:noFill/>
          <a:ln/>
        </p:spPr>
        <p:txBody>
          <a:bodyPr wrap="square" lIns="0" tIns="0" rIns="0" bIns="0" rtlCol="0" anchor="ctr"/>
          <a:lstStyle/>
          <a:p>
            <a:pPr algn="ctr" indent="0" marL="0">
              <a:buNone/>
            </a:pPr>
            <a:r>
              <a:rPr lang="en-US" sz="1500" b="1" dirty="0">
                <a:solidFill>
                  <a:schemeClr val="bg1"/>
                </a:solidFill>
              </a:rPr>
              <a:t>R2</a:t>
            </a:r>
            <a:endParaRPr lang="en-US" sz="1500" dirty="0"/>
          </a:p>
        </p:txBody>
      </p:sp>
      <p:sp>
        <p:nvSpPr>
          <p:cNvPr id="13" name="Text 11"/>
          <p:cNvSpPr txBox="1"/>
          <p:nvPr/>
        </p:nvSpPr>
        <p:spPr>
          <a:xfrm>
            <a:off x="5481218" y="1920240"/>
            <a:ext cx="2143658" cy="384048"/>
          </a:xfrm>
          <a:prstGeom prst="rect">
            <a:avLst/>
          </a:prstGeom>
          <a:noFill/>
          <a:ln/>
        </p:spPr>
        <p:txBody>
          <a:bodyPr wrap="square" lIns="0" tIns="0" rIns="0" bIns="0" rtlCol="0" anchor="ctr"/>
          <a:lstStyle/>
          <a:p>
            <a:pPr indent="0" marL="0">
              <a:buNone/>
            </a:pPr>
            <a:r>
              <a:rPr lang="en-US" sz="1800" b="1" dirty="0">
                <a:solidFill>
                  <a:schemeClr val="tx1"/>
                </a:solidFill>
              </a:rPr>
              <a:t>Quantity</a:t>
            </a:r>
            <a:endParaRPr lang="en-US" sz="1800" dirty="0"/>
          </a:p>
        </p:txBody>
      </p:sp>
      <p:sp>
        <p:nvSpPr>
          <p:cNvPr id="14" name="Text 12"/>
          <p:cNvSpPr txBox="1"/>
          <p:nvPr/>
        </p:nvSpPr>
        <p:spPr>
          <a:xfrm>
            <a:off x="4612538" y="2487168"/>
            <a:ext cx="2966618" cy="777240"/>
          </a:xfrm>
          <a:prstGeom prst="rect">
            <a:avLst/>
          </a:prstGeom>
          <a:noFill/>
          <a:ln/>
        </p:spPr>
        <p:txBody>
          <a:bodyPr wrap="square" lIns="0" tIns="0" rIns="0" bIns="0" rtlCol="0" anchor="t"/>
          <a:lstStyle/>
          <a:p>
            <a:pPr indent="0" marL="0">
              <a:buNone/>
            </a:pPr>
            <a:r>
              <a:rPr lang="en-US" sz="1400" dirty="0">
                <a:solidFill>
                  <a:schemeClr val="accent5"/>
                </a:solidFill>
              </a:rPr>
              <a:t>The decoded on-chain quantity must match the purchase order.</a:t>
            </a:r>
            <a:endParaRPr lang="en-US" sz="1400" dirty="0"/>
          </a:p>
        </p:txBody>
      </p:sp>
      <p:sp>
        <p:nvSpPr>
          <p:cNvPr id="15" name="Text 13"/>
          <p:cNvSpPr txBox="1"/>
          <p:nvPr/>
        </p:nvSpPr>
        <p:spPr>
          <a:xfrm>
            <a:off x="4612538" y="3291840"/>
            <a:ext cx="2966618" cy="320040"/>
          </a:xfrm>
          <a:prstGeom prst="rect">
            <a:avLst/>
          </a:prstGeom>
          <a:noFill/>
          <a:ln/>
        </p:spPr>
        <p:txBody>
          <a:bodyPr wrap="square" lIns="0" tIns="0" rIns="0" bIns="0" rtlCol="0" anchor="t"/>
          <a:lstStyle/>
          <a:p>
            <a:pPr indent="0" marL="0">
              <a:buNone/>
            </a:pPr>
            <a:r>
              <a:rPr lang="en-US" sz="1300" b="1" dirty="0">
                <a:solidFill>
                  <a:schemeClr val="accent3"/>
                </a:solidFill>
              </a:rPr>
              <a:t>Caught: </a:t>
            </a:r>
            <a:pPr indent="0" marL="0">
              <a:buNone/>
            </a:pPr>
            <a:r>
              <a:rPr lang="en-US" sz="1300" dirty="0">
                <a:solidFill>
                  <a:schemeClr val="tx1"/>
                </a:solidFill>
              </a:rPr>
              <a:t>SHP-1005 short by 20 units</a:t>
            </a:r>
            <a:endParaRPr lang="en-US" sz="1300" dirty="0"/>
          </a:p>
        </p:txBody>
      </p:sp>
      <p:sp>
        <p:nvSpPr>
          <p:cNvPr id="16" name="R3"/>
          <p:cNvSpPr/>
          <p:nvPr/>
        </p:nvSpPr>
        <p:spPr>
          <a:xfrm>
            <a:off x="8127797" y="1645920"/>
            <a:ext cx="3515258" cy="2103120"/>
          </a:xfrm>
          <a:prstGeom prst="roundRect">
            <a:avLst>
              <a:gd name="adj" fmla="val 4348"/>
            </a:avLst>
          </a:prstGeom>
          <a:solidFill>
            <a:schemeClr val="bg2"/>
          </a:solidFill>
          <a:ln/>
        </p:spPr>
      </p:sp>
      <p:sp>
        <p:nvSpPr>
          <p:cNvPr id="17" name="Shape 15"/>
          <p:cNvSpPr/>
          <p:nvPr/>
        </p:nvSpPr>
        <p:spPr>
          <a:xfrm>
            <a:off x="8402117" y="1920240"/>
            <a:ext cx="685800" cy="384048"/>
          </a:xfrm>
          <a:prstGeom prst="roundRect">
            <a:avLst>
              <a:gd name="adj" fmla="val 50000"/>
            </a:avLst>
          </a:prstGeom>
          <a:solidFill>
            <a:schemeClr val="accent1"/>
          </a:solidFill>
          <a:ln/>
        </p:spPr>
      </p:sp>
      <p:sp>
        <p:nvSpPr>
          <p:cNvPr id="18" name="Text 16"/>
          <p:cNvSpPr txBox="1"/>
          <p:nvPr/>
        </p:nvSpPr>
        <p:spPr>
          <a:xfrm>
            <a:off x="8402117" y="1920240"/>
            <a:ext cx="685800" cy="384048"/>
          </a:xfrm>
          <a:prstGeom prst="rect">
            <a:avLst/>
          </a:prstGeom>
          <a:noFill/>
          <a:ln/>
        </p:spPr>
        <p:txBody>
          <a:bodyPr wrap="square" lIns="0" tIns="0" rIns="0" bIns="0" rtlCol="0" anchor="ctr"/>
          <a:lstStyle/>
          <a:p>
            <a:pPr algn="ctr" indent="0" marL="0">
              <a:buNone/>
            </a:pPr>
            <a:r>
              <a:rPr lang="en-US" sz="1500" b="1" dirty="0">
                <a:solidFill>
                  <a:schemeClr val="bg1"/>
                </a:solidFill>
              </a:rPr>
              <a:t>R3</a:t>
            </a:r>
            <a:endParaRPr lang="en-US" sz="1500" dirty="0"/>
          </a:p>
        </p:txBody>
      </p:sp>
      <p:sp>
        <p:nvSpPr>
          <p:cNvPr id="19" name="Text 17"/>
          <p:cNvSpPr txBox="1"/>
          <p:nvPr/>
        </p:nvSpPr>
        <p:spPr>
          <a:xfrm>
            <a:off x="9270797" y="1920240"/>
            <a:ext cx="2143658" cy="384048"/>
          </a:xfrm>
          <a:prstGeom prst="rect">
            <a:avLst/>
          </a:prstGeom>
          <a:noFill/>
          <a:ln/>
        </p:spPr>
        <p:txBody>
          <a:bodyPr wrap="square" lIns="0" tIns="0" rIns="0" bIns="0" rtlCol="0" anchor="ctr"/>
          <a:lstStyle/>
          <a:p>
            <a:pPr indent="0" marL="0">
              <a:buNone/>
            </a:pPr>
            <a:r>
              <a:rPr lang="en-US" sz="1800" b="1" dirty="0">
                <a:solidFill>
                  <a:schemeClr val="tx1"/>
                </a:solidFill>
              </a:rPr>
              <a:t>Wallet whitelist</a:t>
            </a:r>
            <a:endParaRPr lang="en-US" sz="1800" dirty="0"/>
          </a:p>
        </p:txBody>
      </p:sp>
      <p:sp>
        <p:nvSpPr>
          <p:cNvPr id="20" name="Text 18"/>
          <p:cNvSpPr txBox="1"/>
          <p:nvPr/>
        </p:nvSpPr>
        <p:spPr>
          <a:xfrm>
            <a:off x="8402117" y="2487168"/>
            <a:ext cx="2966618" cy="777240"/>
          </a:xfrm>
          <a:prstGeom prst="rect">
            <a:avLst/>
          </a:prstGeom>
          <a:noFill/>
          <a:ln/>
        </p:spPr>
        <p:txBody>
          <a:bodyPr wrap="square" lIns="0" tIns="0" rIns="0" bIns="0" rtlCol="0" anchor="t"/>
          <a:lstStyle/>
          <a:p>
            <a:pPr indent="0" marL="0">
              <a:buNone/>
            </a:pPr>
            <a:r>
              <a:rPr lang="en-US" sz="1400" dirty="0">
                <a:solidFill>
                  <a:schemeClr val="accent5"/>
                </a:solidFill>
              </a:rPr>
              <a:t>The signer must be an approved partner wallet. CRITICAL: escalates.</a:t>
            </a:r>
            <a:endParaRPr lang="en-US" sz="1400" dirty="0"/>
          </a:p>
        </p:txBody>
      </p:sp>
      <p:sp>
        <p:nvSpPr>
          <p:cNvPr id="21" name="Text 19"/>
          <p:cNvSpPr txBox="1"/>
          <p:nvPr/>
        </p:nvSpPr>
        <p:spPr>
          <a:xfrm>
            <a:off x="8402117" y="3291840"/>
            <a:ext cx="2966618" cy="320040"/>
          </a:xfrm>
          <a:prstGeom prst="rect">
            <a:avLst/>
          </a:prstGeom>
          <a:noFill/>
          <a:ln/>
        </p:spPr>
        <p:txBody>
          <a:bodyPr wrap="square" lIns="0" tIns="0" rIns="0" bIns="0" rtlCol="0" anchor="t"/>
          <a:lstStyle/>
          <a:p>
            <a:pPr indent="0" marL="0">
              <a:buNone/>
            </a:pPr>
            <a:r>
              <a:rPr lang="en-US" sz="1300" b="1" dirty="0">
                <a:solidFill>
                  <a:schemeClr val="accent3"/>
                </a:solidFill>
              </a:rPr>
              <a:t>Caught: </a:t>
            </a:r>
            <a:pPr indent="0" marL="0">
              <a:buNone/>
            </a:pPr>
            <a:r>
              <a:rPr lang="en-US" sz="1300" dirty="0">
                <a:solidFill>
                  <a:schemeClr val="tx1"/>
                </a:solidFill>
              </a:rPr>
              <a:t>SHP-1007, unapproved wallet</a:t>
            </a:r>
            <a:endParaRPr lang="en-US" sz="1300" dirty="0"/>
          </a:p>
        </p:txBody>
      </p:sp>
      <p:sp>
        <p:nvSpPr>
          <p:cNvPr id="22" name="R4"/>
          <p:cNvSpPr/>
          <p:nvPr/>
        </p:nvSpPr>
        <p:spPr>
          <a:xfrm>
            <a:off x="548640" y="4023360"/>
            <a:ext cx="3515258" cy="2103120"/>
          </a:xfrm>
          <a:prstGeom prst="roundRect">
            <a:avLst>
              <a:gd name="adj" fmla="val 4348"/>
            </a:avLst>
          </a:prstGeom>
          <a:solidFill>
            <a:schemeClr val="bg2"/>
          </a:solidFill>
          <a:ln/>
        </p:spPr>
      </p:sp>
      <p:sp>
        <p:nvSpPr>
          <p:cNvPr id="23" name="Shape 21"/>
          <p:cNvSpPr/>
          <p:nvPr/>
        </p:nvSpPr>
        <p:spPr>
          <a:xfrm>
            <a:off x="822960" y="4297680"/>
            <a:ext cx="685800" cy="384048"/>
          </a:xfrm>
          <a:prstGeom prst="roundRect">
            <a:avLst>
              <a:gd name="adj" fmla="val 50000"/>
            </a:avLst>
          </a:prstGeom>
          <a:solidFill>
            <a:schemeClr val="accent1"/>
          </a:solidFill>
          <a:ln/>
        </p:spPr>
      </p:sp>
      <p:sp>
        <p:nvSpPr>
          <p:cNvPr id="24" name="Text 22"/>
          <p:cNvSpPr txBox="1"/>
          <p:nvPr/>
        </p:nvSpPr>
        <p:spPr>
          <a:xfrm>
            <a:off x="822960" y="4297680"/>
            <a:ext cx="685800" cy="384048"/>
          </a:xfrm>
          <a:prstGeom prst="rect">
            <a:avLst/>
          </a:prstGeom>
          <a:noFill/>
          <a:ln/>
        </p:spPr>
        <p:txBody>
          <a:bodyPr wrap="square" lIns="0" tIns="0" rIns="0" bIns="0" rtlCol="0" anchor="ctr"/>
          <a:lstStyle/>
          <a:p>
            <a:pPr algn="ctr" indent="0" marL="0">
              <a:buNone/>
            </a:pPr>
            <a:r>
              <a:rPr lang="en-US" sz="1500" b="1" dirty="0">
                <a:solidFill>
                  <a:schemeClr val="bg1"/>
                </a:solidFill>
              </a:rPr>
              <a:t>R4</a:t>
            </a:r>
            <a:endParaRPr lang="en-US" sz="1500" dirty="0"/>
          </a:p>
        </p:txBody>
      </p:sp>
      <p:sp>
        <p:nvSpPr>
          <p:cNvPr id="25" name="Text 23"/>
          <p:cNvSpPr txBox="1"/>
          <p:nvPr/>
        </p:nvSpPr>
        <p:spPr>
          <a:xfrm>
            <a:off x="1691640" y="4297680"/>
            <a:ext cx="2143658" cy="384048"/>
          </a:xfrm>
          <a:prstGeom prst="rect">
            <a:avLst/>
          </a:prstGeom>
          <a:noFill/>
          <a:ln/>
        </p:spPr>
        <p:txBody>
          <a:bodyPr wrap="square" lIns="0" tIns="0" rIns="0" bIns="0" rtlCol="0" anchor="ctr"/>
          <a:lstStyle/>
          <a:p>
            <a:pPr indent="0" marL="0">
              <a:buNone/>
            </a:pPr>
            <a:r>
              <a:rPr lang="en-US" sz="1800" b="1" dirty="0">
                <a:solidFill>
                  <a:schemeClr val="tx1"/>
                </a:solidFill>
              </a:rPr>
              <a:t>Duplicates</a:t>
            </a:r>
            <a:endParaRPr lang="en-US" sz="1800" dirty="0"/>
          </a:p>
        </p:txBody>
      </p:sp>
      <p:sp>
        <p:nvSpPr>
          <p:cNvPr id="26" name="Text 24"/>
          <p:cNvSpPr txBox="1"/>
          <p:nvPr/>
        </p:nvSpPr>
        <p:spPr>
          <a:xfrm>
            <a:off x="822960" y="4864608"/>
            <a:ext cx="2966618" cy="777240"/>
          </a:xfrm>
          <a:prstGeom prst="rect">
            <a:avLst/>
          </a:prstGeom>
          <a:noFill/>
          <a:ln/>
        </p:spPr>
        <p:txBody>
          <a:bodyPr wrap="square" lIns="0" tIns="0" rIns="0" bIns="0" rtlCol="0" anchor="t"/>
          <a:lstStyle/>
          <a:p>
            <a:pPr indent="0" marL="0">
              <a:buNone/>
            </a:pPr>
            <a:r>
              <a:rPr lang="en-US" sz="1400" dirty="0">
                <a:solidFill>
                  <a:schemeClr val="accent5"/>
                </a:solidFill>
              </a:rPr>
              <a:t>No transaction hash may be recorded twice for one shipment.</a:t>
            </a:r>
            <a:endParaRPr lang="en-US" sz="1400" dirty="0"/>
          </a:p>
        </p:txBody>
      </p:sp>
      <p:sp>
        <p:nvSpPr>
          <p:cNvPr id="27" name="Text 25"/>
          <p:cNvSpPr txBox="1"/>
          <p:nvPr/>
        </p:nvSpPr>
        <p:spPr>
          <a:xfrm>
            <a:off x="822960" y="5669280"/>
            <a:ext cx="2966618" cy="320040"/>
          </a:xfrm>
          <a:prstGeom prst="rect">
            <a:avLst/>
          </a:prstGeom>
          <a:noFill/>
          <a:ln/>
        </p:spPr>
        <p:txBody>
          <a:bodyPr wrap="square" lIns="0" tIns="0" rIns="0" bIns="0" rtlCol="0" anchor="t"/>
          <a:lstStyle/>
          <a:p>
            <a:pPr indent="0" marL="0">
              <a:buNone/>
            </a:pPr>
            <a:r>
              <a:rPr lang="en-US" sz="1300" b="1" dirty="0">
                <a:solidFill>
                  <a:schemeClr val="accent3"/>
                </a:solidFill>
              </a:rPr>
              <a:t>Caught: </a:t>
            </a:r>
            <a:pPr indent="0" marL="0">
              <a:buNone/>
            </a:pPr>
            <a:r>
              <a:rPr lang="en-US" sz="1300" dirty="0">
                <a:solidFill>
                  <a:schemeClr val="tx1"/>
                </a:solidFill>
              </a:rPr>
              <a:t>SHP-1009 delivery replayed</a:t>
            </a:r>
            <a:endParaRPr lang="en-US" sz="1300" dirty="0"/>
          </a:p>
        </p:txBody>
      </p:sp>
      <p:sp>
        <p:nvSpPr>
          <p:cNvPr id="28" name="R5"/>
          <p:cNvSpPr/>
          <p:nvPr/>
        </p:nvSpPr>
        <p:spPr>
          <a:xfrm>
            <a:off x="4338218" y="4023360"/>
            <a:ext cx="3515258" cy="2103120"/>
          </a:xfrm>
          <a:prstGeom prst="roundRect">
            <a:avLst>
              <a:gd name="adj" fmla="val 4348"/>
            </a:avLst>
          </a:prstGeom>
          <a:solidFill>
            <a:schemeClr val="bg2"/>
          </a:solidFill>
          <a:ln/>
        </p:spPr>
      </p:sp>
      <p:sp>
        <p:nvSpPr>
          <p:cNvPr id="29" name="Shape 27"/>
          <p:cNvSpPr/>
          <p:nvPr/>
        </p:nvSpPr>
        <p:spPr>
          <a:xfrm>
            <a:off x="4612538" y="4297680"/>
            <a:ext cx="685800" cy="384048"/>
          </a:xfrm>
          <a:prstGeom prst="roundRect">
            <a:avLst>
              <a:gd name="adj" fmla="val 50000"/>
            </a:avLst>
          </a:prstGeom>
          <a:solidFill>
            <a:schemeClr val="accent1"/>
          </a:solidFill>
          <a:ln/>
        </p:spPr>
      </p:sp>
      <p:sp>
        <p:nvSpPr>
          <p:cNvPr id="30" name="Text 28"/>
          <p:cNvSpPr txBox="1"/>
          <p:nvPr/>
        </p:nvSpPr>
        <p:spPr>
          <a:xfrm>
            <a:off x="4612538" y="4297680"/>
            <a:ext cx="685800" cy="384048"/>
          </a:xfrm>
          <a:prstGeom prst="rect">
            <a:avLst/>
          </a:prstGeom>
          <a:noFill/>
          <a:ln/>
        </p:spPr>
        <p:txBody>
          <a:bodyPr wrap="square" lIns="0" tIns="0" rIns="0" bIns="0" rtlCol="0" anchor="ctr"/>
          <a:lstStyle/>
          <a:p>
            <a:pPr algn="ctr" indent="0" marL="0">
              <a:buNone/>
            </a:pPr>
            <a:r>
              <a:rPr lang="en-US" sz="1500" b="1" dirty="0">
                <a:solidFill>
                  <a:schemeClr val="bg1"/>
                </a:solidFill>
              </a:rPr>
              <a:t>R5</a:t>
            </a:r>
            <a:endParaRPr lang="en-US" sz="1500" dirty="0"/>
          </a:p>
        </p:txBody>
      </p:sp>
      <p:sp>
        <p:nvSpPr>
          <p:cNvPr id="31" name="Text 29"/>
          <p:cNvSpPr txBox="1"/>
          <p:nvPr/>
        </p:nvSpPr>
        <p:spPr>
          <a:xfrm>
            <a:off x="5481218" y="4297680"/>
            <a:ext cx="2143658" cy="384048"/>
          </a:xfrm>
          <a:prstGeom prst="rect">
            <a:avLst/>
          </a:prstGeom>
          <a:noFill/>
          <a:ln/>
        </p:spPr>
        <p:txBody>
          <a:bodyPr wrap="square" lIns="0" tIns="0" rIns="0" bIns="0" rtlCol="0" anchor="ctr"/>
          <a:lstStyle/>
          <a:p>
            <a:pPr indent="0" marL="0">
              <a:buNone/>
            </a:pPr>
            <a:r>
              <a:rPr lang="en-US" sz="1800" b="1" dirty="0">
                <a:solidFill>
                  <a:schemeClr val="tx1"/>
                </a:solidFill>
              </a:rPr>
              <a:t>Sequence</a:t>
            </a:r>
            <a:endParaRPr lang="en-US" sz="1800" dirty="0"/>
          </a:p>
        </p:txBody>
      </p:sp>
      <p:sp>
        <p:nvSpPr>
          <p:cNvPr id="32" name="Text 30"/>
          <p:cNvSpPr txBox="1"/>
          <p:nvPr/>
        </p:nvSpPr>
        <p:spPr>
          <a:xfrm>
            <a:off x="4612538" y="4864608"/>
            <a:ext cx="2966618" cy="777240"/>
          </a:xfrm>
          <a:prstGeom prst="rect">
            <a:avLst/>
          </a:prstGeom>
          <a:noFill/>
          <a:ln/>
        </p:spPr>
        <p:txBody>
          <a:bodyPr wrap="square" lIns="0" tIns="0" rIns="0" bIns="0" rtlCol="0" anchor="t"/>
          <a:lstStyle/>
          <a:p>
            <a:pPr indent="0" marL="0">
              <a:buNone/>
            </a:pPr>
            <a:r>
              <a:rPr lang="en-US" sz="1400" dirty="0">
                <a:solidFill>
                  <a:schemeClr val="accent5"/>
                </a:solidFill>
              </a:rPr>
              <a:t>Milestones must happen in the order set in Config.xlsx.</a:t>
            </a:r>
            <a:endParaRPr lang="en-US" sz="1400" dirty="0"/>
          </a:p>
        </p:txBody>
      </p:sp>
      <p:sp>
        <p:nvSpPr>
          <p:cNvPr id="33" name="Text 31"/>
          <p:cNvSpPr txBox="1"/>
          <p:nvPr/>
        </p:nvSpPr>
        <p:spPr>
          <a:xfrm>
            <a:off x="4612538" y="5669280"/>
            <a:ext cx="2966618" cy="320040"/>
          </a:xfrm>
          <a:prstGeom prst="rect">
            <a:avLst/>
          </a:prstGeom>
          <a:noFill/>
          <a:ln/>
        </p:spPr>
        <p:txBody>
          <a:bodyPr wrap="square" lIns="0" tIns="0" rIns="0" bIns="0" rtlCol="0" anchor="t"/>
          <a:lstStyle/>
          <a:p>
            <a:pPr indent="0" marL="0">
              <a:buNone/>
            </a:pPr>
            <a:r>
              <a:rPr lang="en-US" sz="1300" b="1" dirty="0">
                <a:solidFill>
                  <a:schemeClr val="accent3"/>
                </a:solidFill>
              </a:rPr>
              <a:t>Caught: </a:t>
            </a:r>
            <a:pPr indent="0" marL="0">
              <a:buNone/>
            </a:pPr>
            <a:r>
              <a:rPr lang="en-US" sz="1300" dirty="0">
                <a:solidFill>
                  <a:schemeClr val="tx1"/>
                </a:solidFill>
              </a:rPr>
              <a:t>SHP-1011 out of order</a:t>
            </a:r>
            <a:endParaRPr lang="en-US" sz="1300" dirty="0"/>
          </a:p>
        </p:txBody>
      </p:sp>
      <p:sp>
        <p:nvSpPr>
          <p:cNvPr id="34" name="R6"/>
          <p:cNvSpPr/>
          <p:nvPr/>
        </p:nvSpPr>
        <p:spPr>
          <a:xfrm>
            <a:off x="8127797" y="4023360"/>
            <a:ext cx="3515258" cy="2103120"/>
          </a:xfrm>
          <a:prstGeom prst="roundRect">
            <a:avLst>
              <a:gd name="adj" fmla="val 4348"/>
            </a:avLst>
          </a:prstGeom>
          <a:solidFill>
            <a:schemeClr val="bg2"/>
          </a:solidFill>
          <a:ln/>
        </p:spPr>
      </p:sp>
      <p:sp>
        <p:nvSpPr>
          <p:cNvPr id="35" name="Shape 33"/>
          <p:cNvSpPr/>
          <p:nvPr/>
        </p:nvSpPr>
        <p:spPr>
          <a:xfrm>
            <a:off x="8402117" y="4297680"/>
            <a:ext cx="685800" cy="384048"/>
          </a:xfrm>
          <a:prstGeom prst="roundRect">
            <a:avLst>
              <a:gd name="adj" fmla="val 50000"/>
            </a:avLst>
          </a:prstGeom>
          <a:solidFill>
            <a:schemeClr val="accent1"/>
          </a:solidFill>
          <a:ln/>
        </p:spPr>
      </p:sp>
      <p:sp>
        <p:nvSpPr>
          <p:cNvPr id="36" name="Text 34"/>
          <p:cNvSpPr txBox="1"/>
          <p:nvPr/>
        </p:nvSpPr>
        <p:spPr>
          <a:xfrm>
            <a:off x="8402117" y="4297680"/>
            <a:ext cx="685800" cy="384048"/>
          </a:xfrm>
          <a:prstGeom prst="rect">
            <a:avLst/>
          </a:prstGeom>
          <a:noFill/>
          <a:ln/>
        </p:spPr>
        <p:txBody>
          <a:bodyPr wrap="square" lIns="0" tIns="0" rIns="0" bIns="0" rtlCol="0" anchor="ctr"/>
          <a:lstStyle/>
          <a:p>
            <a:pPr algn="ctr" indent="0" marL="0">
              <a:buNone/>
            </a:pPr>
            <a:r>
              <a:rPr lang="en-US" sz="1500" b="1" dirty="0">
                <a:solidFill>
                  <a:schemeClr val="bg1"/>
                </a:solidFill>
              </a:rPr>
              <a:t>R6</a:t>
            </a:r>
            <a:endParaRPr lang="en-US" sz="1500" dirty="0"/>
          </a:p>
        </p:txBody>
      </p:sp>
      <p:sp>
        <p:nvSpPr>
          <p:cNvPr id="37" name="Text 35"/>
          <p:cNvSpPr txBox="1"/>
          <p:nvPr/>
        </p:nvSpPr>
        <p:spPr>
          <a:xfrm>
            <a:off x="9270797" y="4297680"/>
            <a:ext cx="2143658" cy="384048"/>
          </a:xfrm>
          <a:prstGeom prst="rect">
            <a:avLst/>
          </a:prstGeom>
          <a:noFill/>
          <a:ln/>
        </p:spPr>
        <p:txBody>
          <a:bodyPr wrap="square" lIns="0" tIns="0" rIns="0" bIns="0" rtlCol="0" anchor="ctr"/>
          <a:lstStyle/>
          <a:p>
            <a:pPr indent="0" marL="0">
              <a:buNone/>
            </a:pPr>
            <a:r>
              <a:rPr lang="en-US" sz="1800" b="1" dirty="0">
                <a:solidFill>
                  <a:schemeClr val="tx1"/>
                </a:solidFill>
              </a:rPr>
              <a:t>Contract event</a:t>
            </a:r>
            <a:endParaRPr lang="en-US" sz="1800" dirty="0"/>
          </a:p>
        </p:txBody>
      </p:sp>
      <p:sp>
        <p:nvSpPr>
          <p:cNvPr id="38" name="Text 36"/>
          <p:cNvSpPr txBox="1"/>
          <p:nvPr/>
        </p:nvSpPr>
        <p:spPr>
          <a:xfrm>
            <a:off x="8402117" y="4864608"/>
            <a:ext cx="2966618" cy="777240"/>
          </a:xfrm>
          <a:prstGeom prst="rect">
            <a:avLst/>
          </a:prstGeom>
          <a:noFill/>
          <a:ln/>
        </p:spPr>
        <p:txBody>
          <a:bodyPr wrap="square" lIns="0" tIns="0" rIns="0" bIns="0" rtlCol="0" anchor="t"/>
          <a:lstStyle/>
          <a:p>
            <a:pPr indent="0" marL="0">
              <a:buNone/>
            </a:pPr>
            <a:r>
              <a:rPr lang="en-US" sz="1400" dirty="0">
                <a:solidFill>
                  <a:schemeClr val="accent5"/>
                </a:solidFill>
              </a:rPr>
              <a:t>Every shipment must emit its required smart-contract events.</a:t>
            </a:r>
            <a:endParaRPr lang="en-US" sz="1400" dirty="0"/>
          </a:p>
        </p:txBody>
      </p:sp>
      <p:sp>
        <p:nvSpPr>
          <p:cNvPr id="39" name="Text 37"/>
          <p:cNvSpPr txBox="1"/>
          <p:nvPr/>
        </p:nvSpPr>
        <p:spPr>
          <a:xfrm>
            <a:off x="8402117" y="5669280"/>
            <a:ext cx="2966618" cy="320040"/>
          </a:xfrm>
          <a:prstGeom prst="rect">
            <a:avLst/>
          </a:prstGeom>
          <a:noFill/>
          <a:ln/>
        </p:spPr>
        <p:txBody>
          <a:bodyPr wrap="square" lIns="0" tIns="0" rIns="0" bIns="0" rtlCol="0" anchor="t"/>
          <a:lstStyle/>
          <a:p>
            <a:pPr indent="0" marL="0">
              <a:buNone/>
            </a:pPr>
            <a:r>
              <a:rPr lang="en-US" sz="1300" b="1" dirty="0">
                <a:solidFill>
                  <a:schemeClr val="accent3"/>
                </a:solidFill>
              </a:rPr>
              <a:t>Caught: </a:t>
            </a:r>
            <a:pPr indent="0" marL="0">
              <a:buNone/>
            </a:pPr>
            <a:r>
              <a:rPr lang="en-US" sz="1300" dirty="0">
                <a:solidFill>
                  <a:schemeClr val="tx1"/>
                </a:solidFill>
              </a:rPr>
              <a:t>SHP-1012 never confirmed receipt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RESULTS</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One run: 48 transactions checked in about 24 seconds</a:t>
            </a:r>
            <a:endParaRPr lang="en-US" sz="3200" dirty="0"/>
          </a:p>
        </p:txBody>
      </p:sp>
      <p:sp>
        <p:nvSpPr>
          <p:cNvPr id="4" name="transactions validated"/>
          <p:cNvSpPr/>
          <p:nvPr/>
        </p:nvSpPr>
        <p:spPr>
          <a:xfrm>
            <a:off x="548640" y="1691640"/>
            <a:ext cx="2514600" cy="1371600"/>
          </a:xfrm>
          <a:prstGeom prst="roundRect">
            <a:avLst>
              <a:gd name="adj" fmla="val 6667"/>
            </a:avLst>
          </a:prstGeom>
          <a:solidFill>
            <a:schemeClr val="bg2"/>
          </a:solidFill>
          <a:ln/>
        </p:spPr>
      </p:sp>
      <p:sp>
        <p:nvSpPr>
          <p:cNvPr id="5" name="Text 3"/>
          <p:cNvSpPr txBox="1"/>
          <p:nvPr/>
        </p:nvSpPr>
        <p:spPr>
          <a:xfrm>
            <a:off x="822960" y="1828800"/>
            <a:ext cx="1965960" cy="731520"/>
          </a:xfrm>
          <a:prstGeom prst="rect">
            <a:avLst/>
          </a:prstGeom>
          <a:noFill/>
          <a:ln/>
        </p:spPr>
        <p:txBody>
          <a:bodyPr wrap="square" lIns="0" tIns="0" rIns="0" bIns="0" rtlCol="0" anchor="t"/>
          <a:lstStyle/>
          <a:p>
            <a:pPr indent="0" marL="0">
              <a:buNone/>
            </a:pPr>
            <a:r>
              <a:rPr lang="en-US" sz="4400" b="1" dirty="0">
                <a:solidFill>
                  <a:schemeClr val="accent1"/>
                </a:solidFill>
              </a:rPr>
              <a:t>48</a:t>
            </a:r>
            <a:endParaRPr lang="en-US" sz="4400" dirty="0"/>
          </a:p>
        </p:txBody>
      </p:sp>
      <p:sp>
        <p:nvSpPr>
          <p:cNvPr id="6" name="Text 4"/>
          <p:cNvSpPr txBox="1"/>
          <p:nvPr/>
        </p:nvSpPr>
        <p:spPr>
          <a:xfrm>
            <a:off x="822960" y="2560320"/>
            <a:ext cx="1965960" cy="411480"/>
          </a:xfrm>
          <a:prstGeom prst="rect">
            <a:avLst/>
          </a:prstGeom>
          <a:noFill/>
          <a:ln/>
        </p:spPr>
        <p:txBody>
          <a:bodyPr wrap="square" lIns="0" tIns="0" rIns="0" bIns="0" rtlCol="0" anchor="t"/>
          <a:lstStyle/>
          <a:p>
            <a:pPr indent="0" marL="0">
              <a:buNone/>
            </a:pPr>
            <a:r>
              <a:rPr lang="en-US" sz="1400" dirty="0">
                <a:solidFill>
                  <a:schemeClr val="accent5"/>
                </a:solidFill>
              </a:rPr>
              <a:t>transactions validated</a:t>
            </a:r>
            <a:endParaRPr lang="en-US" sz="1400" dirty="0"/>
          </a:p>
        </p:txBody>
      </p:sp>
      <p:sp>
        <p:nvSpPr>
          <p:cNvPr id="7" name="passed every rule"/>
          <p:cNvSpPr/>
          <p:nvPr/>
        </p:nvSpPr>
        <p:spPr>
          <a:xfrm>
            <a:off x="3337560" y="1691640"/>
            <a:ext cx="2514600" cy="1371600"/>
          </a:xfrm>
          <a:prstGeom prst="roundRect">
            <a:avLst>
              <a:gd name="adj" fmla="val 6667"/>
            </a:avLst>
          </a:prstGeom>
          <a:solidFill>
            <a:schemeClr val="bg2"/>
          </a:solidFill>
          <a:ln/>
        </p:spPr>
      </p:sp>
      <p:sp>
        <p:nvSpPr>
          <p:cNvPr id="8" name="Text 6"/>
          <p:cNvSpPr txBox="1"/>
          <p:nvPr/>
        </p:nvSpPr>
        <p:spPr>
          <a:xfrm>
            <a:off x="3611880" y="1828800"/>
            <a:ext cx="1965960" cy="731520"/>
          </a:xfrm>
          <a:prstGeom prst="rect">
            <a:avLst/>
          </a:prstGeom>
          <a:noFill/>
          <a:ln/>
        </p:spPr>
        <p:txBody>
          <a:bodyPr wrap="square" lIns="0" tIns="0" rIns="0" bIns="0" rtlCol="0" anchor="t"/>
          <a:lstStyle/>
          <a:p>
            <a:pPr indent="0" marL="0">
              <a:buNone/>
            </a:pPr>
            <a:r>
              <a:rPr lang="en-US" sz="4400" b="1" dirty="0">
                <a:solidFill>
                  <a:schemeClr val="accent4"/>
                </a:solidFill>
              </a:rPr>
              <a:t>40</a:t>
            </a:r>
            <a:endParaRPr lang="en-US" sz="4400" dirty="0"/>
          </a:p>
        </p:txBody>
      </p:sp>
      <p:sp>
        <p:nvSpPr>
          <p:cNvPr id="9" name="Text 7"/>
          <p:cNvSpPr txBox="1"/>
          <p:nvPr/>
        </p:nvSpPr>
        <p:spPr>
          <a:xfrm>
            <a:off x="3611880" y="2560320"/>
            <a:ext cx="1965960" cy="411480"/>
          </a:xfrm>
          <a:prstGeom prst="rect">
            <a:avLst/>
          </a:prstGeom>
          <a:noFill/>
          <a:ln/>
        </p:spPr>
        <p:txBody>
          <a:bodyPr wrap="square" lIns="0" tIns="0" rIns="0" bIns="0" rtlCol="0" anchor="t"/>
          <a:lstStyle/>
          <a:p>
            <a:pPr indent="0" marL="0">
              <a:buNone/>
            </a:pPr>
            <a:r>
              <a:rPr lang="en-US" sz="1400" dirty="0">
                <a:solidFill>
                  <a:schemeClr val="accent5"/>
                </a:solidFill>
              </a:rPr>
              <a:t>passed every rule</a:t>
            </a:r>
            <a:endParaRPr lang="en-US" sz="1400" dirty="0"/>
          </a:p>
        </p:txBody>
      </p:sp>
      <p:sp>
        <p:nvSpPr>
          <p:cNvPr id="10" name="flagged: 7 failed, 1 warning"/>
          <p:cNvSpPr/>
          <p:nvPr/>
        </p:nvSpPr>
        <p:spPr>
          <a:xfrm>
            <a:off x="548640" y="3337560"/>
            <a:ext cx="2514600" cy="1371600"/>
          </a:xfrm>
          <a:prstGeom prst="roundRect">
            <a:avLst>
              <a:gd name="adj" fmla="val 6667"/>
            </a:avLst>
          </a:prstGeom>
          <a:solidFill>
            <a:schemeClr val="bg2"/>
          </a:solidFill>
          <a:ln/>
        </p:spPr>
      </p:sp>
      <p:sp>
        <p:nvSpPr>
          <p:cNvPr id="11" name="Text 9"/>
          <p:cNvSpPr txBox="1"/>
          <p:nvPr/>
        </p:nvSpPr>
        <p:spPr>
          <a:xfrm>
            <a:off x="822960" y="3474720"/>
            <a:ext cx="1965960" cy="731520"/>
          </a:xfrm>
          <a:prstGeom prst="rect">
            <a:avLst/>
          </a:prstGeom>
          <a:noFill/>
          <a:ln/>
        </p:spPr>
        <p:txBody>
          <a:bodyPr wrap="square" lIns="0" tIns="0" rIns="0" bIns="0" rtlCol="0" anchor="t"/>
          <a:lstStyle/>
          <a:p>
            <a:pPr indent="0" marL="0">
              <a:buNone/>
            </a:pPr>
            <a:r>
              <a:rPr lang="en-US" sz="4400" b="1" dirty="0">
                <a:solidFill>
                  <a:schemeClr val="accent3"/>
                </a:solidFill>
              </a:rPr>
              <a:t>8</a:t>
            </a:r>
            <a:endParaRPr lang="en-US" sz="4400" dirty="0"/>
          </a:p>
        </p:txBody>
      </p:sp>
      <p:sp>
        <p:nvSpPr>
          <p:cNvPr id="12" name="Text 10"/>
          <p:cNvSpPr txBox="1"/>
          <p:nvPr/>
        </p:nvSpPr>
        <p:spPr>
          <a:xfrm>
            <a:off x="822960" y="4206240"/>
            <a:ext cx="1965960" cy="411480"/>
          </a:xfrm>
          <a:prstGeom prst="rect">
            <a:avLst/>
          </a:prstGeom>
          <a:noFill/>
          <a:ln/>
        </p:spPr>
        <p:txBody>
          <a:bodyPr wrap="square" lIns="0" tIns="0" rIns="0" bIns="0" rtlCol="0" anchor="t"/>
          <a:lstStyle/>
          <a:p>
            <a:pPr indent="0" marL="0">
              <a:buNone/>
            </a:pPr>
            <a:r>
              <a:rPr lang="en-US" sz="1400" dirty="0">
                <a:solidFill>
                  <a:schemeClr val="accent5"/>
                </a:solidFill>
              </a:rPr>
              <a:t>flagged: 7 failed, 1 warning</a:t>
            </a:r>
            <a:endParaRPr lang="en-US" sz="1400" dirty="0"/>
          </a:p>
        </p:txBody>
      </p:sp>
      <p:sp>
        <p:nvSpPr>
          <p:cNvPr id="13" name="escalated to a human"/>
          <p:cNvSpPr/>
          <p:nvPr/>
        </p:nvSpPr>
        <p:spPr>
          <a:xfrm>
            <a:off x="3337560" y="3337560"/>
            <a:ext cx="2514600" cy="1371600"/>
          </a:xfrm>
          <a:prstGeom prst="roundRect">
            <a:avLst>
              <a:gd name="adj" fmla="val 6667"/>
            </a:avLst>
          </a:prstGeom>
          <a:solidFill>
            <a:schemeClr val="bg2"/>
          </a:solidFill>
          <a:ln/>
        </p:spPr>
      </p:sp>
      <p:sp>
        <p:nvSpPr>
          <p:cNvPr id="14" name="Text 12"/>
          <p:cNvSpPr txBox="1"/>
          <p:nvPr/>
        </p:nvSpPr>
        <p:spPr>
          <a:xfrm>
            <a:off x="3611880" y="3474720"/>
            <a:ext cx="1965960" cy="731520"/>
          </a:xfrm>
          <a:prstGeom prst="rect">
            <a:avLst/>
          </a:prstGeom>
          <a:noFill/>
          <a:ln/>
        </p:spPr>
        <p:txBody>
          <a:bodyPr wrap="square" lIns="0" tIns="0" rIns="0" bIns="0" rtlCol="0" anchor="t"/>
          <a:lstStyle/>
          <a:p>
            <a:pPr indent="0" marL="0">
              <a:buNone/>
            </a:pPr>
            <a:r>
              <a:rPr lang="en-US" sz="4400" b="1" dirty="0">
                <a:solidFill>
                  <a:schemeClr val="accent2"/>
                </a:solidFill>
              </a:rPr>
              <a:t>1</a:t>
            </a:r>
            <a:endParaRPr lang="en-US" sz="4400" dirty="0"/>
          </a:p>
        </p:txBody>
      </p:sp>
      <p:sp>
        <p:nvSpPr>
          <p:cNvPr id="15" name="Text 13"/>
          <p:cNvSpPr txBox="1"/>
          <p:nvPr/>
        </p:nvSpPr>
        <p:spPr>
          <a:xfrm>
            <a:off x="3611880" y="4206240"/>
            <a:ext cx="1965960" cy="411480"/>
          </a:xfrm>
          <a:prstGeom prst="rect">
            <a:avLst/>
          </a:prstGeom>
          <a:noFill/>
          <a:ln/>
        </p:spPr>
        <p:txBody>
          <a:bodyPr wrap="square" lIns="0" tIns="0" rIns="0" bIns="0" rtlCol="0" anchor="t"/>
          <a:lstStyle/>
          <a:p>
            <a:pPr indent="0" marL="0">
              <a:buNone/>
            </a:pPr>
            <a:r>
              <a:rPr lang="en-US" sz="1400" dirty="0">
                <a:solidFill>
                  <a:schemeClr val="accent5"/>
                </a:solidFill>
              </a:rPr>
              <a:t>escalated to a human</a:t>
            </a:r>
            <a:endParaRPr lang="en-US" sz="1400" dirty="0"/>
          </a:p>
        </p:txBody>
      </p:sp>
      <p:sp>
        <p:nvSpPr>
          <p:cNvPr id="16" name="Determinism"/>
          <p:cNvSpPr/>
          <p:nvPr/>
        </p:nvSpPr>
        <p:spPr>
          <a:xfrm>
            <a:off x="548640" y="5029200"/>
            <a:ext cx="5303520" cy="1097280"/>
          </a:xfrm>
          <a:prstGeom prst="roundRect">
            <a:avLst>
              <a:gd name="adj" fmla="val 8333"/>
            </a:avLst>
          </a:prstGeom>
          <a:solidFill>
            <a:schemeClr val="bg1"/>
          </a:solidFill>
          <a:ln w="12700">
            <a:solidFill>
              <a:srgbClr val="D5E1DF"/>
            </a:solidFill>
            <a:prstDash val="solid"/>
          </a:ln>
        </p:spPr>
      </p:sp>
      <p:sp>
        <p:nvSpPr>
          <p:cNvPr id="17" name="Time badge"/>
          <p:cNvSpPr/>
          <p:nvPr/>
        </p:nvSpPr>
        <p:spPr>
          <a:xfrm>
            <a:off x="777240" y="5257800"/>
            <a:ext cx="640080" cy="640080"/>
          </a:xfrm>
          <a:prstGeom prst="ellipse">
            <a:avLst/>
          </a:prstGeom>
          <a:solidFill>
            <a:schemeClr val="accent1"/>
          </a:solidFill>
          <a:ln/>
        </p:spPr>
      </p:sp>
      <p:pic>
        <p:nvPicPr>
          <p:cNvPr id="18" name="Image 0" descr="Time">    </p:cNvPr>
          <p:cNvPicPr>
            <a:picLocks noChangeAspect="1"/>
          </p:cNvPicPr>
          <p:nvPr/>
        </p:nvPicPr>
        <p:blipFill>
          <a:blip r:embed="rId1"/>
          <a:stretch>
            <a:fillRect/>
          </a:stretch>
        </p:blipFill>
        <p:spPr>
          <a:xfrm>
            <a:off x="937260" y="5417820"/>
            <a:ext cx="320040" cy="320040"/>
          </a:xfrm>
          <a:prstGeom prst="rect">
            <a:avLst/>
          </a:prstGeom>
        </p:spPr>
      </p:pic>
      <p:sp>
        <p:nvSpPr>
          <p:cNvPr id="19" name="Text 16"/>
          <p:cNvSpPr txBox="1"/>
          <p:nvPr/>
        </p:nvSpPr>
        <p:spPr>
          <a:xfrm>
            <a:off x="1600200" y="5138928"/>
            <a:ext cx="4069080" cy="914400"/>
          </a:xfrm>
          <a:prstGeom prst="rect">
            <a:avLst/>
          </a:prstGeom>
          <a:noFill/>
          <a:ln/>
        </p:spPr>
        <p:txBody>
          <a:bodyPr wrap="square" lIns="0" tIns="0" rIns="0" bIns="0" rtlCol="0" anchor="ctr"/>
          <a:lstStyle/>
          <a:p>
            <a:pPr indent="0" marL="0">
              <a:buNone/>
            </a:pPr>
            <a:r>
              <a:rPr lang="en-US" sz="1400" dirty="0">
                <a:solidFill>
                  <a:schemeClr val="tx1"/>
                </a:solidFill>
              </a:rPr>
              <a:t>About 24 s end to end on one robot, against 2-3 minutes per transaction by hand. The same input gives the same verdict every run.</a:t>
            </a:r>
            <a:endParaRPr lang="en-US" sz="1400" dirty="0"/>
          </a:p>
        </p:txBody>
      </p:sp>
      <p:graphicFrame>
        <p:nvGraphicFramePr>
          <p:cNvPr id="20" name="Chart 0" descr=""/>
          <p:cNvGraphicFramePr/>
          <p:nvPr/>
        </p:nvGraphicFramePr>
        <p:xfrm>
          <a:off x="6400800" y="1600200"/>
          <a:ext cx="5212080" cy="4526280"/>
        </p:xfrm>
        <a:graphic xmlns:a="http://schemas.openxmlformats.org/drawingml/2006/main">
          <a:graphicData uri="http://schemas.openxmlformats.org/drawingml/2006/chart">
            <c:chart xmlns:c="http://schemas.openxmlformats.org/drawingml/2006/chart" r:id="rId2"/>
          </a:graphicData>
        </a:graphic>
      </p:graphicFrame>
      <p:sp>
        <p:nvSpPr>
          <p:cNvPr id="21" name="Text 17"/>
          <p:cNvSpPr txBox="1"/>
          <p:nvPr/>
        </p:nvSpPr>
        <p:spPr>
          <a:xfrm>
            <a:off x="8138160" y="3337560"/>
            <a:ext cx="1737360" cy="548640"/>
          </a:xfrm>
          <a:prstGeom prst="rect">
            <a:avLst/>
          </a:prstGeom>
          <a:noFill/>
          <a:ln/>
        </p:spPr>
        <p:txBody>
          <a:bodyPr wrap="square" lIns="0" tIns="0" rIns="0" bIns="0" rtlCol="0" anchor="t"/>
          <a:lstStyle/>
          <a:p>
            <a:pPr algn="ctr" indent="0" marL="0">
              <a:buNone/>
            </a:pPr>
            <a:r>
              <a:rPr lang="en-US" sz="3000" b="1" dirty="0">
                <a:solidFill>
                  <a:schemeClr val="accent4"/>
                </a:solidFill>
              </a:rPr>
              <a:t>83.3%</a:t>
            </a:r>
            <a:endParaRPr lang="en-US" sz="3000" dirty="0"/>
          </a:p>
        </p:txBody>
      </p:sp>
      <p:sp>
        <p:nvSpPr>
          <p:cNvPr id="22" name="Text 18"/>
          <p:cNvSpPr txBox="1"/>
          <p:nvPr/>
        </p:nvSpPr>
        <p:spPr>
          <a:xfrm>
            <a:off x="8138160" y="3840480"/>
            <a:ext cx="1737360" cy="320040"/>
          </a:xfrm>
          <a:prstGeom prst="rect">
            <a:avLst/>
          </a:prstGeom>
          <a:noFill/>
          <a:ln/>
        </p:spPr>
        <p:txBody>
          <a:bodyPr wrap="square" lIns="0" tIns="0" rIns="0" bIns="0" rtlCol="0" anchor="t"/>
          <a:lstStyle/>
          <a:p>
            <a:pPr algn="ctr" indent="0" marL="0">
              <a:buNone/>
            </a:pPr>
            <a:r>
              <a:rPr lang="en-US" sz="1300" dirty="0">
                <a:solidFill>
                  <a:schemeClr val="accent5"/>
                </a:solidFill>
              </a:rPr>
              <a:t>pass rate</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FINDINGS PER RULE</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Every rule earns its place: 7 of 7 anomalies found</a:t>
            </a:r>
            <a:endParaRPr lang="en-US" sz="3200" dirty="0"/>
          </a:p>
        </p:txBody>
      </p:sp>
      <p:graphicFrame>
        <p:nvGraphicFramePr>
          <p:cNvPr id="4" name="Chart 0" descr=""/>
          <p:cNvGraphicFramePr/>
          <p:nvPr/>
        </p:nvGraphicFramePr>
        <p:xfrm>
          <a:off x="548640" y="160020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406640" y="1691640"/>
            <a:ext cx="1097280" cy="868680"/>
          </a:xfrm>
          <a:prstGeom prst="rect">
            <a:avLst/>
          </a:prstGeom>
          <a:noFill/>
          <a:ln/>
        </p:spPr>
        <p:txBody>
          <a:bodyPr wrap="square" lIns="0" tIns="0" rIns="0" bIns="0" rtlCol="0" anchor="t"/>
          <a:lstStyle/>
          <a:p>
            <a:pPr indent="0" marL="0">
              <a:buNone/>
            </a:pPr>
            <a:r>
              <a:rPr lang="en-US" sz="6000" b="1" dirty="0">
                <a:solidFill>
                  <a:schemeClr val="accent4"/>
                </a:solidFill>
              </a:rPr>
              <a:t>0</a:t>
            </a:r>
            <a:endParaRPr lang="en-US" sz="6000" dirty="0"/>
          </a:p>
        </p:txBody>
      </p:sp>
      <p:sp>
        <p:nvSpPr>
          <p:cNvPr id="6" name="Text 3"/>
          <p:cNvSpPr txBox="1"/>
          <p:nvPr/>
        </p:nvSpPr>
        <p:spPr>
          <a:xfrm>
            <a:off x="8549640" y="1783080"/>
            <a:ext cx="3093415" cy="777240"/>
          </a:xfrm>
          <a:prstGeom prst="rect">
            <a:avLst/>
          </a:prstGeom>
          <a:noFill/>
          <a:ln/>
        </p:spPr>
        <p:txBody>
          <a:bodyPr wrap="square" lIns="0" tIns="0" rIns="0" bIns="0" rtlCol="0" anchor="ctr"/>
          <a:lstStyle/>
          <a:p>
            <a:pPr indent="0" marL="0">
              <a:buNone/>
            </a:pPr>
            <a:r>
              <a:rPr lang="en-US" sz="1500" dirty="0">
                <a:solidFill>
                  <a:schemeClr val="tx1"/>
                </a:solidFill>
              </a:rPr>
              <a:t>false positives: the five clean shipments passed every rule on every event</a:t>
            </a:r>
            <a:endParaRPr lang="en-US" sz="1500" dirty="0"/>
          </a:p>
        </p:txBody>
      </p:sp>
      <p:sp>
        <p:nvSpPr>
          <p:cNvPr id="7" name="Why the counts differ"/>
          <p:cNvSpPr/>
          <p:nvPr/>
        </p:nvSpPr>
        <p:spPr>
          <a:xfrm>
            <a:off x="7406640" y="2788920"/>
            <a:ext cx="4236415" cy="1508760"/>
          </a:xfrm>
          <a:prstGeom prst="roundRect">
            <a:avLst>
              <a:gd name="adj" fmla="val 6061"/>
            </a:avLst>
          </a:prstGeom>
          <a:solidFill>
            <a:schemeClr val="bg2"/>
          </a:solidFill>
          <a:ln/>
        </p:spPr>
      </p:sp>
      <p:sp>
        <p:nvSpPr>
          <p:cNvPr id="8" name="Text 5"/>
          <p:cNvSpPr txBox="1"/>
          <p:nvPr/>
        </p:nvSpPr>
        <p:spPr>
          <a:xfrm>
            <a:off x="7680960" y="2926080"/>
            <a:ext cx="3687775" cy="347472"/>
          </a:xfrm>
          <a:prstGeom prst="rect">
            <a:avLst/>
          </a:prstGeom>
          <a:noFill/>
          <a:ln/>
        </p:spPr>
        <p:txBody>
          <a:bodyPr wrap="square" lIns="0" tIns="0" rIns="0" bIns="0" rtlCol="0" anchor="t"/>
          <a:lstStyle/>
          <a:p>
            <a:pPr indent="0" marL="0">
              <a:buNone/>
            </a:pPr>
            <a:r>
              <a:rPr lang="en-US" sz="1500" b="1" dirty="0">
                <a:solidFill>
                  <a:schemeClr val="tx1"/>
                </a:solidFill>
              </a:rPr>
              <a:t>Why the counts differ</a:t>
            </a:r>
            <a:endParaRPr lang="en-US" sz="1500" dirty="0"/>
          </a:p>
        </p:txBody>
      </p:sp>
      <p:sp>
        <p:nvSpPr>
          <p:cNvPr id="9" name="Text 6"/>
          <p:cNvSpPr txBox="1"/>
          <p:nvPr/>
        </p:nvSpPr>
        <p:spPr>
          <a:xfrm>
            <a:off x="7680960" y="3291840"/>
            <a:ext cx="3687775" cy="914400"/>
          </a:xfrm>
          <a:prstGeom prst="rect">
            <a:avLst/>
          </a:prstGeom>
          <a:noFill/>
          <a:ln/>
        </p:spPr>
        <p:txBody>
          <a:bodyPr wrap="square" lIns="0" tIns="0" rIns="0" bIns="0" rtlCol="0" anchor="t"/>
          <a:lstStyle/>
          <a:p>
            <a:pPr indent="0" marL="0">
              <a:buNone/>
            </a:pPr>
            <a:r>
              <a:rPr lang="en-US" sz="1300" dirty="0">
                <a:solidFill>
                  <a:schemeClr val="accent5"/>
                </a:solidFill>
              </a:rPr>
              <a:t>R1 shows a warning and a failure. R4 flags both copies of one replayed delivery: the ledger alone cannot tell which copy was real.</a:t>
            </a:r>
            <a:endParaRPr lang="en-US" sz="1300" dirty="0"/>
          </a:p>
        </p:txBody>
      </p:sp>
      <p:sp>
        <p:nvSpPr>
          <p:cNvPr id="10" name="Oracle"/>
          <p:cNvSpPr/>
          <p:nvPr/>
        </p:nvSpPr>
        <p:spPr>
          <a:xfrm>
            <a:off x="7406640" y="4526280"/>
            <a:ext cx="4236415" cy="1600200"/>
          </a:xfrm>
          <a:prstGeom prst="roundRect">
            <a:avLst>
              <a:gd name="adj" fmla="val 5714"/>
            </a:avLst>
          </a:prstGeom>
          <a:solidFill>
            <a:schemeClr val="bg1"/>
          </a:solidFill>
          <a:ln w="12700">
            <a:solidFill>
              <a:srgbClr val="D5E1DF"/>
            </a:solidFill>
            <a:prstDash val="solid"/>
          </a:ln>
        </p:spPr>
      </p:sp>
      <p:sp>
        <p:nvSpPr>
          <p:cNvPr id="11" name="Oracle badge"/>
          <p:cNvSpPr/>
          <p:nvPr/>
        </p:nvSpPr>
        <p:spPr>
          <a:xfrm>
            <a:off x="7635240" y="4754880"/>
            <a:ext cx="548640" cy="548640"/>
          </a:xfrm>
          <a:prstGeom prst="ellipse">
            <a:avLst/>
          </a:prstGeom>
          <a:solidFill>
            <a:schemeClr val="accent1"/>
          </a:solidFill>
          <a:ln/>
        </p:spPr>
      </p:sp>
      <p:pic>
        <p:nvPicPr>
          <p:cNvPr id="12" name="Image 0" descr="Oracle">    </p:cNvPr>
          <p:cNvPicPr>
            <a:picLocks noChangeAspect="1"/>
          </p:cNvPicPr>
          <p:nvPr/>
        </p:nvPicPr>
        <p:blipFill>
          <a:blip r:embed="rId2"/>
          <a:stretch>
            <a:fillRect/>
          </a:stretch>
        </p:blipFill>
        <p:spPr>
          <a:xfrm>
            <a:off x="7772400" y="4892040"/>
            <a:ext cx="274320" cy="274320"/>
          </a:xfrm>
          <a:prstGeom prst="rect">
            <a:avLst/>
          </a:prstGeom>
        </p:spPr>
      </p:pic>
      <p:sp>
        <p:nvSpPr>
          <p:cNvPr id="13" name="Text 9"/>
          <p:cNvSpPr txBox="1"/>
          <p:nvPr/>
        </p:nvSpPr>
        <p:spPr>
          <a:xfrm>
            <a:off x="8366760" y="4681728"/>
            <a:ext cx="3093415" cy="365760"/>
          </a:xfrm>
          <a:prstGeom prst="rect">
            <a:avLst/>
          </a:prstGeom>
          <a:noFill/>
          <a:ln/>
        </p:spPr>
        <p:txBody>
          <a:bodyPr wrap="square" lIns="0" tIns="0" rIns="0" bIns="0" rtlCol="0" anchor="t"/>
          <a:lstStyle/>
          <a:p>
            <a:pPr indent="0" marL="0">
              <a:buNone/>
            </a:pPr>
            <a:r>
              <a:rPr lang="en-US" sz="1500" b="1" dirty="0">
                <a:solidFill>
                  <a:schemeClr val="tx1"/>
                </a:solidFill>
              </a:rPr>
              <a:t>Checked by an independent oracle</a:t>
            </a:r>
            <a:endParaRPr lang="en-US" sz="1500" dirty="0"/>
          </a:p>
        </p:txBody>
      </p:sp>
      <p:sp>
        <p:nvSpPr>
          <p:cNvPr id="14" name="Text 10"/>
          <p:cNvSpPr txBox="1"/>
          <p:nvPr/>
        </p:nvSpPr>
        <p:spPr>
          <a:xfrm>
            <a:off x="8366760" y="5047488"/>
            <a:ext cx="3093415" cy="1005840"/>
          </a:xfrm>
          <a:prstGeom prst="rect">
            <a:avLst/>
          </a:prstGeom>
          <a:noFill/>
          <a:ln/>
        </p:spPr>
        <p:txBody>
          <a:bodyPr wrap="square" lIns="0" tIns="0" rIns="0" bIns="0" rtlCol="0" anchor="t"/>
          <a:lstStyle/>
          <a:p>
            <a:pPr indent="0" marL="0">
              <a:buNone/>
            </a:pPr>
            <a:r>
              <a:rPr lang="en-US" sz="1300" dirty="0">
                <a:solidFill>
                  <a:schemeClr val="accent5"/>
                </a:solidFill>
              </a:rPr>
              <a:t>A separate script re-derives every expected verdict from the raw data. If it and the bot disagree, the run is not signed off.</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NOVELTY 1 AND 3  ·  CONFIGURATION IS THE PRODUCT</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Change the spreadsheet, not the workflow</a:t>
            </a:r>
            <a:endParaRPr lang="en-US" sz="3200" dirty="0"/>
          </a:p>
        </p:txBody>
      </p:sp>
      <p:sp>
        <p:nvSpPr>
          <p:cNvPr id="4" name="Text 2"/>
          <p:cNvSpPr txBox="1"/>
          <p:nvPr/>
        </p:nvSpPr>
        <p:spPr>
          <a:xfrm>
            <a:off x="548640" y="1645920"/>
            <a:ext cx="5486400" cy="320040"/>
          </a:xfrm>
          <a:prstGeom prst="rect">
            <a:avLst/>
          </a:prstGeom>
          <a:noFill/>
          <a:ln/>
        </p:spPr>
        <p:txBody>
          <a:bodyPr wrap="square" lIns="0" tIns="0" rIns="0" bIns="0" rtlCol="0" anchor="t"/>
          <a:lstStyle/>
          <a:p>
            <a:pPr indent="0" marL="0">
              <a:buNone/>
            </a:pPr>
            <a:r>
              <a:rPr lang="en-US" sz="1400" b="1" dirty="0">
                <a:solidFill>
                  <a:schemeClr val="accent5"/>
                </a:solidFill>
              </a:rPr>
              <a:t>Config.xlsx → ValidationRules</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486400" cy="914400"/>
        </p:xfrm>
        <a:graphic>
          <a:graphicData uri="http://schemas.openxmlformats.org/drawingml/2006/table">
            <a:tbl>
              <a:tblPr/>
              <a:tblGrid>
                <a:gridCol w="731520"/>
                <a:gridCol w="2377440"/>
                <a:gridCol w="1097280"/>
                <a:gridCol w="1280160"/>
              </a:tblGrid>
              <a:tr h="38404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Rule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Name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Enabled</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Severity</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TimestampCheck</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TRUE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QuantityMatch</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TRUE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R3</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AddressWhitelist</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TRUE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CRITICAL</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R4</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FBE9E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DuplicateDetection</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FBE9E7"/>
                    </a:solidFill>
                  </a:tcPr>
                </a:tc>
                <a:tc>
                  <a:txBody>
                    <a:bodyPr/>
                    <a:lstStyle/>
                    <a:p>
                      <a:pPr indent="0" marL="0">
                        <a:buNone/>
                      </a:pPr>
                      <a:r>
                        <a:rPr lang="en-US" sz="1400" b="1" dirty="0">
                          <a:solidFill>
                            <a:schemeClr val="accent3"/>
                          </a:solidFill>
                          <a:latin typeface="Calibri" pitchFamily="34" charset="0"/>
                          <a:ea typeface="Calibri" pitchFamily="34" charset="-122"/>
                          <a:cs typeface="Calibri" pitchFamily="34" charset="-120"/>
                        </a:rPr>
                        <a:t>FALSE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FBE9E7"/>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MEDIUM</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FBE9E7"/>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R5</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SequenceValidation</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TRUE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R6</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SmartContractEvent</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TRUE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HIGH</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bl>
          </a:graphicData>
        </a:graphic>
      </p:graphicFrame>
      <p:sp>
        <p:nvSpPr>
          <p:cNvPr id="6" name="Result"/>
          <p:cNvSpPr/>
          <p:nvPr/>
        </p:nvSpPr>
        <p:spPr>
          <a:xfrm>
            <a:off x="548640" y="4983480"/>
            <a:ext cx="5486400" cy="1051560"/>
          </a:xfrm>
          <a:prstGeom prst="roundRect">
            <a:avLst>
              <a:gd name="adj" fmla="val 8696"/>
            </a:avLst>
          </a:prstGeom>
          <a:solidFill>
            <a:schemeClr val="bg2"/>
          </a:solidFill>
          <a:ln/>
        </p:spPr>
      </p:sp>
      <p:sp>
        <p:nvSpPr>
          <p:cNvPr id="7" name="Text 4"/>
          <p:cNvSpPr txBox="1"/>
          <p:nvPr/>
        </p:nvSpPr>
        <p:spPr>
          <a:xfrm>
            <a:off x="822960" y="4983480"/>
            <a:ext cx="4937760" cy="1051560"/>
          </a:xfrm>
          <a:prstGeom prst="rect">
            <a:avLst/>
          </a:prstGeom>
          <a:noFill/>
          <a:ln/>
        </p:spPr>
        <p:txBody>
          <a:bodyPr wrap="square" lIns="0" tIns="0" rIns="0" bIns="0" rtlCol="0" anchor="ctr"/>
          <a:lstStyle/>
          <a:p>
            <a:pPr indent="0" marL="0">
              <a:buNone/>
            </a:pPr>
            <a:r>
              <a:rPr lang="en-US" sz="2200" b="1" dirty="0">
                <a:solidFill>
                  <a:schemeClr val="accent1"/>
                </a:solidFill>
              </a:rPr>
              <a:t>Failures 7 → 5</a:t>
            </a:r>
            <a:endParaRPr lang="en-US" sz="1400" dirty="0"/>
          </a:p>
          <a:p>
            <a:pPr indent="0" marL="0">
              <a:buNone/>
            </a:pPr>
            <a:r>
              <a:rPr lang="en-US" sz="1400" dirty="0">
                <a:solidFill>
                  <a:schemeClr val="accent5"/>
                </a:solidFill>
              </a:rPr>
              <a:t>R4 skipped at run time. No workflow opened, nothing republished.</a:t>
            </a:r>
            <a:endParaRPr lang="en-US" sz="1400" dirty="0"/>
          </a:p>
        </p:txBody>
      </p:sp>
      <p:sp>
        <p:nvSpPr>
          <p:cNvPr id="8" name="Text 5"/>
          <p:cNvSpPr txBox="1"/>
          <p:nvPr/>
        </p:nvSpPr>
        <p:spPr>
          <a:xfrm>
            <a:off x="6492240" y="1645920"/>
            <a:ext cx="5150815" cy="320040"/>
          </a:xfrm>
          <a:prstGeom prst="rect">
            <a:avLst/>
          </a:prstGeom>
          <a:noFill/>
          <a:ln/>
        </p:spPr>
        <p:txBody>
          <a:bodyPr wrap="square" lIns="0" tIns="0" rIns="0" bIns="0" rtlCol="0" anchor="t"/>
          <a:lstStyle/>
          <a:p>
            <a:pPr indent="0" marL="0">
              <a:buNone/>
            </a:pPr>
            <a:r>
              <a:rPr lang="en-US" sz="1400" b="1" dirty="0">
                <a:solidFill>
                  <a:schemeClr val="accent5"/>
                </a:solidFill>
              </a:rPr>
              <a:t>Any blockchain: only config cells change</a:t>
            </a:r>
            <a:endParaRPr lang="en-US" sz="14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492240" y="2011680"/>
          <a:ext cx="5150815" cy="914400"/>
        </p:xfrm>
        <a:graphic>
          <a:graphicData uri="http://schemas.openxmlformats.org/drawingml/2006/table">
            <a:tbl>
              <a:tblPr/>
              <a:tblGrid>
                <a:gridCol w="1828800"/>
                <a:gridCol w="1645920"/>
                <a:gridCol w="1676095"/>
              </a:tblGrid>
              <a:tr h="38404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Feed</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Ethereum</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Etherscan V2</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48 / 40 / 1 / 7</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Polygon</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Etherscan V2</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48 / 40 / 1 / 7</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Hyperledger Besu</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ethereum-etl</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48 / 40 / 1 / 7</a:t>
                      </a:r>
                      <a:endParaRPr lang="en-US" sz="1400" dirty="0">
                        <a:latin typeface="Calibri" charset="0"/>
                        <a:ea typeface="Calibri" charset="0"/>
                        <a:cs typeface="Calibri" charset="0"/>
                      </a:endParaRPr>
                    </a:p>
                  </a:txBody>
                  <a:tcPr marL="109728" marR="91440" marT="0" marB="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chemeClr val="bg1"/>
                    </a:solidFill>
                  </a:tcPr>
                </a:tc>
              </a:tr>
            </a:tbl>
          </a:graphicData>
        </a:graphic>
      </p:graphicFrame>
      <p:sp>
        <p:nvSpPr>
          <p:cNvPr id="10" name="Text 6"/>
          <p:cNvSpPr txBox="1"/>
          <p:nvPr/>
        </p:nvSpPr>
        <p:spPr>
          <a:xfrm>
            <a:off x="6492240" y="3611880"/>
            <a:ext cx="5150815" cy="274320"/>
          </a:xfrm>
          <a:prstGeom prst="rect">
            <a:avLst/>
          </a:prstGeom>
          <a:noFill/>
          <a:ln/>
        </p:spPr>
        <p:txBody>
          <a:bodyPr wrap="square" lIns="0" tIns="0" rIns="0" bIns="0" rtlCol="0" anchor="t"/>
          <a:lstStyle/>
          <a:p>
            <a:pPr indent="0" marL="0">
              <a:buNone/>
            </a:pPr>
            <a:r>
              <a:rPr lang="en-US" sz="1200" dirty="0">
                <a:solidFill>
                  <a:schemeClr val="accent5"/>
                </a:solidFill>
              </a:rPr>
              <a:t>total / pass / warn / fail - identical on all three</a:t>
            </a:r>
            <a:endParaRPr lang="en-US" sz="1200" dirty="0"/>
          </a:p>
        </p:txBody>
      </p:sp>
      <p:sp>
        <p:nvSpPr>
          <p:cNvPr id="11" name="Config sheets"/>
          <p:cNvSpPr/>
          <p:nvPr/>
        </p:nvSpPr>
        <p:spPr>
          <a:xfrm>
            <a:off x="6492240" y="4023360"/>
            <a:ext cx="5150815" cy="2103120"/>
          </a:xfrm>
          <a:prstGeom prst="roundRect">
            <a:avLst>
              <a:gd name="adj" fmla="val 4348"/>
            </a:avLst>
          </a:prstGeom>
          <a:solidFill>
            <a:schemeClr val="bg2"/>
          </a:solidFill>
          <a:ln/>
        </p:spPr>
      </p:sp>
      <p:sp>
        <p:nvSpPr>
          <p:cNvPr id="12" name="Text 8"/>
          <p:cNvSpPr txBox="1"/>
          <p:nvPr/>
        </p:nvSpPr>
        <p:spPr>
          <a:xfrm>
            <a:off x="6766560" y="4160520"/>
            <a:ext cx="4602175" cy="365760"/>
          </a:xfrm>
          <a:prstGeom prst="rect">
            <a:avLst/>
          </a:prstGeom>
          <a:noFill/>
          <a:ln/>
        </p:spPr>
        <p:txBody>
          <a:bodyPr wrap="square" lIns="0" tIns="0" rIns="0" bIns="0" rtlCol="0" anchor="t"/>
          <a:lstStyle/>
          <a:p>
            <a:pPr indent="0" marL="0">
              <a:buNone/>
            </a:pPr>
            <a:r>
              <a:rPr lang="en-US" sz="1500" b="1" dirty="0">
                <a:solidFill>
                  <a:schemeClr val="tx1"/>
                </a:solidFill>
              </a:rPr>
              <a:t>Config.xlsx is the control panel</a:t>
            </a:r>
            <a:endParaRPr lang="en-US" sz="1500" dirty="0"/>
          </a:p>
        </p:txBody>
      </p:sp>
      <p:sp>
        <p:nvSpPr>
          <p:cNvPr id="13" name="Text 9"/>
          <p:cNvSpPr txBox="1"/>
          <p:nvPr/>
        </p:nvSpPr>
        <p:spPr>
          <a:xfrm>
            <a:off x="6766560" y="4553712"/>
            <a:ext cx="4602175" cy="1463040"/>
          </a:xfrm>
          <a:prstGeom prst="rect">
            <a:avLst/>
          </a:prstGeom>
          <a:noFill/>
          <a:ln/>
        </p:spPr>
        <p:txBody>
          <a:bodyPr wrap="square" lIns="0" tIns="0" rIns="0" bIns="0" rtlCol="0" anchor="t"/>
          <a:lstStyle/>
          <a:p>
            <a:pPr indent="0" marL="0">
              <a:buNone/>
            </a:pPr>
            <a:r>
              <a:rPr lang="en-US" sz="1350" dirty="0">
                <a:solidFill>
                  <a:schemeClr val="accent5"/>
                </a:solidFill>
              </a:rPr>
              <a:t>7 sheets and 58 settings: rules, approved wallets, milestone order, function signatures, field mappings, data sources, alert channels. Change control sits with the people who own the domain knowledge.</a:t>
            </a:r>
            <a:endParaRPr lang="en-US" sz="13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NOVELTY 2  ·  HUMAN IN THE LOOP</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Critical anomalies go to a person, not a log file</a:t>
            </a:r>
            <a:endParaRPr lang="en-US" sz="3200" dirty="0"/>
          </a:p>
        </p:txBody>
      </p:sp>
      <p:sp>
        <p:nvSpPr>
          <p:cNvPr id="4" name="Shape 2"/>
          <p:cNvSpPr/>
          <p:nvPr/>
        </p:nvSpPr>
        <p:spPr>
          <a:xfrm>
            <a:off x="548640" y="1691640"/>
            <a:ext cx="548640" cy="548640"/>
          </a:xfrm>
          <a:prstGeom prst="ellipse">
            <a:avLst/>
          </a:prstGeom>
          <a:solidFill>
            <a:schemeClr val="accent1"/>
          </a:solidFill>
          <a:ln/>
        </p:spPr>
      </p:sp>
      <p:sp>
        <p:nvSpPr>
          <p:cNvPr id="5" name="Text 3"/>
          <p:cNvSpPr txBox="1"/>
          <p:nvPr/>
        </p:nvSpPr>
        <p:spPr>
          <a:xfrm>
            <a:off x="5486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325880" y="1655064"/>
            <a:ext cx="4572000" cy="347472"/>
          </a:xfrm>
          <a:prstGeom prst="rect">
            <a:avLst/>
          </a:prstGeom>
          <a:noFill/>
          <a:ln/>
        </p:spPr>
        <p:txBody>
          <a:bodyPr wrap="square" lIns="0" tIns="0" rIns="0" bIns="0" rtlCol="0" anchor="t"/>
          <a:lstStyle/>
          <a:p>
            <a:pPr indent="0" marL="0">
              <a:buNone/>
            </a:pPr>
            <a:r>
              <a:rPr lang="en-US" sz="1800" b="1" dirty="0">
                <a:solidFill>
                  <a:schemeClr val="tx1"/>
                </a:solidFill>
              </a:rPr>
              <a:t>Detect</a:t>
            </a:r>
            <a:endParaRPr lang="en-US" sz="1800" dirty="0"/>
          </a:p>
        </p:txBody>
      </p:sp>
      <p:sp>
        <p:nvSpPr>
          <p:cNvPr id="7" name="Text 5"/>
          <p:cNvSpPr txBox="1"/>
          <p:nvPr/>
        </p:nvSpPr>
        <p:spPr>
          <a:xfrm>
            <a:off x="1325880" y="2020824"/>
            <a:ext cx="4572000" cy="594360"/>
          </a:xfrm>
          <a:prstGeom prst="rect">
            <a:avLst/>
          </a:prstGeom>
          <a:noFill/>
          <a:ln/>
        </p:spPr>
        <p:txBody>
          <a:bodyPr wrap="square" lIns="0" tIns="0" rIns="0" bIns="0" rtlCol="0" anchor="t"/>
          <a:lstStyle/>
          <a:p>
            <a:pPr indent="0" marL="0">
              <a:buNone/>
            </a:pPr>
            <a:r>
              <a:rPr lang="en-US" sz="1400" dirty="0">
                <a:solidFill>
                  <a:schemeClr val="accent5"/>
                </a:solidFill>
              </a:rPr>
              <a:t>R3 finds a delivery signed by a wallet that is not an approved partner.</a:t>
            </a:r>
            <a:endParaRPr lang="en-US" sz="1400" dirty="0"/>
          </a:p>
        </p:txBody>
      </p:sp>
      <p:sp>
        <p:nvSpPr>
          <p:cNvPr id="8" name="Shape 6"/>
          <p:cNvSpPr/>
          <p:nvPr/>
        </p:nvSpPr>
        <p:spPr>
          <a:xfrm>
            <a:off x="548640" y="2651760"/>
            <a:ext cx="548640" cy="548640"/>
          </a:xfrm>
          <a:prstGeom prst="ellipse">
            <a:avLst/>
          </a:prstGeom>
          <a:solidFill>
            <a:schemeClr val="accent1"/>
          </a:solidFill>
          <a:ln/>
        </p:spPr>
      </p:sp>
      <p:sp>
        <p:nvSpPr>
          <p:cNvPr id="9" name="Text 7"/>
          <p:cNvSpPr txBox="1"/>
          <p:nvPr/>
        </p:nvSpPr>
        <p:spPr>
          <a:xfrm>
            <a:off x="548640" y="2651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325880" y="2615184"/>
            <a:ext cx="4572000" cy="347472"/>
          </a:xfrm>
          <a:prstGeom prst="rect">
            <a:avLst/>
          </a:prstGeom>
          <a:noFill/>
          <a:ln/>
        </p:spPr>
        <p:txBody>
          <a:bodyPr wrap="square" lIns="0" tIns="0" rIns="0" bIns="0" rtlCol="0" anchor="t"/>
          <a:lstStyle/>
          <a:p>
            <a:pPr indent="0" marL="0">
              <a:buNone/>
            </a:pPr>
            <a:r>
              <a:rPr lang="en-US" sz="1800" b="1" dirty="0">
                <a:solidFill>
                  <a:schemeClr val="tx1"/>
                </a:solidFill>
              </a:rPr>
              <a:t>Classify</a:t>
            </a:r>
            <a:endParaRPr lang="en-US" sz="1800" dirty="0"/>
          </a:p>
        </p:txBody>
      </p:sp>
      <p:sp>
        <p:nvSpPr>
          <p:cNvPr id="11" name="Text 9"/>
          <p:cNvSpPr txBox="1"/>
          <p:nvPr/>
        </p:nvSpPr>
        <p:spPr>
          <a:xfrm>
            <a:off x="1325880" y="2980944"/>
            <a:ext cx="4572000" cy="594360"/>
          </a:xfrm>
          <a:prstGeom prst="rect">
            <a:avLst/>
          </a:prstGeom>
          <a:noFill/>
          <a:ln/>
        </p:spPr>
        <p:txBody>
          <a:bodyPr wrap="square" lIns="0" tIns="0" rIns="0" bIns="0" rtlCol="0" anchor="t"/>
          <a:lstStyle/>
          <a:p>
            <a:pPr indent="0" marL="0">
              <a:buNone/>
            </a:pPr>
            <a:r>
              <a:rPr lang="en-US" sz="1400" dirty="0">
                <a:solidFill>
                  <a:schemeClr val="accent5"/>
                </a:solidFill>
              </a:rPr>
              <a:t>The rule is CRITICAL in Config.xlsx, with fail action ESCALATE.</a:t>
            </a:r>
            <a:endParaRPr lang="en-US" sz="1400" dirty="0"/>
          </a:p>
        </p:txBody>
      </p:sp>
      <p:sp>
        <p:nvSpPr>
          <p:cNvPr id="12" name="Shape 10"/>
          <p:cNvSpPr/>
          <p:nvPr/>
        </p:nvSpPr>
        <p:spPr>
          <a:xfrm>
            <a:off x="548640" y="3611880"/>
            <a:ext cx="548640" cy="548640"/>
          </a:xfrm>
          <a:prstGeom prst="ellipse">
            <a:avLst/>
          </a:prstGeom>
          <a:solidFill>
            <a:schemeClr val="accent1"/>
          </a:solidFill>
          <a:ln/>
        </p:spPr>
      </p:sp>
      <p:sp>
        <p:nvSpPr>
          <p:cNvPr id="13" name="Text 11"/>
          <p:cNvSpPr txBox="1"/>
          <p:nvPr/>
        </p:nvSpPr>
        <p:spPr>
          <a:xfrm>
            <a:off x="548640" y="3611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1325880" y="3575304"/>
            <a:ext cx="4572000" cy="347472"/>
          </a:xfrm>
          <a:prstGeom prst="rect">
            <a:avLst/>
          </a:prstGeom>
          <a:noFill/>
          <a:ln/>
        </p:spPr>
        <p:txBody>
          <a:bodyPr wrap="square" lIns="0" tIns="0" rIns="0" bIns="0" rtlCol="0" anchor="t"/>
          <a:lstStyle/>
          <a:p>
            <a:pPr indent="0" marL="0">
              <a:buNone/>
            </a:pPr>
            <a:r>
              <a:rPr lang="en-US" sz="1800" b="1" dirty="0">
                <a:solidFill>
                  <a:schemeClr val="tx1"/>
                </a:solidFill>
              </a:rPr>
              <a:t>Pause</a:t>
            </a:r>
            <a:endParaRPr lang="en-US" sz="1800" dirty="0"/>
          </a:p>
        </p:txBody>
      </p:sp>
      <p:sp>
        <p:nvSpPr>
          <p:cNvPr id="15" name="Text 13"/>
          <p:cNvSpPr txBox="1"/>
          <p:nvPr/>
        </p:nvSpPr>
        <p:spPr>
          <a:xfrm>
            <a:off x="1325880" y="3941064"/>
            <a:ext cx="4572000" cy="594360"/>
          </a:xfrm>
          <a:prstGeom prst="rect">
            <a:avLst/>
          </a:prstGeom>
          <a:noFill/>
          <a:ln/>
        </p:spPr>
        <p:txBody>
          <a:bodyPr wrap="square" lIns="0" tIns="0" rIns="0" bIns="0" rtlCol="0" anchor="t"/>
          <a:lstStyle/>
          <a:p>
            <a:pPr indent="0" marL="0">
              <a:buNone/>
            </a:pPr>
            <a:r>
              <a:rPr lang="en-US" sz="1400" dirty="0">
                <a:solidFill>
                  <a:schemeClr val="accent5"/>
                </a:solidFill>
              </a:rPr>
              <a:t>The review window shows every fact; submit stays locked until a decision is chosen.</a:t>
            </a:r>
            <a:endParaRPr lang="en-US" sz="1400" dirty="0"/>
          </a:p>
        </p:txBody>
      </p:sp>
      <p:sp>
        <p:nvSpPr>
          <p:cNvPr id="16" name="Shape 14"/>
          <p:cNvSpPr/>
          <p:nvPr/>
        </p:nvSpPr>
        <p:spPr>
          <a:xfrm>
            <a:off x="548640" y="4572000"/>
            <a:ext cx="548640" cy="548640"/>
          </a:xfrm>
          <a:prstGeom prst="ellipse">
            <a:avLst/>
          </a:prstGeom>
          <a:solidFill>
            <a:schemeClr val="accent1"/>
          </a:solidFill>
          <a:ln/>
        </p:spPr>
      </p:sp>
      <p:sp>
        <p:nvSpPr>
          <p:cNvPr id="17" name="Text 15"/>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1325880" y="4535424"/>
            <a:ext cx="4572000" cy="347472"/>
          </a:xfrm>
          <a:prstGeom prst="rect">
            <a:avLst/>
          </a:prstGeom>
          <a:noFill/>
          <a:ln/>
        </p:spPr>
        <p:txBody>
          <a:bodyPr wrap="square" lIns="0" tIns="0" rIns="0" bIns="0" rtlCol="0" anchor="t"/>
          <a:lstStyle/>
          <a:p>
            <a:pPr indent="0" marL="0">
              <a:buNone/>
            </a:pPr>
            <a:r>
              <a:rPr lang="en-US" sz="1800" b="1" dirty="0">
                <a:solidFill>
                  <a:schemeClr val="tx1"/>
                </a:solidFill>
              </a:rPr>
              <a:t>Record</a:t>
            </a:r>
            <a:endParaRPr lang="en-US" sz="1800" dirty="0"/>
          </a:p>
        </p:txBody>
      </p:sp>
      <p:sp>
        <p:nvSpPr>
          <p:cNvPr id="19" name="Text 17"/>
          <p:cNvSpPr txBox="1"/>
          <p:nvPr/>
        </p:nvSpPr>
        <p:spPr>
          <a:xfrm>
            <a:off x="1325880" y="4901184"/>
            <a:ext cx="4572000" cy="594360"/>
          </a:xfrm>
          <a:prstGeom prst="rect">
            <a:avLst/>
          </a:prstGeom>
          <a:noFill/>
          <a:ln/>
        </p:spPr>
        <p:txBody>
          <a:bodyPr wrap="square" lIns="0" tIns="0" rIns="0" bIns="0" rtlCol="0" anchor="t"/>
          <a:lstStyle/>
          <a:p>
            <a:pPr indent="0" marL="0">
              <a:buNone/>
            </a:pPr>
            <a:r>
              <a:rPr lang="en-US" sz="1400" dirty="0">
                <a:solidFill>
                  <a:schemeClr val="accent5"/>
                </a:solidFill>
              </a:rPr>
              <a:t>Decision, reviewer and note are hashed into the audit trail.</a:t>
            </a:r>
            <a:endParaRPr lang="en-US" sz="1400" dirty="0"/>
          </a:p>
        </p:txBody>
      </p:sp>
      <p:sp>
        <p:nvSpPr>
          <p:cNvPr id="20" name="Unattended"/>
          <p:cNvSpPr/>
          <p:nvPr/>
        </p:nvSpPr>
        <p:spPr>
          <a:xfrm>
            <a:off x="548640" y="5532120"/>
            <a:ext cx="5349240" cy="658368"/>
          </a:xfrm>
          <a:prstGeom prst="roundRect">
            <a:avLst>
              <a:gd name="adj" fmla="val 13889"/>
            </a:avLst>
          </a:prstGeom>
          <a:solidFill>
            <a:schemeClr val="bg1"/>
          </a:solidFill>
          <a:ln w="12700">
            <a:solidFill>
              <a:srgbClr val="D5E1DF"/>
            </a:solidFill>
            <a:prstDash val="solid"/>
          </a:ln>
        </p:spPr>
      </p:sp>
      <p:sp>
        <p:nvSpPr>
          <p:cNvPr id="21" name="Text 19"/>
          <p:cNvSpPr txBox="1"/>
          <p:nvPr/>
        </p:nvSpPr>
        <p:spPr>
          <a:xfrm>
            <a:off x="731520" y="5532120"/>
            <a:ext cx="4983480" cy="658368"/>
          </a:xfrm>
          <a:prstGeom prst="rect">
            <a:avLst/>
          </a:prstGeom>
          <a:noFill/>
          <a:ln/>
        </p:spPr>
        <p:txBody>
          <a:bodyPr wrap="square" lIns="0" tIns="0" rIns="0" bIns="0" rtlCol="0" anchor="ctr"/>
          <a:lstStyle/>
          <a:p>
            <a:pPr indent="0" marL="0">
              <a:buNone/>
            </a:pPr>
            <a:r>
              <a:rPr lang="en-US" sz="1300" dirty="0">
                <a:solidFill>
                  <a:schemeClr val="tx1"/>
                </a:solidFill>
              </a:rPr>
              <a:t>No one at the screen? PROMPT safely becomes AUTO_LOG and records the item as DEFERRED.</a:t>
            </a:r>
            <a:endParaRPr lang="en-US" sz="1300" dirty="0"/>
          </a:p>
        </p:txBody>
      </p:sp>
      <p:sp>
        <p:nvSpPr>
          <p:cNvPr id="22" name="Shape 20"/>
          <p:cNvSpPr/>
          <p:nvPr/>
        </p:nvSpPr>
        <p:spPr>
          <a:xfrm>
            <a:off x="6343077" y="1691640"/>
            <a:ext cx="5174822" cy="4526280"/>
          </a:xfrm>
          <a:prstGeom prst="rect">
            <a:avLst/>
          </a:prstGeom>
          <a:solidFill>
            <a:schemeClr val="bg1"/>
          </a:solidFill>
          <a:ln w="12700">
            <a:solidFill>
              <a:srgbClr val="D5E1DF"/>
            </a:solidFill>
            <a:prstDash val="solid"/>
          </a:ln>
          <a:effectLst>
            <a:outerShdw sx="100000" sy="100000" kx="0" ky="0" algn="bl" rotWithShape="0" blurRad="101600" dist="38100" dir="5400000">
              <a:srgbClr val="000000">
                <a:alpha val="18000"/>
              </a:srgbClr>
            </a:outerShdw>
          </a:effectLst>
        </p:spPr>
      </p:sp>
      <p:pic>
        <p:nvPicPr>
          <p:cNvPr id="23" name="Image 0" descr="The review window the bot shows for SHP-1007: shipment facts, the R3 finding, decision options, reviewer name and note">    </p:cNvPr>
          <p:cNvPicPr>
            <a:picLocks noChangeAspect="1"/>
          </p:cNvPicPr>
          <p:nvPr/>
        </p:nvPicPr>
        <p:blipFill>
          <a:blip r:embed="rId1"/>
          <a:stretch>
            <a:fillRect/>
          </a:stretch>
        </p:blipFill>
        <p:spPr>
          <a:xfrm>
            <a:off x="6343077" y="1691640"/>
            <a:ext cx="5174822" cy="4526280"/>
          </a:xfrm>
          <a:prstGeom prst="rect">
            <a:avLst/>
          </a:prstGeom>
        </p:spPr>
      </p:pic>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NOVELTY 4  ·  TAMPER-EVIDENT AUDIT TRAIL</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An audit trail that proves it was never edited</a:t>
            </a:r>
            <a:endParaRPr lang="en-US" sz="3200" dirty="0"/>
          </a:p>
        </p:txBody>
      </p:sp>
      <p:sp>
        <p:nvSpPr>
          <p:cNvPr id="4" name="Line 6"/>
          <p:cNvSpPr/>
          <p:nvPr/>
        </p:nvSpPr>
        <p:spPr>
          <a:xfrm>
            <a:off x="548640" y="1691640"/>
            <a:ext cx="3246120" cy="1783080"/>
          </a:xfrm>
          <a:prstGeom prst="roundRect">
            <a:avLst>
              <a:gd name="adj" fmla="val 5128"/>
            </a:avLst>
          </a:prstGeom>
          <a:solidFill>
            <a:schemeClr val="bg2"/>
          </a:solidFill>
          <a:ln/>
        </p:spPr>
      </p:sp>
      <p:sp>
        <p:nvSpPr>
          <p:cNvPr id="5" name="Text 3"/>
          <p:cNvSpPr txBox="1"/>
          <p:nvPr/>
        </p:nvSpPr>
        <p:spPr>
          <a:xfrm>
            <a:off x="777240" y="1856232"/>
            <a:ext cx="1371600" cy="320040"/>
          </a:xfrm>
          <a:prstGeom prst="rect">
            <a:avLst/>
          </a:prstGeom>
          <a:noFill/>
          <a:ln/>
        </p:spPr>
        <p:txBody>
          <a:bodyPr wrap="square" lIns="0" tIns="0" rIns="0" bIns="0" rtlCol="0" anchor="t"/>
          <a:lstStyle/>
          <a:p>
            <a:pPr indent="0" marL="0">
              <a:buNone/>
            </a:pPr>
            <a:r>
              <a:rPr lang="en-US" sz="1400" b="1" dirty="0">
                <a:solidFill>
                  <a:schemeClr val="accent1"/>
                </a:solidFill>
              </a:rPr>
              <a:t>Line 6</a:t>
            </a:r>
            <a:endParaRPr lang="en-US" sz="1400" dirty="0"/>
          </a:p>
        </p:txBody>
      </p:sp>
      <p:sp>
        <p:nvSpPr>
          <p:cNvPr id="6" name="Text 4"/>
          <p:cNvSpPr txBox="1"/>
          <p:nvPr/>
        </p:nvSpPr>
        <p:spPr>
          <a:xfrm>
            <a:off x="777240" y="2194560"/>
            <a:ext cx="2788920" cy="320040"/>
          </a:xfrm>
          <a:prstGeom prst="rect">
            <a:avLst/>
          </a:prstGeom>
          <a:noFill/>
          <a:ln/>
        </p:spPr>
        <p:txBody>
          <a:bodyPr wrap="square" lIns="0" tIns="0" rIns="0" bIns="0" rtlCol="0" anchor="t"/>
          <a:lstStyle/>
          <a:p>
            <a:pPr indent="0" marL="0">
              <a:buNone/>
            </a:pPr>
            <a:r>
              <a:rPr lang="en-US" sz="1500" b="1" dirty="0">
                <a:solidFill>
                  <a:schemeClr val="tx1"/>
                </a:solidFill>
              </a:rPr>
              <a:t>SHP-1004 · PASS</a:t>
            </a:r>
            <a:endParaRPr lang="en-US" sz="1500" dirty="0"/>
          </a:p>
        </p:txBody>
      </p:sp>
      <p:sp>
        <p:nvSpPr>
          <p:cNvPr id="7" name="Text 5"/>
          <p:cNvSpPr txBox="1"/>
          <p:nvPr/>
        </p:nvSpPr>
        <p:spPr>
          <a:xfrm>
            <a:off x="777240" y="2606040"/>
            <a:ext cx="2788920" cy="68580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PrevHash   b7a0e3…</a:t>
            </a:r>
            <a:endParaRPr lang="en-US" sz="1300" dirty="0"/>
          </a:p>
          <a:p>
            <a:pPr indent="0" marL="0">
              <a:buNone/>
            </a:pPr>
            <a:r>
              <a:rPr lang="en-US" sz="1300" dirty="0">
                <a:solidFill>
                  <a:schemeClr val="accent5"/>
                </a:solidFill>
                <a:latin typeface="Consolas" pitchFamily="34" charset="0"/>
                <a:ea typeface="Consolas" pitchFamily="34" charset="-122"/>
                <a:cs typeface="Consolas" pitchFamily="34" charset="-120"/>
              </a:rPr>
              <a:t>EntryHash  9f2c41…</a:t>
            </a:r>
            <a:endParaRPr lang="en-US" sz="1300" dirty="0"/>
          </a:p>
        </p:txBody>
      </p:sp>
      <p:sp>
        <p:nvSpPr>
          <p:cNvPr id="8" name="Shape 6"/>
          <p:cNvSpPr/>
          <p:nvPr/>
        </p:nvSpPr>
        <p:spPr>
          <a:xfrm>
            <a:off x="3840480" y="2587752"/>
            <a:ext cx="586588" cy="914"/>
          </a:xfrm>
          <a:prstGeom prst="line">
            <a:avLst/>
          </a:prstGeom>
          <a:noFill/>
          <a:ln w="25400">
            <a:solidFill>
              <a:srgbClr val="5D6C79"/>
            </a:solidFill>
            <a:prstDash val="solid"/>
            <a:tailEnd type="triangle"/>
          </a:ln>
        </p:spPr>
      </p:sp>
      <p:sp>
        <p:nvSpPr>
          <p:cNvPr id="9" name="Line 7"/>
          <p:cNvSpPr/>
          <p:nvPr/>
        </p:nvSpPr>
        <p:spPr>
          <a:xfrm>
            <a:off x="4472788" y="1691640"/>
            <a:ext cx="3246120" cy="1783080"/>
          </a:xfrm>
          <a:prstGeom prst="roundRect">
            <a:avLst>
              <a:gd name="adj" fmla="val 5128"/>
            </a:avLst>
          </a:prstGeom>
          <a:solidFill>
            <a:srgbClr val="FBE9E7"/>
          </a:solidFill>
          <a:ln w="12700">
            <a:solidFill>
              <a:srgbClr val="C43D3D"/>
            </a:solidFill>
            <a:prstDash val="solid"/>
          </a:ln>
        </p:spPr>
      </p:sp>
      <p:sp>
        <p:nvSpPr>
          <p:cNvPr id="10" name="Text 8"/>
          <p:cNvSpPr txBox="1"/>
          <p:nvPr/>
        </p:nvSpPr>
        <p:spPr>
          <a:xfrm>
            <a:off x="4701388" y="1856232"/>
            <a:ext cx="1371600" cy="320040"/>
          </a:xfrm>
          <a:prstGeom prst="rect">
            <a:avLst/>
          </a:prstGeom>
          <a:noFill/>
          <a:ln/>
        </p:spPr>
        <p:txBody>
          <a:bodyPr wrap="square" lIns="0" tIns="0" rIns="0" bIns="0" rtlCol="0" anchor="t"/>
          <a:lstStyle/>
          <a:p>
            <a:pPr indent="0" marL="0">
              <a:buNone/>
            </a:pPr>
            <a:r>
              <a:rPr lang="en-US" sz="1400" b="1" dirty="0">
                <a:solidFill>
                  <a:schemeClr val="accent3"/>
                </a:solidFill>
              </a:rPr>
              <a:t>Line 7</a:t>
            </a:r>
            <a:endParaRPr lang="en-US" sz="1400" dirty="0"/>
          </a:p>
        </p:txBody>
      </p:sp>
      <p:sp>
        <p:nvSpPr>
          <p:cNvPr id="11" name="Text 9"/>
          <p:cNvSpPr txBox="1"/>
          <p:nvPr/>
        </p:nvSpPr>
        <p:spPr>
          <a:xfrm>
            <a:off x="4701388" y="2194560"/>
            <a:ext cx="2788920" cy="320040"/>
          </a:xfrm>
          <a:prstGeom prst="rect">
            <a:avLst/>
          </a:prstGeom>
          <a:noFill/>
          <a:ln/>
        </p:spPr>
        <p:txBody>
          <a:bodyPr wrap="square" lIns="0" tIns="0" rIns="0" bIns="0" rtlCol="0" anchor="t"/>
          <a:lstStyle/>
          <a:p>
            <a:pPr indent="0" marL="0">
              <a:buNone/>
            </a:pPr>
            <a:r>
              <a:rPr lang="en-US" sz="1500" b="1" dirty="0">
                <a:solidFill>
                  <a:schemeClr val="tx1"/>
                </a:solidFill>
              </a:rPr>
              <a:t>SHP-1005 · FAIL → PASS</a:t>
            </a:r>
            <a:endParaRPr lang="en-US" sz="1500" dirty="0"/>
          </a:p>
        </p:txBody>
      </p:sp>
      <p:sp>
        <p:nvSpPr>
          <p:cNvPr id="12" name="Text 10"/>
          <p:cNvSpPr txBox="1"/>
          <p:nvPr/>
        </p:nvSpPr>
        <p:spPr>
          <a:xfrm>
            <a:off x="4701388" y="2606040"/>
            <a:ext cx="2788920" cy="68580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PrevHash   9f2c41…</a:t>
            </a:r>
            <a:endParaRPr lang="en-US" sz="1300" dirty="0"/>
          </a:p>
          <a:p>
            <a:pPr indent="0" marL="0">
              <a:buNone/>
            </a:pPr>
            <a:r>
              <a:rPr lang="en-US" sz="1300" dirty="0">
                <a:solidFill>
                  <a:schemeClr val="accent5"/>
                </a:solidFill>
                <a:latin typeface="Consolas" pitchFamily="34" charset="0"/>
                <a:ea typeface="Consolas" pitchFamily="34" charset="-122"/>
                <a:cs typeface="Consolas" pitchFamily="34" charset="-120"/>
              </a:rPr>
              <a:t>EntryHash  41ab9d…</a:t>
            </a:r>
            <a:endParaRPr lang="en-US" sz="1300" dirty="0"/>
          </a:p>
        </p:txBody>
      </p:sp>
      <p:sp>
        <p:nvSpPr>
          <p:cNvPr id="13" name="Shape 11"/>
          <p:cNvSpPr/>
          <p:nvPr/>
        </p:nvSpPr>
        <p:spPr>
          <a:xfrm>
            <a:off x="7764628" y="2587752"/>
            <a:ext cx="586588" cy="914"/>
          </a:xfrm>
          <a:prstGeom prst="line">
            <a:avLst/>
          </a:prstGeom>
          <a:noFill/>
          <a:ln w="25400">
            <a:solidFill>
              <a:srgbClr val="5D6C79"/>
            </a:solidFill>
            <a:prstDash val="solid"/>
            <a:tailEnd type="triangle"/>
          </a:ln>
        </p:spPr>
      </p:sp>
      <p:sp>
        <p:nvSpPr>
          <p:cNvPr id="14" name="Line 8"/>
          <p:cNvSpPr/>
          <p:nvPr/>
        </p:nvSpPr>
        <p:spPr>
          <a:xfrm>
            <a:off x="8396935" y="1691640"/>
            <a:ext cx="3246120" cy="1783080"/>
          </a:xfrm>
          <a:prstGeom prst="roundRect">
            <a:avLst>
              <a:gd name="adj" fmla="val 5128"/>
            </a:avLst>
          </a:prstGeom>
          <a:solidFill>
            <a:schemeClr val="bg2"/>
          </a:solidFill>
          <a:ln/>
        </p:spPr>
      </p:sp>
      <p:sp>
        <p:nvSpPr>
          <p:cNvPr id="15" name="Text 13"/>
          <p:cNvSpPr txBox="1"/>
          <p:nvPr/>
        </p:nvSpPr>
        <p:spPr>
          <a:xfrm>
            <a:off x="8625535" y="1856232"/>
            <a:ext cx="1371600" cy="320040"/>
          </a:xfrm>
          <a:prstGeom prst="rect">
            <a:avLst/>
          </a:prstGeom>
          <a:noFill/>
          <a:ln/>
        </p:spPr>
        <p:txBody>
          <a:bodyPr wrap="square" lIns="0" tIns="0" rIns="0" bIns="0" rtlCol="0" anchor="t"/>
          <a:lstStyle/>
          <a:p>
            <a:pPr indent="0" marL="0">
              <a:buNone/>
            </a:pPr>
            <a:r>
              <a:rPr lang="en-US" sz="1400" b="1" dirty="0">
                <a:solidFill>
                  <a:schemeClr val="accent1"/>
                </a:solidFill>
              </a:rPr>
              <a:t>Line 8</a:t>
            </a:r>
            <a:endParaRPr lang="en-US" sz="1400" dirty="0"/>
          </a:p>
        </p:txBody>
      </p:sp>
      <p:sp>
        <p:nvSpPr>
          <p:cNvPr id="16" name="Text 14"/>
          <p:cNvSpPr txBox="1"/>
          <p:nvPr/>
        </p:nvSpPr>
        <p:spPr>
          <a:xfrm>
            <a:off x="8625535" y="2194560"/>
            <a:ext cx="2788920" cy="320040"/>
          </a:xfrm>
          <a:prstGeom prst="rect">
            <a:avLst/>
          </a:prstGeom>
          <a:noFill/>
          <a:ln/>
        </p:spPr>
        <p:txBody>
          <a:bodyPr wrap="square" lIns="0" tIns="0" rIns="0" bIns="0" rtlCol="0" anchor="t"/>
          <a:lstStyle/>
          <a:p>
            <a:pPr indent="0" marL="0">
              <a:buNone/>
            </a:pPr>
            <a:r>
              <a:rPr lang="en-US" sz="1500" b="1" dirty="0">
                <a:solidFill>
                  <a:schemeClr val="tx1"/>
                </a:solidFill>
              </a:rPr>
              <a:t>SHP-1005 · PASS</a:t>
            </a:r>
            <a:endParaRPr lang="en-US" sz="1500" dirty="0"/>
          </a:p>
        </p:txBody>
      </p:sp>
      <p:sp>
        <p:nvSpPr>
          <p:cNvPr id="17" name="Text 15"/>
          <p:cNvSpPr txBox="1"/>
          <p:nvPr/>
        </p:nvSpPr>
        <p:spPr>
          <a:xfrm>
            <a:off x="8625535" y="2606040"/>
            <a:ext cx="2788920" cy="68580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PrevHash   41ab9d…</a:t>
            </a:r>
            <a:endParaRPr lang="en-US" sz="1300" dirty="0"/>
          </a:p>
          <a:p>
            <a:pPr indent="0" marL="0">
              <a:buNone/>
            </a:pPr>
            <a:r>
              <a:rPr lang="en-US" sz="1300" dirty="0">
                <a:solidFill>
                  <a:schemeClr val="accent5"/>
                </a:solidFill>
                <a:latin typeface="Consolas" pitchFamily="34" charset="0"/>
                <a:ea typeface="Consolas" pitchFamily="34" charset="-122"/>
                <a:cs typeface="Consolas" pitchFamily="34" charset="-120"/>
              </a:rPr>
              <a:t>EntryHash  c07e5a…</a:t>
            </a:r>
            <a:endParaRPr lang="en-US" sz="1300" dirty="0"/>
          </a:p>
        </p:txBody>
      </p:sp>
      <p:pic>
        <p:nvPicPr>
          <p:cNvPr id="18" name="Image 0" descr="Tampered">    </p:cNvPr>
          <p:cNvPicPr>
            <a:picLocks noChangeAspect="1"/>
          </p:cNvPicPr>
          <p:nvPr/>
        </p:nvPicPr>
        <p:blipFill>
          <a:blip r:embed="rId1"/>
          <a:stretch>
            <a:fillRect/>
          </a:stretch>
        </p:blipFill>
        <p:spPr>
          <a:xfrm>
            <a:off x="7151980" y="1828800"/>
            <a:ext cx="384048" cy="384048"/>
          </a:xfrm>
          <a:prstGeom prst="rect">
            <a:avLst/>
          </a:prstGeom>
        </p:spPr>
      </p:pic>
      <p:sp>
        <p:nvSpPr>
          <p:cNvPr id="19" name="Each entry carries"/>
          <p:cNvSpPr/>
          <p:nvPr/>
        </p:nvSpPr>
        <p:spPr>
          <a:xfrm>
            <a:off x="548640" y="3794760"/>
            <a:ext cx="5577840" cy="2331720"/>
          </a:xfrm>
          <a:prstGeom prst="roundRect">
            <a:avLst>
              <a:gd name="adj" fmla="val 3922"/>
            </a:avLst>
          </a:prstGeom>
          <a:solidFill>
            <a:schemeClr val="bg2"/>
          </a:solidFill>
          <a:ln/>
        </p:spPr>
      </p:sp>
      <p:sp>
        <p:nvSpPr>
          <p:cNvPr id="20" name="Text 17"/>
          <p:cNvSpPr txBox="1"/>
          <p:nvPr/>
        </p:nvSpPr>
        <p:spPr>
          <a:xfrm>
            <a:off x="822960" y="3931920"/>
            <a:ext cx="5029200" cy="365760"/>
          </a:xfrm>
          <a:prstGeom prst="rect">
            <a:avLst/>
          </a:prstGeom>
          <a:noFill/>
          <a:ln/>
        </p:spPr>
        <p:txBody>
          <a:bodyPr wrap="square" lIns="0" tIns="0" rIns="0" bIns="0" rtlCol="0" anchor="t"/>
          <a:lstStyle/>
          <a:p>
            <a:pPr indent="0" marL="0">
              <a:buNone/>
            </a:pPr>
            <a:r>
              <a:rPr lang="en-US" sz="1600" b="1" dirty="0">
                <a:solidFill>
                  <a:schemeClr val="tx1"/>
                </a:solidFill>
              </a:rPr>
              <a:t>Each entry carries</a:t>
            </a:r>
            <a:endParaRPr lang="en-US" sz="1600" dirty="0"/>
          </a:p>
        </p:txBody>
      </p:sp>
      <p:sp>
        <p:nvSpPr>
          <p:cNvPr id="21" name="Text 18"/>
          <p:cNvSpPr txBox="1"/>
          <p:nvPr/>
        </p:nvSpPr>
        <p:spPr>
          <a:xfrm>
            <a:off x="822960" y="4389120"/>
            <a:ext cx="256032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Bot identity and machine</a:t>
            </a:r>
            <a:endParaRPr lang="en-US" sz="1400" dirty="0"/>
          </a:p>
        </p:txBody>
      </p:sp>
      <p:sp>
        <p:nvSpPr>
          <p:cNvPr id="22" name="Text 19"/>
          <p:cNvSpPr txBox="1"/>
          <p:nvPr/>
        </p:nvSpPr>
        <p:spPr>
          <a:xfrm>
            <a:off x="3429000" y="4389120"/>
            <a:ext cx="256032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UTC timestamp</a:t>
            </a:r>
            <a:endParaRPr lang="en-US" sz="1400" dirty="0"/>
          </a:p>
        </p:txBody>
      </p:sp>
      <p:sp>
        <p:nvSpPr>
          <p:cNvPr id="23" name="Text 20"/>
          <p:cNvSpPr txBox="1"/>
          <p:nvPr/>
        </p:nvSpPr>
        <p:spPr>
          <a:xfrm>
            <a:off x="822960" y="4919472"/>
            <a:ext cx="256032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Hash of the input data</a:t>
            </a:r>
            <a:endParaRPr lang="en-US" sz="1400" dirty="0"/>
          </a:p>
        </p:txBody>
      </p:sp>
      <p:sp>
        <p:nvSpPr>
          <p:cNvPr id="24" name="Text 21"/>
          <p:cNvSpPr txBox="1"/>
          <p:nvPr/>
        </p:nvSpPr>
        <p:spPr>
          <a:xfrm>
            <a:off x="3429000" y="4919472"/>
            <a:ext cx="256032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Verdict, severity, reasons</a:t>
            </a:r>
            <a:endParaRPr lang="en-US" sz="1400" dirty="0"/>
          </a:p>
        </p:txBody>
      </p:sp>
      <p:sp>
        <p:nvSpPr>
          <p:cNvPr id="25" name="Text 22"/>
          <p:cNvSpPr txBox="1"/>
          <p:nvPr/>
        </p:nvSpPr>
        <p:spPr>
          <a:xfrm>
            <a:off x="822960" y="5449824"/>
            <a:ext cx="256032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Human decision and reviewer</a:t>
            </a:r>
            <a:endParaRPr lang="en-US" sz="1400" dirty="0"/>
          </a:p>
        </p:txBody>
      </p:sp>
      <p:sp>
        <p:nvSpPr>
          <p:cNvPr id="26" name="Text 23"/>
          <p:cNvSpPr txBox="1"/>
          <p:nvPr/>
        </p:nvSpPr>
        <p:spPr>
          <a:xfrm>
            <a:off x="3429000" y="5449824"/>
            <a:ext cx="256032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Three linked hashes</a:t>
            </a:r>
            <a:endParaRPr lang="en-US" sz="1400" dirty="0"/>
          </a:p>
        </p:txBody>
      </p:sp>
      <p:sp>
        <p:nvSpPr>
          <p:cNvPr id="27" name="Shape 24"/>
          <p:cNvSpPr/>
          <p:nvPr/>
        </p:nvSpPr>
        <p:spPr>
          <a:xfrm>
            <a:off x="6400800" y="3794760"/>
            <a:ext cx="5242255" cy="2331720"/>
          </a:xfrm>
          <a:prstGeom prst="roundRect">
            <a:avLst>
              <a:gd name="adj" fmla="val 3922"/>
            </a:avLst>
          </a:prstGeom>
          <a:solidFill>
            <a:schemeClr val="tx2"/>
          </a:solidFill>
          <a:ln/>
        </p:spPr>
      </p:sp>
      <p:sp>
        <p:nvSpPr>
          <p:cNvPr id="28" name="Text 25"/>
          <p:cNvSpPr txBox="1"/>
          <p:nvPr/>
        </p:nvSpPr>
        <p:spPr>
          <a:xfrm>
            <a:off x="6675120" y="3931920"/>
            <a:ext cx="4693615" cy="365760"/>
          </a:xfrm>
          <a:prstGeom prst="rect">
            <a:avLst/>
          </a:prstGeom>
          <a:noFill/>
          <a:ln/>
        </p:spPr>
        <p:txBody>
          <a:bodyPr wrap="square" lIns="0" tIns="0" rIns="0" bIns="0" rtlCol="0" anchor="t"/>
          <a:lstStyle/>
          <a:p>
            <a:pPr indent="0" marL="0">
              <a:buNone/>
            </a:pPr>
            <a:r>
              <a:rPr lang="en-US" sz="1500" b="1" dirty="0">
                <a:solidFill>
                  <a:schemeClr val="bg1"/>
                </a:solidFill>
              </a:rPr>
              <a:t>Change one verdict, re-verify:</a:t>
            </a:r>
            <a:endParaRPr lang="en-US" sz="1500" dirty="0"/>
          </a:p>
        </p:txBody>
      </p:sp>
      <p:sp>
        <p:nvSpPr>
          <p:cNvPr id="29" name="Text 26"/>
          <p:cNvSpPr txBox="1"/>
          <p:nvPr/>
        </p:nvSpPr>
        <p:spPr>
          <a:xfrm>
            <a:off x="6675120" y="4389120"/>
            <a:ext cx="4693615" cy="1005840"/>
          </a:xfrm>
          <a:prstGeom prst="rect">
            <a:avLst/>
          </a:prstGeom>
          <a:noFill/>
          <a:ln/>
        </p:spPr>
        <p:txBody>
          <a:bodyPr wrap="square" lIns="0" tIns="0" rIns="0" bIns="0" rtlCol="0" anchor="t"/>
          <a:lstStyle/>
          <a:p>
            <a:pPr indent="0" marL="0">
              <a:buNone/>
            </a:pPr>
            <a:r>
              <a:rPr lang="en-US" sz="1400" b="1" dirty="0">
                <a:solidFill>
                  <a:srgbClr val="FF8A80"/>
                </a:solidFill>
                <a:latin typeface="Consolas" pitchFamily="34" charset="0"/>
                <a:ea typeface="Consolas" pitchFamily="34" charset="-122"/>
                <a:cs typeface="Consolas" pitchFamily="34" charset="-120"/>
              </a:rPr>
              <a:t>INVALID - first problem at line 7</a:t>
            </a:r>
            <a:endParaRPr lang="en-US" sz="1400" dirty="0"/>
          </a:p>
          <a:p>
            <a:pPr indent="0" marL="0">
              <a:buNone/>
            </a:pPr>
            <a:r>
              <a:rPr lang="en-US" sz="1400" dirty="0">
                <a:solidFill>
                  <a:schemeClr val="accent6"/>
                </a:solidFill>
                <a:latin typeface="Consolas" pitchFamily="34" charset="0"/>
                <a:ea typeface="Consolas" pitchFamily="34" charset="-122"/>
                <a:cs typeface="Consolas" pitchFamily="34" charset="-120"/>
              </a:rPr>
              <a:t>record contents were altered</a:t>
            </a:r>
            <a:endParaRPr lang="en-US" sz="1400" dirty="0"/>
          </a:p>
          <a:p>
            <a:pPr indent="0" marL="0">
              <a:buNone/>
            </a:pPr>
            <a:r>
              <a:rPr lang="en-US" sz="1400" dirty="0">
                <a:solidFill>
                  <a:schemeClr val="accent6"/>
                </a:solidFill>
                <a:latin typeface="Consolas" pitchFamily="34" charset="0"/>
                <a:ea typeface="Consolas" pitchFamily="34" charset="-122"/>
                <a:cs typeface="Consolas" pitchFamily="34" charset="-120"/>
              </a:rPr>
              <a:t>(RecordHash mismatch) - SHP-1005</a:t>
            </a:r>
            <a:endParaRPr lang="en-US" sz="1400" dirty="0"/>
          </a:p>
        </p:txBody>
      </p:sp>
      <p:sp>
        <p:nvSpPr>
          <p:cNvPr id="30" name="Text 27"/>
          <p:cNvSpPr txBox="1"/>
          <p:nvPr/>
        </p:nvSpPr>
        <p:spPr>
          <a:xfrm>
            <a:off x="6675120" y="5440680"/>
            <a:ext cx="4693615" cy="594360"/>
          </a:xfrm>
          <a:prstGeom prst="rect">
            <a:avLst/>
          </a:prstGeom>
          <a:noFill/>
          <a:ln/>
        </p:spPr>
        <p:txBody>
          <a:bodyPr wrap="square" lIns="0" tIns="0" rIns="0" bIns="0" rtlCol="0" anchor="t"/>
          <a:lstStyle/>
          <a:p>
            <a:pPr indent="0" marL="0">
              <a:buNone/>
            </a:pPr>
            <a:r>
              <a:rPr lang="en-US" sz="1300" dirty="0">
                <a:solidFill>
                  <a:srgbClr val="C9DCDD"/>
                </a:solidFill>
              </a:rPr>
              <a:t>You cannot quietly edit history without rewriting every line after it.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EVIDENCE PACK</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Every run produces its own evidence</a:t>
            </a:r>
            <a:endParaRPr lang="en-US" sz="3200" dirty="0"/>
          </a:p>
        </p:txBody>
      </p:sp>
      <p:sp>
        <p:nvSpPr>
          <p:cNvPr id="4" name="Shape 2"/>
          <p:cNvSpPr/>
          <p:nvPr/>
        </p:nvSpPr>
        <p:spPr>
          <a:xfrm>
            <a:off x="548640" y="1691640"/>
            <a:ext cx="6675120" cy="3044792"/>
          </a:xfrm>
          <a:prstGeom prst="rect">
            <a:avLst/>
          </a:prstGeom>
          <a:solidFill>
            <a:schemeClr val="bg1"/>
          </a:solidFill>
          <a:ln w="12700">
            <a:solidFill>
              <a:srgbClr val="D5E1DF"/>
            </a:solidFill>
            <a:prstDash val="solid"/>
          </a:ln>
          <a:effectLst>
            <a:outerShdw sx="100000" sy="100000" kx="0" ky="0" algn="bl" rotWithShape="0" blurRad="101600" dist="38100" dir="5400000">
              <a:srgbClr val="000000">
                <a:alpha val="16000"/>
              </a:srgbClr>
            </a:outerShdw>
          </a:effectLst>
        </p:spPr>
      </p:sp>
      <p:pic>
        <p:nvPicPr>
          <p:cNvPr id="5" name="Image 0" descr="The HTML dashboard the bot writes: 48 validated, 40 passed, 1 warning, 7 failed, 1 escalated, 83.3% pass rate, audit trail verified">    </p:cNvPr>
          <p:cNvPicPr>
            <a:picLocks noChangeAspect="1"/>
          </p:cNvPicPr>
          <p:nvPr/>
        </p:nvPicPr>
        <p:blipFill>
          <a:blip r:embed="rId1"/>
          <a:stretch>
            <a:fillRect/>
          </a:stretch>
        </p:blipFill>
        <p:spPr>
          <a:xfrm>
            <a:off x="548640" y="1691640"/>
            <a:ext cx="6675120" cy="3044792"/>
          </a:xfrm>
          <a:prstGeom prst="rect">
            <a:avLst/>
          </a:prstGeom>
        </p:spPr>
      </p:pic>
      <p:sp>
        <p:nvSpPr>
          <p:cNvPr id="6" name="Text 3"/>
          <p:cNvSpPr txBox="1"/>
          <p:nvPr/>
        </p:nvSpPr>
        <p:spPr>
          <a:xfrm>
            <a:off x="548640" y="4827872"/>
            <a:ext cx="6675120" cy="320040"/>
          </a:xfrm>
          <a:prstGeom prst="rect">
            <a:avLst/>
          </a:prstGeom>
          <a:noFill/>
          <a:ln/>
        </p:spPr>
        <p:txBody>
          <a:bodyPr wrap="square" lIns="0" tIns="0" rIns="0" bIns="0" rtlCol="0" anchor="t"/>
          <a:lstStyle/>
          <a:p>
            <a:pPr indent="0" marL="0">
              <a:buNone/>
            </a:pPr>
            <a:r>
              <a:rPr lang="en-US" sz="1200" dirty="0">
                <a:solidFill>
                  <a:schemeClr val="accent5"/>
                </a:solidFill>
              </a:rPr>
              <a:t>dashboard.html: one self-contained file, no server, opens offline</a:t>
            </a:r>
            <a:endParaRPr lang="en-US" sz="1200" dirty="0"/>
          </a:p>
        </p:txBody>
      </p:sp>
      <p:sp>
        <p:nvSpPr>
          <p:cNvPr id="7" name="Run history"/>
          <p:cNvSpPr/>
          <p:nvPr/>
        </p:nvSpPr>
        <p:spPr>
          <a:xfrm>
            <a:off x="548640" y="5074920"/>
            <a:ext cx="6675120" cy="1051560"/>
          </a:xfrm>
          <a:prstGeom prst="roundRect">
            <a:avLst>
              <a:gd name="adj" fmla="val 8696"/>
            </a:avLst>
          </a:prstGeom>
          <a:solidFill>
            <a:schemeClr val="bg2"/>
          </a:solidFill>
          <a:ln/>
        </p:spPr>
      </p:sp>
      <p:sp>
        <p:nvSpPr>
          <p:cNvPr id="8" name="History badge"/>
          <p:cNvSpPr/>
          <p:nvPr/>
        </p:nvSpPr>
        <p:spPr>
          <a:xfrm>
            <a:off x="777240" y="5303520"/>
            <a:ext cx="594360" cy="594360"/>
          </a:xfrm>
          <a:prstGeom prst="ellipse">
            <a:avLst/>
          </a:prstGeom>
          <a:solidFill>
            <a:schemeClr val="accent1"/>
          </a:solidFill>
          <a:ln/>
        </p:spPr>
      </p:sp>
      <p:pic>
        <p:nvPicPr>
          <p:cNvPr id="9" name="Image 1" descr="History">    </p:cNvPr>
          <p:cNvPicPr>
            <a:picLocks noChangeAspect="1"/>
          </p:cNvPicPr>
          <p:nvPr/>
        </p:nvPicPr>
        <p:blipFill>
          <a:blip r:embed="rId2"/>
          <a:stretch>
            <a:fillRect/>
          </a:stretch>
        </p:blipFill>
        <p:spPr>
          <a:xfrm>
            <a:off x="925830" y="5452110"/>
            <a:ext cx="297180" cy="297180"/>
          </a:xfrm>
          <a:prstGeom prst="rect">
            <a:avLst/>
          </a:prstGeom>
        </p:spPr>
      </p:pic>
      <p:sp>
        <p:nvSpPr>
          <p:cNvPr id="10" name="Text 6"/>
          <p:cNvSpPr txBox="1"/>
          <p:nvPr/>
        </p:nvSpPr>
        <p:spPr>
          <a:xfrm>
            <a:off x="1554480" y="5138928"/>
            <a:ext cx="5486400" cy="914400"/>
          </a:xfrm>
          <a:prstGeom prst="rect">
            <a:avLst/>
          </a:prstGeom>
          <a:noFill/>
          <a:ln/>
        </p:spPr>
        <p:txBody>
          <a:bodyPr wrap="square" lIns="0" tIns="0" rIns="0" bIns="0" rtlCol="0" anchor="ctr"/>
          <a:lstStyle/>
          <a:p>
            <a:pPr indent="0" marL="0">
              <a:buNone/>
            </a:pPr>
            <a:r>
              <a:rPr lang="en-US" sz="1400" dirty="0">
                <a:solidFill>
                  <a:schemeClr val="tx1"/>
                </a:solidFill>
              </a:rPr>
              <a:t>Run history is read back out of the audit log, so the dashboard can never disagree with the evidence.</a:t>
            </a:r>
            <a:endParaRPr lang="en-US" sz="1400" dirty="0"/>
          </a:p>
        </p:txBody>
      </p:sp>
      <p:sp>
        <p:nvSpPr>
          <p:cNvPr id="11" name="Excel report badge"/>
          <p:cNvSpPr/>
          <p:nvPr/>
        </p:nvSpPr>
        <p:spPr>
          <a:xfrm>
            <a:off x="7635240" y="1737360"/>
            <a:ext cx="566928" cy="566928"/>
          </a:xfrm>
          <a:prstGeom prst="ellipse">
            <a:avLst/>
          </a:prstGeom>
          <a:solidFill>
            <a:schemeClr val="accent1"/>
          </a:solidFill>
          <a:ln/>
        </p:spPr>
      </p:sp>
      <p:pic>
        <p:nvPicPr>
          <p:cNvPr id="12" name="Image 2" descr="Excel report">    </p:cNvPr>
          <p:cNvPicPr>
            <a:picLocks noChangeAspect="1"/>
          </p:cNvPicPr>
          <p:nvPr/>
        </p:nvPicPr>
        <p:blipFill>
          <a:blip r:embed="rId3"/>
          <a:stretch>
            <a:fillRect/>
          </a:stretch>
        </p:blipFill>
        <p:spPr>
          <a:xfrm>
            <a:off x="7776972" y="1879092"/>
            <a:ext cx="283464" cy="283464"/>
          </a:xfrm>
          <a:prstGeom prst="rect">
            <a:avLst/>
          </a:prstGeom>
        </p:spPr>
      </p:pic>
      <p:sp>
        <p:nvSpPr>
          <p:cNvPr id="13" name="Text 8"/>
          <p:cNvSpPr txBox="1"/>
          <p:nvPr/>
        </p:nvSpPr>
        <p:spPr>
          <a:xfrm>
            <a:off x="8412480" y="1691640"/>
            <a:ext cx="3230575" cy="329184"/>
          </a:xfrm>
          <a:prstGeom prst="rect">
            <a:avLst/>
          </a:prstGeom>
          <a:noFill/>
          <a:ln/>
        </p:spPr>
        <p:txBody>
          <a:bodyPr wrap="square" lIns="0" tIns="0" rIns="0" bIns="0" rtlCol="0" anchor="t"/>
          <a:lstStyle/>
          <a:p>
            <a:pPr indent="0" marL="0">
              <a:buNone/>
            </a:pPr>
            <a:r>
              <a:rPr lang="en-US" sz="1600" b="1" dirty="0">
                <a:solidFill>
                  <a:schemeClr val="tx1"/>
                </a:solidFill>
              </a:rPr>
              <a:t>Excel report</a:t>
            </a:r>
            <a:endParaRPr lang="en-US" sz="1600" dirty="0"/>
          </a:p>
        </p:txBody>
      </p:sp>
      <p:sp>
        <p:nvSpPr>
          <p:cNvPr id="14" name="Text 9"/>
          <p:cNvSpPr txBox="1"/>
          <p:nvPr/>
        </p:nvSpPr>
        <p:spPr>
          <a:xfrm>
            <a:off x="8412480" y="2029968"/>
            <a:ext cx="3230575" cy="457200"/>
          </a:xfrm>
          <a:prstGeom prst="rect">
            <a:avLst/>
          </a:prstGeom>
          <a:noFill/>
          <a:ln/>
        </p:spPr>
        <p:txBody>
          <a:bodyPr wrap="square" lIns="0" tIns="0" rIns="0" bIns="0" rtlCol="0" anchor="t"/>
          <a:lstStyle/>
          <a:p>
            <a:pPr indent="0" marL="0">
              <a:buNone/>
            </a:pPr>
            <a:r>
              <a:rPr lang="en-US" sz="1300" dirty="0">
                <a:solidFill>
                  <a:schemeClr val="accent5"/>
                </a:solidFill>
              </a:rPr>
              <a:t>Colour-coded results and an exceptions sheet</a:t>
            </a:r>
            <a:endParaRPr lang="en-US" sz="1300" dirty="0"/>
          </a:p>
        </p:txBody>
      </p:sp>
      <p:sp>
        <p:nvSpPr>
          <p:cNvPr id="15" name="PDF audit report badge"/>
          <p:cNvSpPr/>
          <p:nvPr/>
        </p:nvSpPr>
        <p:spPr>
          <a:xfrm>
            <a:off x="7635240" y="2624328"/>
            <a:ext cx="566928" cy="566928"/>
          </a:xfrm>
          <a:prstGeom prst="ellipse">
            <a:avLst/>
          </a:prstGeom>
          <a:solidFill>
            <a:schemeClr val="accent1"/>
          </a:solidFill>
          <a:ln/>
        </p:spPr>
      </p:sp>
      <p:pic>
        <p:nvPicPr>
          <p:cNvPr id="16" name="Image 3" descr="PDF audit report">    </p:cNvPr>
          <p:cNvPicPr>
            <a:picLocks noChangeAspect="1"/>
          </p:cNvPicPr>
          <p:nvPr/>
        </p:nvPicPr>
        <p:blipFill>
          <a:blip r:embed="rId4"/>
          <a:stretch>
            <a:fillRect/>
          </a:stretch>
        </p:blipFill>
        <p:spPr>
          <a:xfrm>
            <a:off x="7776972" y="2766060"/>
            <a:ext cx="283464" cy="283464"/>
          </a:xfrm>
          <a:prstGeom prst="rect">
            <a:avLst/>
          </a:prstGeom>
        </p:spPr>
      </p:pic>
      <p:sp>
        <p:nvSpPr>
          <p:cNvPr id="17" name="Text 11"/>
          <p:cNvSpPr txBox="1"/>
          <p:nvPr/>
        </p:nvSpPr>
        <p:spPr>
          <a:xfrm>
            <a:off x="8412480" y="2578608"/>
            <a:ext cx="3230575" cy="329184"/>
          </a:xfrm>
          <a:prstGeom prst="rect">
            <a:avLst/>
          </a:prstGeom>
          <a:noFill/>
          <a:ln/>
        </p:spPr>
        <p:txBody>
          <a:bodyPr wrap="square" lIns="0" tIns="0" rIns="0" bIns="0" rtlCol="0" anchor="t"/>
          <a:lstStyle/>
          <a:p>
            <a:pPr indent="0" marL="0">
              <a:buNone/>
            </a:pPr>
            <a:r>
              <a:rPr lang="en-US" sz="1600" b="1" dirty="0">
                <a:solidFill>
                  <a:schemeClr val="tx1"/>
                </a:solidFill>
              </a:rPr>
              <a:t>PDF audit report</a:t>
            </a:r>
            <a:endParaRPr lang="en-US" sz="1600" dirty="0"/>
          </a:p>
        </p:txBody>
      </p:sp>
      <p:sp>
        <p:nvSpPr>
          <p:cNvPr id="18" name="Text 12"/>
          <p:cNvSpPr txBox="1"/>
          <p:nvPr/>
        </p:nvSpPr>
        <p:spPr>
          <a:xfrm>
            <a:off x="8412480" y="2916936"/>
            <a:ext cx="3230575" cy="457200"/>
          </a:xfrm>
          <a:prstGeom prst="rect">
            <a:avLst/>
          </a:prstGeom>
          <a:noFill/>
          <a:ln/>
        </p:spPr>
        <p:txBody>
          <a:bodyPr wrap="square" lIns="0" tIns="0" rIns="0" bIns="0" rtlCol="0" anchor="t"/>
          <a:lstStyle/>
          <a:p>
            <a:pPr indent="0" marL="0">
              <a:buNone/>
            </a:pPr>
            <a:r>
              <a:rPr lang="en-US" sz="1300" dirty="0">
                <a:solidFill>
                  <a:schemeClr val="accent5"/>
                </a:solidFill>
              </a:rPr>
              <a:t>For the auditor, with a signature block</a:t>
            </a:r>
            <a:endParaRPr lang="en-US" sz="1300" dirty="0"/>
          </a:p>
        </p:txBody>
      </p:sp>
      <p:sp>
        <p:nvSpPr>
          <p:cNvPr id="19" name="HTML dashboard badge"/>
          <p:cNvSpPr/>
          <p:nvPr/>
        </p:nvSpPr>
        <p:spPr>
          <a:xfrm>
            <a:off x="7635240" y="3511296"/>
            <a:ext cx="566928" cy="566928"/>
          </a:xfrm>
          <a:prstGeom prst="ellipse">
            <a:avLst/>
          </a:prstGeom>
          <a:solidFill>
            <a:schemeClr val="accent1"/>
          </a:solidFill>
          <a:ln/>
        </p:spPr>
      </p:sp>
      <p:pic>
        <p:nvPicPr>
          <p:cNvPr id="20" name="Image 4" descr="HTML dashboard">    </p:cNvPr>
          <p:cNvPicPr>
            <a:picLocks noChangeAspect="1"/>
          </p:cNvPicPr>
          <p:nvPr/>
        </p:nvPicPr>
        <p:blipFill>
          <a:blip r:embed="rId5"/>
          <a:stretch>
            <a:fillRect/>
          </a:stretch>
        </p:blipFill>
        <p:spPr>
          <a:xfrm>
            <a:off x="7776972" y="3653028"/>
            <a:ext cx="283464" cy="283464"/>
          </a:xfrm>
          <a:prstGeom prst="rect">
            <a:avLst/>
          </a:prstGeom>
        </p:spPr>
      </p:pic>
      <p:sp>
        <p:nvSpPr>
          <p:cNvPr id="21" name="Text 14"/>
          <p:cNvSpPr txBox="1"/>
          <p:nvPr/>
        </p:nvSpPr>
        <p:spPr>
          <a:xfrm>
            <a:off x="8412480" y="3465576"/>
            <a:ext cx="3230575" cy="329184"/>
          </a:xfrm>
          <a:prstGeom prst="rect">
            <a:avLst/>
          </a:prstGeom>
          <a:noFill/>
          <a:ln/>
        </p:spPr>
        <p:txBody>
          <a:bodyPr wrap="square" lIns="0" tIns="0" rIns="0" bIns="0" rtlCol="0" anchor="t"/>
          <a:lstStyle/>
          <a:p>
            <a:pPr indent="0" marL="0">
              <a:buNone/>
            </a:pPr>
            <a:r>
              <a:rPr lang="en-US" sz="1600" b="1" dirty="0">
                <a:solidFill>
                  <a:schemeClr val="tx1"/>
                </a:solidFill>
              </a:rPr>
              <a:t>HTML dashboard</a:t>
            </a:r>
            <a:endParaRPr lang="en-US" sz="1600" dirty="0"/>
          </a:p>
        </p:txBody>
      </p:sp>
      <p:sp>
        <p:nvSpPr>
          <p:cNvPr id="22" name="Text 15"/>
          <p:cNvSpPr txBox="1"/>
          <p:nvPr/>
        </p:nvSpPr>
        <p:spPr>
          <a:xfrm>
            <a:off x="8412480" y="3803904"/>
            <a:ext cx="3230575" cy="457200"/>
          </a:xfrm>
          <a:prstGeom prst="rect">
            <a:avLst/>
          </a:prstGeom>
          <a:noFill/>
          <a:ln/>
        </p:spPr>
        <p:txBody>
          <a:bodyPr wrap="square" lIns="0" tIns="0" rIns="0" bIns="0" rtlCol="0" anchor="t"/>
          <a:lstStyle/>
          <a:p>
            <a:pPr indent="0" marL="0">
              <a:buNone/>
            </a:pPr>
            <a:r>
              <a:rPr lang="en-US" sz="1300" dirty="0">
                <a:solidFill>
                  <a:schemeClr val="accent5"/>
                </a:solidFill>
              </a:rPr>
              <a:t>KPIs, phase timings and trends</a:t>
            </a:r>
            <a:endParaRPr lang="en-US" sz="1300" dirty="0"/>
          </a:p>
        </p:txBody>
      </p:sp>
      <p:sp>
        <p:nvSpPr>
          <p:cNvPr id="23" name="Alerts badge"/>
          <p:cNvSpPr/>
          <p:nvPr/>
        </p:nvSpPr>
        <p:spPr>
          <a:xfrm>
            <a:off x="7635240" y="4398264"/>
            <a:ext cx="566928" cy="566928"/>
          </a:xfrm>
          <a:prstGeom prst="ellipse">
            <a:avLst/>
          </a:prstGeom>
          <a:solidFill>
            <a:schemeClr val="accent1"/>
          </a:solidFill>
          <a:ln/>
        </p:spPr>
      </p:sp>
      <p:pic>
        <p:nvPicPr>
          <p:cNvPr id="24" name="Image 5" descr="Alerts">    </p:cNvPr>
          <p:cNvPicPr>
            <a:picLocks noChangeAspect="1"/>
          </p:cNvPicPr>
          <p:nvPr/>
        </p:nvPicPr>
        <p:blipFill>
          <a:blip r:embed="rId6"/>
          <a:stretch>
            <a:fillRect/>
          </a:stretch>
        </p:blipFill>
        <p:spPr>
          <a:xfrm>
            <a:off x="7776972" y="4539996"/>
            <a:ext cx="283464" cy="283464"/>
          </a:xfrm>
          <a:prstGeom prst="rect">
            <a:avLst/>
          </a:prstGeom>
        </p:spPr>
      </p:pic>
      <p:sp>
        <p:nvSpPr>
          <p:cNvPr id="25" name="Text 17"/>
          <p:cNvSpPr txBox="1"/>
          <p:nvPr/>
        </p:nvSpPr>
        <p:spPr>
          <a:xfrm>
            <a:off x="8412480" y="4352544"/>
            <a:ext cx="3230575" cy="329184"/>
          </a:xfrm>
          <a:prstGeom prst="rect">
            <a:avLst/>
          </a:prstGeom>
          <a:noFill/>
          <a:ln/>
        </p:spPr>
        <p:txBody>
          <a:bodyPr wrap="square" lIns="0" tIns="0" rIns="0" bIns="0" rtlCol="0" anchor="t"/>
          <a:lstStyle/>
          <a:p>
            <a:pPr indent="0" marL="0">
              <a:buNone/>
            </a:pPr>
            <a:r>
              <a:rPr lang="en-US" sz="1600" b="1" dirty="0">
                <a:solidFill>
                  <a:schemeClr val="tx1"/>
                </a:solidFill>
              </a:rPr>
              <a:t>Alerts</a:t>
            </a:r>
            <a:endParaRPr lang="en-US" sz="1600" dirty="0"/>
          </a:p>
        </p:txBody>
      </p:sp>
      <p:sp>
        <p:nvSpPr>
          <p:cNvPr id="26" name="Text 18"/>
          <p:cNvSpPr txBox="1"/>
          <p:nvPr/>
        </p:nvSpPr>
        <p:spPr>
          <a:xfrm>
            <a:off x="8412480" y="4690872"/>
            <a:ext cx="3230575" cy="457200"/>
          </a:xfrm>
          <a:prstGeom prst="rect">
            <a:avLst/>
          </a:prstGeom>
          <a:noFill/>
          <a:ln/>
        </p:spPr>
        <p:txBody>
          <a:bodyPr wrap="square" lIns="0" tIns="0" rIns="0" bIns="0" rtlCol="0" anchor="t"/>
          <a:lstStyle/>
          <a:p>
            <a:pPr indent="0" marL="0">
              <a:buNone/>
            </a:pPr>
            <a:r>
              <a:rPr lang="en-US" sz="1300" dirty="0">
                <a:solidFill>
                  <a:schemeClr val="accent5"/>
                </a:solidFill>
              </a:rPr>
              <a:t>E-mail, Teams card, Slack message</a:t>
            </a:r>
            <a:endParaRPr lang="en-US" sz="1300" dirty="0"/>
          </a:p>
        </p:txBody>
      </p:sp>
      <p:sp>
        <p:nvSpPr>
          <p:cNvPr id="27" name="Audit log badge"/>
          <p:cNvSpPr/>
          <p:nvPr/>
        </p:nvSpPr>
        <p:spPr>
          <a:xfrm>
            <a:off x="7635240" y="5285232"/>
            <a:ext cx="566928" cy="566928"/>
          </a:xfrm>
          <a:prstGeom prst="ellipse">
            <a:avLst/>
          </a:prstGeom>
          <a:solidFill>
            <a:schemeClr val="accent1"/>
          </a:solidFill>
          <a:ln/>
        </p:spPr>
      </p:sp>
      <p:pic>
        <p:nvPicPr>
          <p:cNvPr id="28" name="Image 6" descr="Audit log">    </p:cNvPr>
          <p:cNvPicPr>
            <a:picLocks noChangeAspect="1"/>
          </p:cNvPicPr>
          <p:nvPr/>
        </p:nvPicPr>
        <p:blipFill>
          <a:blip r:embed="rId7"/>
          <a:stretch>
            <a:fillRect/>
          </a:stretch>
        </p:blipFill>
        <p:spPr>
          <a:xfrm>
            <a:off x="7776972" y="5426964"/>
            <a:ext cx="283464" cy="283464"/>
          </a:xfrm>
          <a:prstGeom prst="rect">
            <a:avLst/>
          </a:prstGeom>
        </p:spPr>
      </p:pic>
      <p:sp>
        <p:nvSpPr>
          <p:cNvPr id="29" name="Text 20"/>
          <p:cNvSpPr txBox="1"/>
          <p:nvPr/>
        </p:nvSpPr>
        <p:spPr>
          <a:xfrm>
            <a:off x="8412480" y="5239512"/>
            <a:ext cx="3230575" cy="329184"/>
          </a:xfrm>
          <a:prstGeom prst="rect">
            <a:avLst/>
          </a:prstGeom>
          <a:noFill/>
          <a:ln/>
        </p:spPr>
        <p:txBody>
          <a:bodyPr wrap="square" lIns="0" tIns="0" rIns="0" bIns="0" rtlCol="0" anchor="t"/>
          <a:lstStyle/>
          <a:p>
            <a:pPr indent="0" marL="0">
              <a:buNone/>
            </a:pPr>
            <a:r>
              <a:rPr lang="en-US" sz="1600" b="1" dirty="0">
                <a:solidFill>
                  <a:schemeClr val="tx1"/>
                </a:solidFill>
              </a:rPr>
              <a:t>Audit log</a:t>
            </a:r>
            <a:endParaRPr lang="en-US" sz="1600" dirty="0"/>
          </a:p>
        </p:txBody>
      </p:sp>
      <p:sp>
        <p:nvSpPr>
          <p:cNvPr id="30" name="Text 21"/>
          <p:cNvSpPr txBox="1"/>
          <p:nvPr/>
        </p:nvSpPr>
        <p:spPr>
          <a:xfrm>
            <a:off x="8412480" y="5577840"/>
            <a:ext cx="3230575" cy="457200"/>
          </a:xfrm>
          <a:prstGeom prst="rect">
            <a:avLst/>
          </a:prstGeom>
          <a:noFill/>
          <a:ln/>
        </p:spPr>
        <p:txBody>
          <a:bodyPr wrap="square" lIns="0" tIns="0" rIns="0" bIns="0" rtlCol="0" anchor="t"/>
          <a:lstStyle/>
          <a:p>
            <a:pPr indent="0" marL="0">
              <a:buNone/>
            </a:pPr>
            <a:r>
              <a:rPr lang="en-US" sz="1300" dirty="0">
                <a:solidFill>
                  <a:schemeClr val="accent5"/>
                </a:solidFill>
              </a:rPr>
              <a:t>Append-only and hash-chained</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SCALE  ·  WORK QUEUE</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Split per shipment, run entirely from Studio</a:t>
            </a:r>
            <a:endParaRPr lang="en-US" sz="3200" dirty="0"/>
          </a:p>
        </p:txBody>
      </p:sp>
      <p:sp>
        <p:nvSpPr>
          <p:cNvPr id="4" name="Main.xaml"/>
          <p:cNvSpPr/>
          <p:nvPr/>
        </p:nvSpPr>
        <p:spPr>
          <a:xfrm>
            <a:off x="548640" y="1737360"/>
            <a:ext cx="2377440" cy="1691640"/>
          </a:xfrm>
          <a:prstGeom prst="roundRect">
            <a:avLst>
              <a:gd name="adj" fmla="val 5405"/>
            </a:avLst>
          </a:prstGeom>
          <a:solidFill>
            <a:schemeClr val="bg2"/>
          </a:solidFill>
          <a:ln/>
        </p:spPr>
      </p:sp>
      <p:pic>
        <p:nvPicPr>
          <p:cNvPr id="5" name="Image 0" descr="Main.xaml">    </p:cNvPr>
          <p:cNvPicPr>
            <a:picLocks noChangeAspect="1"/>
          </p:cNvPicPr>
          <p:nvPr/>
        </p:nvPicPr>
        <p:blipFill>
          <a:blip r:embed="rId1"/>
          <a:stretch>
            <a:fillRect/>
          </a:stretch>
        </p:blipFill>
        <p:spPr>
          <a:xfrm>
            <a:off x="822960" y="1993392"/>
            <a:ext cx="457200" cy="457200"/>
          </a:xfrm>
          <a:prstGeom prst="rect">
            <a:avLst/>
          </a:prstGeom>
        </p:spPr>
      </p:pic>
      <p:sp>
        <p:nvSpPr>
          <p:cNvPr id="6" name="Text 3"/>
          <p:cNvSpPr txBox="1"/>
          <p:nvPr/>
        </p:nvSpPr>
        <p:spPr>
          <a:xfrm>
            <a:off x="822960" y="2578608"/>
            <a:ext cx="1828800" cy="347472"/>
          </a:xfrm>
          <a:prstGeom prst="rect">
            <a:avLst/>
          </a:prstGeom>
          <a:noFill/>
          <a:ln/>
        </p:spPr>
        <p:txBody>
          <a:bodyPr wrap="square" lIns="0" tIns="0" rIns="0" bIns="0" rtlCol="0" anchor="t"/>
          <a:lstStyle/>
          <a:p>
            <a:pPr indent="0" marL="0">
              <a:buNone/>
            </a:pPr>
            <a:r>
              <a:rPr lang="en-US" sz="1700" b="1" dirty="0">
                <a:solidFill>
                  <a:schemeClr val="tx1"/>
                </a:solidFill>
              </a:rPr>
              <a:t>Main.xaml</a:t>
            </a:r>
            <a:endParaRPr lang="en-US" sz="1700" dirty="0"/>
          </a:p>
        </p:txBody>
      </p:sp>
      <p:sp>
        <p:nvSpPr>
          <p:cNvPr id="7" name="Text 4"/>
          <p:cNvSpPr txBox="1"/>
          <p:nvPr/>
        </p:nvSpPr>
        <p:spPr>
          <a:xfrm>
            <a:off x="822960" y="2926080"/>
            <a:ext cx="1828800" cy="411480"/>
          </a:xfrm>
          <a:prstGeom prst="rect">
            <a:avLst/>
          </a:prstGeom>
          <a:noFill/>
          <a:ln/>
        </p:spPr>
        <p:txBody>
          <a:bodyPr wrap="square" lIns="0" tIns="0" rIns="0" bIns="0" rtlCol="0" anchor="t"/>
          <a:lstStyle/>
          <a:p>
            <a:pPr indent="0" marL="0">
              <a:buNone/>
            </a:pPr>
            <a:r>
              <a:rPr lang="en-US" sz="1300" dirty="0">
                <a:solidFill>
                  <a:schemeClr val="accent5"/>
                </a:solidFill>
              </a:rPr>
              <a:t>RunMode = DISPATCH</a:t>
            </a:r>
            <a:endParaRPr lang="en-US" sz="1300" dirty="0"/>
          </a:p>
        </p:txBody>
      </p:sp>
      <p:sp>
        <p:nvSpPr>
          <p:cNvPr id="8" name="Shape 5"/>
          <p:cNvSpPr/>
          <p:nvPr/>
        </p:nvSpPr>
        <p:spPr>
          <a:xfrm>
            <a:off x="2999232" y="2578608"/>
            <a:ext cx="381914" cy="914"/>
          </a:xfrm>
          <a:prstGeom prst="line">
            <a:avLst/>
          </a:prstGeom>
          <a:noFill/>
          <a:ln w="28575">
            <a:solidFill>
              <a:srgbClr val="5D6C79"/>
            </a:solidFill>
            <a:prstDash val="solid"/>
            <a:tailEnd type="triangle"/>
          </a:ln>
        </p:spPr>
      </p:sp>
      <p:sp>
        <p:nvSpPr>
          <p:cNvPr id="9" name="Work-queue file"/>
          <p:cNvSpPr/>
          <p:nvPr/>
        </p:nvSpPr>
        <p:spPr>
          <a:xfrm>
            <a:off x="3454298" y="1737360"/>
            <a:ext cx="2377440" cy="1691640"/>
          </a:xfrm>
          <a:prstGeom prst="roundRect">
            <a:avLst>
              <a:gd name="adj" fmla="val 5405"/>
            </a:avLst>
          </a:prstGeom>
          <a:solidFill>
            <a:schemeClr val="bg2"/>
          </a:solidFill>
          <a:ln/>
        </p:spPr>
      </p:sp>
      <p:pic>
        <p:nvPicPr>
          <p:cNvPr id="10" name="Image 1" descr="Work-queue file">    </p:cNvPr>
          <p:cNvPicPr>
            <a:picLocks noChangeAspect="1"/>
          </p:cNvPicPr>
          <p:nvPr/>
        </p:nvPicPr>
        <p:blipFill>
          <a:blip r:embed="rId2"/>
          <a:stretch>
            <a:fillRect/>
          </a:stretch>
        </p:blipFill>
        <p:spPr>
          <a:xfrm>
            <a:off x="3728618" y="1993392"/>
            <a:ext cx="457200" cy="457200"/>
          </a:xfrm>
          <a:prstGeom prst="rect">
            <a:avLst/>
          </a:prstGeom>
        </p:spPr>
      </p:pic>
      <p:sp>
        <p:nvSpPr>
          <p:cNvPr id="11" name="Text 7"/>
          <p:cNvSpPr txBox="1"/>
          <p:nvPr/>
        </p:nvSpPr>
        <p:spPr>
          <a:xfrm>
            <a:off x="3728618" y="2578608"/>
            <a:ext cx="1828800" cy="347472"/>
          </a:xfrm>
          <a:prstGeom prst="rect">
            <a:avLst/>
          </a:prstGeom>
          <a:noFill/>
          <a:ln/>
        </p:spPr>
        <p:txBody>
          <a:bodyPr wrap="square" lIns="0" tIns="0" rIns="0" bIns="0" rtlCol="0" anchor="t"/>
          <a:lstStyle/>
          <a:p>
            <a:pPr indent="0" marL="0">
              <a:buNone/>
            </a:pPr>
            <a:r>
              <a:rPr lang="en-US" sz="1700" b="1" dirty="0">
                <a:solidFill>
                  <a:schemeClr val="tx1"/>
                </a:solidFill>
              </a:rPr>
              <a:t>Work-queue file</a:t>
            </a:r>
            <a:endParaRPr lang="en-US" sz="1700" dirty="0"/>
          </a:p>
        </p:txBody>
      </p:sp>
      <p:sp>
        <p:nvSpPr>
          <p:cNvPr id="12" name="Text 8"/>
          <p:cNvSpPr txBox="1"/>
          <p:nvPr/>
        </p:nvSpPr>
        <p:spPr>
          <a:xfrm>
            <a:off x="3728618" y="2926080"/>
            <a:ext cx="1828800" cy="411480"/>
          </a:xfrm>
          <a:prstGeom prst="rect">
            <a:avLst/>
          </a:prstGeom>
          <a:noFill/>
          <a:ln/>
        </p:spPr>
        <p:txBody>
          <a:bodyPr wrap="square" lIns="0" tIns="0" rIns="0" bIns="0" rtlCol="0" anchor="t"/>
          <a:lstStyle/>
          <a:p>
            <a:pPr indent="0" marL="0">
              <a:buNone/>
            </a:pPr>
            <a:r>
              <a:rPr lang="en-US" sz="1300" dirty="0">
                <a:solidFill>
                  <a:schemeClr val="accent5"/>
                </a:solidFill>
              </a:rPr>
              <a:t>12 items, one per shipment</a:t>
            </a:r>
            <a:endParaRPr lang="en-US" sz="1300" dirty="0"/>
          </a:p>
        </p:txBody>
      </p:sp>
      <p:sp>
        <p:nvSpPr>
          <p:cNvPr id="13" name="Shape 9"/>
          <p:cNvSpPr/>
          <p:nvPr/>
        </p:nvSpPr>
        <p:spPr>
          <a:xfrm>
            <a:off x="5904890" y="2578608"/>
            <a:ext cx="381914" cy="914"/>
          </a:xfrm>
          <a:prstGeom prst="line">
            <a:avLst/>
          </a:prstGeom>
          <a:noFill/>
          <a:ln w="28575">
            <a:solidFill>
              <a:srgbClr val="5D6C79"/>
            </a:solidFill>
            <a:prstDash val="solid"/>
            <a:tailEnd type="triangle"/>
          </a:ln>
        </p:spPr>
      </p:sp>
      <p:sp>
        <p:nvSpPr>
          <p:cNvPr id="14" name="Performer.xaml"/>
          <p:cNvSpPr/>
          <p:nvPr/>
        </p:nvSpPr>
        <p:spPr>
          <a:xfrm>
            <a:off x="6359957" y="1737360"/>
            <a:ext cx="2377440" cy="1691640"/>
          </a:xfrm>
          <a:prstGeom prst="roundRect">
            <a:avLst>
              <a:gd name="adj" fmla="val 5405"/>
            </a:avLst>
          </a:prstGeom>
          <a:solidFill>
            <a:schemeClr val="bg2"/>
          </a:solidFill>
          <a:ln/>
        </p:spPr>
      </p:sp>
      <p:pic>
        <p:nvPicPr>
          <p:cNvPr id="15" name="Image 2" descr="Performer.xaml">    </p:cNvPr>
          <p:cNvPicPr>
            <a:picLocks noChangeAspect="1"/>
          </p:cNvPicPr>
          <p:nvPr/>
        </p:nvPicPr>
        <p:blipFill>
          <a:blip r:embed="rId3"/>
          <a:stretch>
            <a:fillRect/>
          </a:stretch>
        </p:blipFill>
        <p:spPr>
          <a:xfrm>
            <a:off x="6634277" y="1993392"/>
            <a:ext cx="457200" cy="457200"/>
          </a:xfrm>
          <a:prstGeom prst="rect">
            <a:avLst/>
          </a:prstGeom>
        </p:spPr>
      </p:pic>
      <p:sp>
        <p:nvSpPr>
          <p:cNvPr id="16" name="Text 11"/>
          <p:cNvSpPr txBox="1"/>
          <p:nvPr/>
        </p:nvSpPr>
        <p:spPr>
          <a:xfrm>
            <a:off x="6634277" y="2578608"/>
            <a:ext cx="1828800" cy="347472"/>
          </a:xfrm>
          <a:prstGeom prst="rect">
            <a:avLst/>
          </a:prstGeom>
          <a:noFill/>
          <a:ln/>
        </p:spPr>
        <p:txBody>
          <a:bodyPr wrap="square" lIns="0" tIns="0" rIns="0" bIns="0" rtlCol="0" anchor="t"/>
          <a:lstStyle/>
          <a:p>
            <a:pPr indent="0" marL="0">
              <a:buNone/>
            </a:pPr>
            <a:r>
              <a:rPr lang="en-US" sz="1700" b="1" dirty="0">
                <a:solidFill>
                  <a:schemeClr val="tx1"/>
                </a:solidFill>
              </a:rPr>
              <a:t>Performer.xaml</a:t>
            </a:r>
            <a:endParaRPr lang="en-US" sz="1700" dirty="0"/>
          </a:p>
        </p:txBody>
      </p:sp>
      <p:sp>
        <p:nvSpPr>
          <p:cNvPr id="17" name="Text 12"/>
          <p:cNvSpPr txBox="1"/>
          <p:nvPr/>
        </p:nvSpPr>
        <p:spPr>
          <a:xfrm>
            <a:off x="6634277" y="2926080"/>
            <a:ext cx="1828800" cy="411480"/>
          </a:xfrm>
          <a:prstGeom prst="rect">
            <a:avLst/>
          </a:prstGeom>
          <a:noFill/>
          <a:ln/>
        </p:spPr>
        <p:txBody>
          <a:bodyPr wrap="square" lIns="0" tIns="0" rIns="0" bIns="0" rtlCol="0" anchor="t"/>
          <a:lstStyle/>
          <a:p>
            <a:pPr indent="0" marL="0">
              <a:buNone/>
            </a:pPr>
            <a:r>
              <a:rPr lang="en-US" sz="1300" dirty="0">
                <a:solidFill>
                  <a:schemeClr val="accent5"/>
                </a:solidFill>
              </a:rPr>
              <a:t>its own entry point</a:t>
            </a:r>
            <a:endParaRPr lang="en-US" sz="1300" dirty="0"/>
          </a:p>
        </p:txBody>
      </p:sp>
      <p:sp>
        <p:nvSpPr>
          <p:cNvPr id="18" name="Shape 13"/>
          <p:cNvSpPr/>
          <p:nvPr/>
        </p:nvSpPr>
        <p:spPr>
          <a:xfrm>
            <a:off x="8810549" y="2578608"/>
            <a:ext cx="381914" cy="914"/>
          </a:xfrm>
          <a:prstGeom prst="line">
            <a:avLst/>
          </a:prstGeom>
          <a:noFill/>
          <a:ln w="28575">
            <a:solidFill>
              <a:srgbClr val="5D6C79"/>
            </a:solidFill>
            <a:prstDash val="solid"/>
            <a:tailEnd type="triangle"/>
          </a:ln>
        </p:spPr>
      </p:sp>
      <p:sp>
        <p:nvSpPr>
          <p:cNvPr id="19" name="Same evidence"/>
          <p:cNvSpPr/>
          <p:nvPr/>
        </p:nvSpPr>
        <p:spPr>
          <a:xfrm>
            <a:off x="9265615" y="1737360"/>
            <a:ext cx="2377440" cy="1691640"/>
          </a:xfrm>
          <a:prstGeom prst="roundRect">
            <a:avLst>
              <a:gd name="adj" fmla="val 5405"/>
            </a:avLst>
          </a:prstGeom>
          <a:solidFill>
            <a:schemeClr val="accent1"/>
          </a:solidFill>
          <a:ln/>
        </p:spPr>
      </p:sp>
      <p:pic>
        <p:nvPicPr>
          <p:cNvPr id="20" name="Image 3" descr="Same evidence">    </p:cNvPr>
          <p:cNvPicPr>
            <a:picLocks noChangeAspect="1"/>
          </p:cNvPicPr>
          <p:nvPr/>
        </p:nvPicPr>
        <p:blipFill>
          <a:blip r:embed="rId4"/>
          <a:stretch>
            <a:fillRect/>
          </a:stretch>
        </p:blipFill>
        <p:spPr>
          <a:xfrm>
            <a:off x="9539935" y="1993392"/>
            <a:ext cx="457200" cy="457200"/>
          </a:xfrm>
          <a:prstGeom prst="rect">
            <a:avLst/>
          </a:prstGeom>
        </p:spPr>
      </p:pic>
      <p:sp>
        <p:nvSpPr>
          <p:cNvPr id="21" name="Text 15"/>
          <p:cNvSpPr txBox="1"/>
          <p:nvPr/>
        </p:nvSpPr>
        <p:spPr>
          <a:xfrm>
            <a:off x="9539935" y="2578608"/>
            <a:ext cx="1828800" cy="347472"/>
          </a:xfrm>
          <a:prstGeom prst="rect">
            <a:avLst/>
          </a:prstGeom>
          <a:noFill/>
          <a:ln/>
        </p:spPr>
        <p:txBody>
          <a:bodyPr wrap="square" lIns="0" tIns="0" rIns="0" bIns="0" rtlCol="0" anchor="t"/>
          <a:lstStyle/>
          <a:p>
            <a:pPr indent="0" marL="0">
              <a:buNone/>
            </a:pPr>
            <a:r>
              <a:rPr lang="en-US" sz="1700" b="1" dirty="0">
                <a:solidFill>
                  <a:schemeClr val="bg1"/>
                </a:solidFill>
              </a:rPr>
              <a:t>Same evidence</a:t>
            </a:r>
            <a:endParaRPr lang="en-US" sz="1700" dirty="0"/>
          </a:p>
        </p:txBody>
      </p:sp>
      <p:sp>
        <p:nvSpPr>
          <p:cNvPr id="22" name="Text 16"/>
          <p:cNvSpPr txBox="1"/>
          <p:nvPr/>
        </p:nvSpPr>
        <p:spPr>
          <a:xfrm>
            <a:off x="9539935" y="2926080"/>
            <a:ext cx="1828800" cy="411480"/>
          </a:xfrm>
          <a:prstGeom prst="rect">
            <a:avLst/>
          </a:prstGeom>
          <a:noFill/>
          <a:ln/>
        </p:spPr>
        <p:txBody>
          <a:bodyPr wrap="square" lIns="0" tIns="0" rIns="0" bIns="0" rtlCol="0" anchor="t"/>
          <a:lstStyle/>
          <a:p>
            <a:pPr indent="0" marL="0">
              <a:buNone/>
            </a:pPr>
            <a:r>
              <a:rPr lang="en-US" sz="1300" dirty="0">
                <a:solidFill>
                  <a:schemeClr val="bg1"/>
                </a:solidFill>
              </a:rPr>
              <a:t>48 / 40 / 1 / 7, chain VALID</a:t>
            </a:r>
            <a:endParaRPr lang="en-US" sz="1300" dirty="0"/>
          </a:p>
        </p:txBody>
      </p:sp>
      <p:sp>
        <p:nvSpPr>
          <p:cNvPr id="23" name="Why a shipment"/>
          <p:cNvSpPr/>
          <p:nvPr/>
        </p:nvSpPr>
        <p:spPr>
          <a:xfrm>
            <a:off x="548640" y="3749040"/>
            <a:ext cx="5410048" cy="2377440"/>
          </a:xfrm>
          <a:prstGeom prst="roundRect">
            <a:avLst>
              <a:gd name="adj" fmla="val 3846"/>
            </a:avLst>
          </a:prstGeom>
          <a:solidFill>
            <a:schemeClr val="bg1"/>
          </a:solidFill>
          <a:ln w="12700">
            <a:solidFill>
              <a:srgbClr val="D5E1DF"/>
            </a:solidFill>
            <a:prstDash val="solid"/>
          </a:ln>
        </p:spPr>
      </p:sp>
      <p:sp>
        <p:nvSpPr>
          <p:cNvPr id="24" name="Shipment badge"/>
          <p:cNvSpPr/>
          <p:nvPr/>
        </p:nvSpPr>
        <p:spPr>
          <a:xfrm>
            <a:off x="822960" y="4023360"/>
            <a:ext cx="640080" cy="640080"/>
          </a:xfrm>
          <a:prstGeom prst="ellipse">
            <a:avLst/>
          </a:prstGeom>
          <a:solidFill>
            <a:schemeClr val="accent1"/>
          </a:solidFill>
          <a:ln/>
        </p:spPr>
      </p:sp>
      <p:pic>
        <p:nvPicPr>
          <p:cNvPr id="25" name="Image 4" descr="Shipment">    </p:cNvPr>
          <p:cNvPicPr>
            <a:picLocks noChangeAspect="1"/>
          </p:cNvPicPr>
          <p:nvPr/>
        </p:nvPicPr>
        <p:blipFill>
          <a:blip r:embed="rId5"/>
          <a:stretch>
            <a:fillRect/>
          </a:stretch>
        </p:blipFill>
        <p:spPr>
          <a:xfrm>
            <a:off x="982980" y="4183380"/>
            <a:ext cx="320040" cy="320040"/>
          </a:xfrm>
          <a:prstGeom prst="rect">
            <a:avLst/>
          </a:prstGeom>
        </p:spPr>
      </p:pic>
      <p:sp>
        <p:nvSpPr>
          <p:cNvPr id="26" name="Text 19"/>
          <p:cNvSpPr txBox="1"/>
          <p:nvPr/>
        </p:nvSpPr>
        <p:spPr>
          <a:xfrm>
            <a:off x="1645920" y="4041648"/>
            <a:ext cx="4084168" cy="594360"/>
          </a:xfrm>
          <a:prstGeom prst="rect">
            <a:avLst/>
          </a:prstGeom>
          <a:noFill/>
          <a:ln/>
        </p:spPr>
        <p:txBody>
          <a:bodyPr wrap="square" lIns="0" tIns="0" rIns="0" bIns="0" rtlCol="0" anchor="ctr"/>
          <a:lstStyle/>
          <a:p>
            <a:pPr indent="0" marL="0">
              <a:buNone/>
            </a:pPr>
            <a:r>
              <a:rPr lang="en-US" sz="1700" b="1" dirty="0">
                <a:solidFill>
                  <a:schemeClr val="tx1"/>
                </a:solidFill>
              </a:rPr>
              <a:t>Why a shipment, not a transaction</a:t>
            </a:r>
            <a:endParaRPr lang="en-US" sz="1700" dirty="0"/>
          </a:p>
        </p:txBody>
      </p:sp>
      <p:sp>
        <p:nvSpPr>
          <p:cNvPr id="27" name="Text 20"/>
          <p:cNvSpPr txBox="1"/>
          <p:nvPr/>
        </p:nvSpPr>
        <p:spPr>
          <a:xfrm>
            <a:off x="822960" y="4800600"/>
            <a:ext cx="4861408" cy="1234440"/>
          </a:xfrm>
          <a:prstGeom prst="rect">
            <a:avLst/>
          </a:prstGeom>
          <a:noFill/>
          <a:ln/>
        </p:spPr>
        <p:txBody>
          <a:bodyPr wrap="square" lIns="0" tIns="0" rIns="0" bIns="0" rtlCol="0" anchor="t"/>
          <a:lstStyle/>
          <a:p>
            <a:pPr indent="0" marL="0">
              <a:buNone/>
            </a:pPr>
            <a:r>
              <a:rPr lang="en-US" sz="1400" dirty="0">
                <a:solidFill>
                  <a:schemeClr val="accent5"/>
                </a:solidFill>
              </a:rPr>
              <a:t>Three of the six rules compare events against each other: duplicates, ordering and required events. A shipment is the smallest unit that keeps every rule meaningful.</a:t>
            </a:r>
            <a:endParaRPr lang="en-US" sz="1400" dirty="0"/>
          </a:p>
        </p:txBody>
      </p:sp>
      <p:sp>
        <p:nvSpPr>
          <p:cNvPr id="28" name="Studio only"/>
          <p:cNvSpPr/>
          <p:nvPr/>
        </p:nvSpPr>
        <p:spPr>
          <a:xfrm>
            <a:off x="6233008" y="3749040"/>
            <a:ext cx="5410048" cy="2377440"/>
          </a:xfrm>
          <a:prstGeom prst="roundRect">
            <a:avLst>
              <a:gd name="adj" fmla="val 3846"/>
            </a:avLst>
          </a:prstGeom>
          <a:solidFill>
            <a:schemeClr val="bg1"/>
          </a:solidFill>
          <a:ln w="12700">
            <a:solidFill>
              <a:srgbClr val="D5E1DF"/>
            </a:solidFill>
            <a:prstDash val="solid"/>
          </a:ln>
        </p:spPr>
      </p:sp>
      <p:sp>
        <p:nvSpPr>
          <p:cNvPr id="29" name="Studio badge"/>
          <p:cNvSpPr/>
          <p:nvPr/>
        </p:nvSpPr>
        <p:spPr>
          <a:xfrm>
            <a:off x="6507328" y="4023360"/>
            <a:ext cx="640080" cy="640080"/>
          </a:xfrm>
          <a:prstGeom prst="ellipse">
            <a:avLst/>
          </a:prstGeom>
          <a:solidFill>
            <a:schemeClr val="accent1"/>
          </a:solidFill>
          <a:ln/>
        </p:spPr>
      </p:sp>
      <p:pic>
        <p:nvPicPr>
          <p:cNvPr id="30" name="Image 5" descr="Studio">    </p:cNvPr>
          <p:cNvPicPr>
            <a:picLocks noChangeAspect="1"/>
          </p:cNvPicPr>
          <p:nvPr/>
        </p:nvPicPr>
        <p:blipFill>
          <a:blip r:embed="rId6"/>
          <a:stretch>
            <a:fillRect/>
          </a:stretch>
        </p:blipFill>
        <p:spPr>
          <a:xfrm>
            <a:off x="6667348" y="4183380"/>
            <a:ext cx="320040" cy="320040"/>
          </a:xfrm>
          <a:prstGeom prst="rect">
            <a:avLst/>
          </a:prstGeom>
        </p:spPr>
      </p:pic>
      <p:sp>
        <p:nvSpPr>
          <p:cNvPr id="31" name="Text 23"/>
          <p:cNvSpPr txBox="1"/>
          <p:nvPr/>
        </p:nvSpPr>
        <p:spPr>
          <a:xfrm>
            <a:off x="7330288" y="4041648"/>
            <a:ext cx="4084168" cy="594360"/>
          </a:xfrm>
          <a:prstGeom prst="rect">
            <a:avLst/>
          </a:prstGeom>
          <a:noFill/>
          <a:ln/>
        </p:spPr>
        <p:txBody>
          <a:bodyPr wrap="square" lIns="0" tIns="0" rIns="0" bIns="0" rtlCol="0" anchor="ctr"/>
          <a:lstStyle/>
          <a:p>
            <a:pPr indent="0" marL="0">
              <a:buNone/>
            </a:pPr>
            <a:r>
              <a:rPr lang="en-US" sz="1700" b="1" dirty="0">
                <a:solidFill>
                  <a:schemeClr val="tx1"/>
                </a:solidFill>
              </a:rPr>
              <a:t>UiPath Studio only - no Orchestrator</a:t>
            </a:r>
            <a:endParaRPr lang="en-US" sz="1700" dirty="0"/>
          </a:p>
        </p:txBody>
      </p:sp>
      <p:sp>
        <p:nvSpPr>
          <p:cNvPr id="32" name="Text 24"/>
          <p:cNvSpPr txBox="1"/>
          <p:nvPr/>
        </p:nvSpPr>
        <p:spPr>
          <a:xfrm>
            <a:off x="6507328" y="4800600"/>
            <a:ext cx="4861408" cy="1234440"/>
          </a:xfrm>
          <a:prstGeom prst="rect">
            <a:avLst/>
          </a:prstGeom>
          <a:noFill/>
          <a:ln/>
        </p:spPr>
        <p:txBody>
          <a:bodyPr wrap="square" lIns="0" tIns="0" rIns="0" bIns="0" rtlCol="0" anchor="t"/>
          <a:lstStyle/>
          <a:p>
            <a:pPr indent="0" marL="0">
              <a:buNone/>
            </a:pPr>
            <a:r>
              <a:rPr lang="en-US" sz="1400" dirty="0">
                <a:solidFill>
                  <a:schemeClr val="accent5"/>
                </a:solidFill>
              </a:rPr>
              <a:t>The queue is a local file. Moving to Orchestrator would swap it for Add Queue Item and Get Transaction Item; the validation would not change.</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VERIFICATION</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One command verifies every claim in this deck</a:t>
            </a:r>
            <a:endParaRPr lang="en-US" sz="3200" dirty="0"/>
          </a:p>
        </p:txBody>
      </p:sp>
      <p:sp>
        <p:nvSpPr>
          <p:cNvPr id="4" name="acceptance checks passing"/>
          <p:cNvSpPr/>
          <p:nvPr/>
        </p:nvSpPr>
        <p:spPr>
          <a:xfrm>
            <a:off x="548640" y="1645920"/>
            <a:ext cx="2567864" cy="1325880"/>
          </a:xfrm>
          <a:prstGeom prst="roundRect">
            <a:avLst>
              <a:gd name="adj" fmla="val 6897"/>
            </a:avLst>
          </a:prstGeom>
          <a:solidFill>
            <a:schemeClr val="bg2"/>
          </a:solidFill>
          <a:ln/>
        </p:spPr>
      </p:sp>
      <p:sp>
        <p:nvSpPr>
          <p:cNvPr id="5" name="Text 3"/>
          <p:cNvSpPr txBox="1"/>
          <p:nvPr/>
        </p:nvSpPr>
        <p:spPr>
          <a:xfrm>
            <a:off x="822960" y="1737360"/>
            <a:ext cx="2019224" cy="731520"/>
          </a:xfrm>
          <a:prstGeom prst="rect">
            <a:avLst/>
          </a:prstGeom>
          <a:noFill/>
          <a:ln/>
        </p:spPr>
        <p:txBody>
          <a:bodyPr wrap="square" lIns="0" tIns="0" rIns="0" bIns="0" rtlCol="0" anchor="t"/>
          <a:lstStyle/>
          <a:p>
            <a:pPr indent="0" marL="0">
              <a:buNone/>
            </a:pPr>
            <a:r>
              <a:rPr lang="en-US" sz="4000" b="1" dirty="0">
                <a:solidFill>
                  <a:schemeClr val="accent4"/>
                </a:solidFill>
              </a:rPr>
              <a:t>21/21</a:t>
            </a:r>
            <a:endParaRPr lang="en-US" sz="4000" dirty="0"/>
          </a:p>
        </p:txBody>
      </p:sp>
      <p:sp>
        <p:nvSpPr>
          <p:cNvPr id="6" name="Text 4"/>
          <p:cNvSpPr txBox="1"/>
          <p:nvPr/>
        </p:nvSpPr>
        <p:spPr>
          <a:xfrm>
            <a:off x="822960" y="2468880"/>
            <a:ext cx="2019224" cy="365760"/>
          </a:xfrm>
          <a:prstGeom prst="rect">
            <a:avLst/>
          </a:prstGeom>
          <a:noFill/>
          <a:ln/>
        </p:spPr>
        <p:txBody>
          <a:bodyPr wrap="square" lIns="0" tIns="0" rIns="0" bIns="0" rtlCol="0" anchor="t"/>
          <a:lstStyle/>
          <a:p>
            <a:pPr indent="0" marL="0">
              <a:buNone/>
            </a:pPr>
            <a:r>
              <a:rPr lang="en-US" sz="1400" dirty="0">
                <a:solidFill>
                  <a:schemeClr val="accent5"/>
                </a:solidFill>
              </a:rPr>
              <a:t>acceptance checks passing</a:t>
            </a:r>
            <a:endParaRPr lang="en-US" sz="1400" dirty="0"/>
          </a:p>
        </p:txBody>
      </p:sp>
      <p:sp>
        <p:nvSpPr>
          <p:cNvPr id="7" name="UiPath test cases passing"/>
          <p:cNvSpPr/>
          <p:nvPr/>
        </p:nvSpPr>
        <p:spPr>
          <a:xfrm>
            <a:off x="3390824" y="1645920"/>
            <a:ext cx="2567864" cy="1325880"/>
          </a:xfrm>
          <a:prstGeom prst="roundRect">
            <a:avLst>
              <a:gd name="adj" fmla="val 6897"/>
            </a:avLst>
          </a:prstGeom>
          <a:solidFill>
            <a:schemeClr val="bg2"/>
          </a:solidFill>
          <a:ln/>
        </p:spPr>
      </p:sp>
      <p:sp>
        <p:nvSpPr>
          <p:cNvPr id="8" name="Text 6"/>
          <p:cNvSpPr txBox="1"/>
          <p:nvPr/>
        </p:nvSpPr>
        <p:spPr>
          <a:xfrm>
            <a:off x="3665144" y="1737360"/>
            <a:ext cx="2019224" cy="731520"/>
          </a:xfrm>
          <a:prstGeom prst="rect">
            <a:avLst/>
          </a:prstGeom>
          <a:noFill/>
          <a:ln/>
        </p:spPr>
        <p:txBody>
          <a:bodyPr wrap="square" lIns="0" tIns="0" rIns="0" bIns="0" rtlCol="0" anchor="t"/>
          <a:lstStyle/>
          <a:p>
            <a:pPr indent="0" marL="0">
              <a:buNone/>
            </a:pPr>
            <a:r>
              <a:rPr lang="en-US" sz="4000" b="1" dirty="0">
                <a:solidFill>
                  <a:schemeClr val="accent4"/>
                </a:solidFill>
              </a:rPr>
              <a:t>12/12</a:t>
            </a:r>
            <a:endParaRPr lang="en-US" sz="4000" dirty="0"/>
          </a:p>
        </p:txBody>
      </p:sp>
      <p:sp>
        <p:nvSpPr>
          <p:cNvPr id="9" name="Text 7"/>
          <p:cNvSpPr txBox="1"/>
          <p:nvPr/>
        </p:nvSpPr>
        <p:spPr>
          <a:xfrm>
            <a:off x="3665144" y="2468880"/>
            <a:ext cx="2019224" cy="365760"/>
          </a:xfrm>
          <a:prstGeom prst="rect">
            <a:avLst/>
          </a:prstGeom>
          <a:noFill/>
          <a:ln/>
        </p:spPr>
        <p:txBody>
          <a:bodyPr wrap="square" lIns="0" tIns="0" rIns="0" bIns="0" rtlCol="0" anchor="t"/>
          <a:lstStyle/>
          <a:p>
            <a:pPr indent="0" marL="0">
              <a:buNone/>
            </a:pPr>
            <a:r>
              <a:rPr lang="en-US" sz="1400" dirty="0">
                <a:solidFill>
                  <a:schemeClr val="accent5"/>
                </a:solidFill>
              </a:rPr>
              <a:t>UiPath test cases passing</a:t>
            </a:r>
            <a:endParaRPr lang="en-US" sz="1400" dirty="0"/>
          </a:p>
        </p:txBody>
      </p:sp>
      <p:sp>
        <p:nvSpPr>
          <p:cNvPr id="10" name="Workflow Analyzer errors"/>
          <p:cNvSpPr/>
          <p:nvPr/>
        </p:nvSpPr>
        <p:spPr>
          <a:xfrm>
            <a:off x="6233008" y="1645920"/>
            <a:ext cx="2567864" cy="1325880"/>
          </a:xfrm>
          <a:prstGeom prst="roundRect">
            <a:avLst>
              <a:gd name="adj" fmla="val 6897"/>
            </a:avLst>
          </a:prstGeom>
          <a:solidFill>
            <a:schemeClr val="bg2"/>
          </a:solidFill>
          <a:ln/>
        </p:spPr>
      </p:sp>
      <p:sp>
        <p:nvSpPr>
          <p:cNvPr id="11" name="Text 9"/>
          <p:cNvSpPr txBox="1"/>
          <p:nvPr/>
        </p:nvSpPr>
        <p:spPr>
          <a:xfrm>
            <a:off x="6507328" y="1737360"/>
            <a:ext cx="2019224" cy="731520"/>
          </a:xfrm>
          <a:prstGeom prst="rect">
            <a:avLst/>
          </a:prstGeom>
          <a:noFill/>
          <a:ln/>
        </p:spPr>
        <p:txBody>
          <a:bodyPr wrap="square" lIns="0" tIns="0" rIns="0" bIns="0" rtlCol="0" anchor="t"/>
          <a:lstStyle/>
          <a:p>
            <a:pPr indent="0" marL="0">
              <a:buNone/>
            </a:pPr>
            <a:r>
              <a:rPr lang="en-US" sz="4000" b="1" dirty="0">
                <a:solidFill>
                  <a:schemeClr val="accent4"/>
                </a:solidFill>
              </a:rPr>
              <a:t>0</a:t>
            </a:r>
            <a:endParaRPr lang="en-US" sz="4000" dirty="0"/>
          </a:p>
        </p:txBody>
      </p:sp>
      <p:sp>
        <p:nvSpPr>
          <p:cNvPr id="12" name="Text 10"/>
          <p:cNvSpPr txBox="1"/>
          <p:nvPr/>
        </p:nvSpPr>
        <p:spPr>
          <a:xfrm>
            <a:off x="6507328" y="2468880"/>
            <a:ext cx="2019224" cy="365760"/>
          </a:xfrm>
          <a:prstGeom prst="rect">
            <a:avLst/>
          </a:prstGeom>
          <a:noFill/>
          <a:ln/>
        </p:spPr>
        <p:txBody>
          <a:bodyPr wrap="square" lIns="0" tIns="0" rIns="0" bIns="0" rtlCol="0" anchor="t"/>
          <a:lstStyle/>
          <a:p>
            <a:pPr indent="0" marL="0">
              <a:buNone/>
            </a:pPr>
            <a:r>
              <a:rPr lang="en-US" sz="1400" dirty="0">
                <a:solidFill>
                  <a:schemeClr val="accent5"/>
                </a:solidFill>
              </a:rPr>
              <a:t>Workflow Analyzer errors</a:t>
            </a:r>
            <a:endParaRPr lang="en-US" sz="1400" dirty="0"/>
          </a:p>
        </p:txBody>
      </p:sp>
      <p:sp>
        <p:nvSpPr>
          <p:cNvPr id="13" name="Invoke Code bodies compile"/>
          <p:cNvSpPr/>
          <p:nvPr/>
        </p:nvSpPr>
        <p:spPr>
          <a:xfrm>
            <a:off x="9075191" y="1645920"/>
            <a:ext cx="2567864" cy="1325880"/>
          </a:xfrm>
          <a:prstGeom prst="roundRect">
            <a:avLst>
              <a:gd name="adj" fmla="val 6897"/>
            </a:avLst>
          </a:prstGeom>
          <a:solidFill>
            <a:schemeClr val="bg2"/>
          </a:solidFill>
          <a:ln/>
        </p:spPr>
      </p:sp>
      <p:sp>
        <p:nvSpPr>
          <p:cNvPr id="14" name="Text 12"/>
          <p:cNvSpPr txBox="1"/>
          <p:nvPr/>
        </p:nvSpPr>
        <p:spPr>
          <a:xfrm>
            <a:off x="9349511" y="1737360"/>
            <a:ext cx="2019224" cy="731520"/>
          </a:xfrm>
          <a:prstGeom prst="rect">
            <a:avLst/>
          </a:prstGeom>
          <a:noFill/>
          <a:ln/>
        </p:spPr>
        <p:txBody>
          <a:bodyPr wrap="square" lIns="0" tIns="0" rIns="0" bIns="0" rtlCol="0" anchor="t"/>
          <a:lstStyle/>
          <a:p>
            <a:pPr indent="0" marL="0">
              <a:buNone/>
            </a:pPr>
            <a:r>
              <a:rPr lang="en-US" sz="4000" b="1" dirty="0">
                <a:solidFill>
                  <a:schemeClr val="accent4"/>
                </a:solidFill>
              </a:rPr>
              <a:t>58/58</a:t>
            </a:r>
            <a:endParaRPr lang="en-US" sz="4000" dirty="0"/>
          </a:p>
        </p:txBody>
      </p:sp>
      <p:sp>
        <p:nvSpPr>
          <p:cNvPr id="15" name="Text 13"/>
          <p:cNvSpPr txBox="1"/>
          <p:nvPr/>
        </p:nvSpPr>
        <p:spPr>
          <a:xfrm>
            <a:off x="9349511" y="2468880"/>
            <a:ext cx="2019224" cy="365760"/>
          </a:xfrm>
          <a:prstGeom prst="rect">
            <a:avLst/>
          </a:prstGeom>
          <a:noFill/>
          <a:ln/>
        </p:spPr>
        <p:txBody>
          <a:bodyPr wrap="square" lIns="0" tIns="0" rIns="0" bIns="0" rtlCol="0" anchor="t"/>
          <a:lstStyle/>
          <a:p>
            <a:pPr indent="0" marL="0">
              <a:buNone/>
            </a:pPr>
            <a:r>
              <a:rPr lang="en-US" sz="1400" dirty="0">
                <a:solidFill>
                  <a:schemeClr val="accent5"/>
                </a:solidFill>
              </a:rPr>
              <a:t>Invoke Code bodies compile</a:t>
            </a:r>
            <a:endParaRPr lang="en-US" sz="1400" dirty="0"/>
          </a:p>
        </p:txBody>
      </p:sp>
      <p:sp>
        <p:nvSpPr>
          <p:cNvPr id="16" name="Text 14"/>
          <p:cNvSpPr txBox="1"/>
          <p:nvPr/>
        </p:nvSpPr>
        <p:spPr>
          <a:xfrm>
            <a:off x="548640" y="3200400"/>
            <a:ext cx="6858000" cy="365760"/>
          </a:xfrm>
          <a:prstGeom prst="rect">
            <a:avLst/>
          </a:prstGeom>
          <a:noFill/>
          <a:ln/>
        </p:spPr>
        <p:txBody>
          <a:bodyPr wrap="square" lIns="0" tIns="0" rIns="0" bIns="0" rtlCol="0" anchor="t"/>
          <a:lstStyle/>
          <a:p>
            <a:pPr indent="0" marL="0">
              <a:buNone/>
            </a:pPr>
            <a:r>
              <a:rPr lang="en-US" sz="1600" b="1" dirty="0">
                <a:solidFill>
                  <a:schemeClr val="tx1"/>
                </a:solidFill>
              </a:rPr>
              <a:t>The acceptance suite covers</a:t>
            </a:r>
            <a:endParaRPr lang="en-US" sz="1600" dirty="0"/>
          </a:p>
        </p:txBody>
      </p:sp>
      <p:sp>
        <p:nvSpPr>
          <p:cNvPr id="17" name="Text 15"/>
          <p:cNvSpPr txBox="1"/>
          <p:nvPr/>
        </p:nvSpPr>
        <p:spPr>
          <a:xfrm>
            <a:off x="548640" y="3639312"/>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Seeded anomalies and the ABI decoding</a:t>
            </a:r>
            <a:endParaRPr lang="en-US" sz="1350" dirty="0"/>
          </a:p>
        </p:txBody>
      </p:sp>
      <p:sp>
        <p:nvSpPr>
          <p:cNvPr id="18" name="Text 16"/>
          <p:cNvSpPr txBox="1"/>
          <p:nvPr/>
        </p:nvSpPr>
        <p:spPr>
          <a:xfrm>
            <a:off x="3977640" y="3639312"/>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All six rules, exact counts</a:t>
            </a:r>
            <a:endParaRPr lang="en-US" sz="1350" dirty="0"/>
          </a:p>
        </p:txBody>
      </p:sp>
      <p:sp>
        <p:nvSpPr>
          <p:cNvPr id="19" name="Text 17"/>
          <p:cNvSpPr txBox="1"/>
          <p:nvPr/>
        </p:nvSpPr>
        <p:spPr>
          <a:xfrm>
            <a:off x="548640" y="4023360"/>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A rule switched off in Excel</a:t>
            </a:r>
            <a:endParaRPr lang="en-US" sz="1350" dirty="0"/>
          </a:p>
        </p:txBody>
      </p:sp>
      <p:sp>
        <p:nvSpPr>
          <p:cNvPr id="20" name="Text 18"/>
          <p:cNvSpPr txBox="1"/>
          <p:nvPr/>
        </p:nvSpPr>
        <p:spPr>
          <a:xfrm>
            <a:off x="3977640" y="4023360"/>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Three feeds, two schemas, one result</a:t>
            </a:r>
            <a:endParaRPr lang="en-US" sz="1350" dirty="0"/>
          </a:p>
        </p:txBody>
      </p:sp>
      <p:sp>
        <p:nvSpPr>
          <p:cNvPr id="21" name="Text 19"/>
          <p:cNvSpPr txBox="1"/>
          <p:nvPr/>
        </p:nvSpPr>
        <p:spPr>
          <a:xfrm>
            <a:off x="548640" y="4407408"/>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Tampering found at the exact line</a:t>
            </a:r>
            <a:endParaRPr lang="en-US" sz="1350" dirty="0"/>
          </a:p>
        </p:txBody>
      </p:sp>
      <p:sp>
        <p:nvSpPr>
          <p:cNvPr id="22" name="Text 20"/>
          <p:cNvSpPr txBox="1"/>
          <p:nvPr/>
        </p:nvSpPr>
        <p:spPr>
          <a:xfrm>
            <a:off x="3977640" y="4407408"/>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WEB, API and CSV / SQL ERP sources</a:t>
            </a:r>
            <a:endParaRPr lang="en-US" sz="1350" dirty="0"/>
          </a:p>
        </p:txBody>
      </p:sp>
      <p:sp>
        <p:nvSpPr>
          <p:cNvPr id="23" name="Text 21"/>
          <p:cNvSpPr txBox="1"/>
          <p:nvPr/>
        </p:nvSpPr>
        <p:spPr>
          <a:xfrm>
            <a:off x="548640" y="4791456"/>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Excel, PDF, dashboard and alerts</a:t>
            </a:r>
            <a:endParaRPr lang="en-US" sz="1350" dirty="0"/>
          </a:p>
        </p:txBody>
      </p:sp>
      <p:sp>
        <p:nvSpPr>
          <p:cNvPr id="24" name="Text 22"/>
          <p:cNvSpPr txBox="1"/>
          <p:nvPr/>
        </p:nvSpPr>
        <p:spPr>
          <a:xfrm>
            <a:off x="3977640" y="4791456"/>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Dispatch and Performer</a:t>
            </a:r>
            <a:endParaRPr lang="en-US" sz="1350" dirty="0"/>
          </a:p>
        </p:txBody>
      </p:sp>
      <p:sp>
        <p:nvSpPr>
          <p:cNvPr id="25" name="Text 23"/>
          <p:cNvSpPr txBox="1"/>
          <p:nvPr/>
        </p:nvSpPr>
        <p:spPr>
          <a:xfrm>
            <a:off x="548640" y="5175504"/>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Review window answered by UI Automation</a:t>
            </a:r>
            <a:endParaRPr lang="en-US" sz="1350" dirty="0"/>
          </a:p>
        </p:txBody>
      </p:sp>
      <p:sp>
        <p:nvSpPr>
          <p:cNvPr id="26" name="Text 24"/>
          <p:cNvSpPr txBox="1"/>
          <p:nvPr/>
        </p:nvSpPr>
        <p:spPr>
          <a:xfrm>
            <a:off x="3977640" y="5175504"/>
            <a:ext cx="3383280" cy="365760"/>
          </a:xfrm>
          <a:prstGeom prst="rect">
            <a:avLst/>
          </a:prstGeom>
          <a:noFill/>
          <a:ln/>
        </p:spPr>
        <p:txBody>
          <a:bodyPr wrap="square" lIns="0" tIns="0" rIns="0" bIns="0" rtlCol="0" anchor="t"/>
          <a:lstStyle/>
          <a:p>
            <a:pPr indent="0" marL="0">
              <a:buNone/>
            </a:pPr>
            <a:r>
              <a:rPr lang="en-US" sz="1350" b="1" dirty="0">
                <a:solidFill>
                  <a:schemeClr val="accent4"/>
                </a:solidFill>
              </a:rPr>
              <a:t>✓  </a:t>
            </a:r>
            <a:pPr indent="0" marL="0">
              <a:buNone/>
            </a:pPr>
            <a:r>
              <a:rPr lang="en-US" sz="1350" dirty="0">
                <a:solidFill>
                  <a:schemeClr val="tx1"/>
                </a:solidFill>
              </a:rPr>
              <a:t>A failed run is logged and screenshotted</a:t>
            </a:r>
            <a:endParaRPr lang="en-US" sz="1350" dirty="0"/>
          </a:p>
        </p:txBody>
      </p:sp>
      <p:sp>
        <p:nvSpPr>
          <p:cNvPr id="27" name="A test found a bug"/>
          <p:cNvSpPr/>
          <p:nvPr/>
        </p:nvSpPr>
        <p:spPr>
          <a:xfrm>
            <a:off x="7772400" y="3200400"/>
            <a:ext cx="3870655" cy="2377440"/>
          </a:xfrm>
          <a:prstGeom prst="roundRect">
            <a:avLst>
              <a:gd name="adj" fmla="val 3846"/>
            </a:avLst>
          </a:prstGeom>
          <a:solidFill>
            <a:srgbClr val="E6F4EC"/>
          </a:solidFill>
          <a:ln/>
        </p:spPr>
      </p:sp>
      <p:sp>
        <p:nvSpPr>
          <p:cNvPr id="28" name="Text 26"/>
          <p:cNvSpPr txBox="1"/>
          <p:nvPr/>
        </p:nvSpPr>
        <p:spPr>
          <a:xfrm>
            <a:off x="8046720" y="3364992"/>
            <a:ext cx="3322015" cy="365760"/>
          </a:xfrm>
          <a:prstGeom prst="rect">
            <a:avLst/>
          </a:prstGeom>
          <a:noFill/>
          <a:ln/>
        </p:spPr>
        <p:txBody>
          <a:bodyPr wrap="square" lIns="0" tIns="0" rIns="0" bIns="0" rtlCol="0" anchor="t"/>
          <a:lstStyle/>
          <a:p>
            <a:pPr indent="0" marL="0">
              <a:buNone/>
            </a:pPr>
            <a:r>
              <a:rPr lang="en-US" sz="1600" b="1" dirty="0">
                <a:solidFill>
                  <a:schemeClr val="accent4"/>
                </a:solidFill>
              </a:rPr>
              <a:t>A test found a real bug</a:t>
            </a:r>
            <a:endParaRPr lang="en-US" sz="1600" dirty="0"/>
          </a:p>
        </p:txBody>
      </p:sp>
      <p:sp>
        <p:nvSpPr>
          <p:cNvPr id="29" name="Text 27"/>
          <p:cNvSpPr txBox="1"/>
          <p:nvPr/>
        </p:nvSpPr>
        <p:spPr>
          <a:xfrm>
            <a:off x="8046720" y="3767328"/>
            <a:ext cx="3322015" cy="1691640"/>
          </a:xfrm>
          <a:prstGeom prst="rect">
            <a:avLst/>
          </a:prstGeom>
          <a:noFill/>
          <a:ln/>
        </p:spPr>
        <p:txBody>
          <a:bodyPr wrap="square" lIns="0" tIns="0" rIns="0" bIns="0" rtlCol="0" anchor="t"/>
          <a:lstStyle/>
          <a:p>
            <a:pPr indent="0" marL="0">
              <a:buNone/>
            </a:pPr>
            <a:r>
              <a:rPr lang="en-US" sz="1400" dirty="0">
                <a:solidFill>
                  <a:schemeClr val="tx1"/>
                </a:solidFill>
              </a:rPr>
              <a:t>Writing the duplicate-detection test showed R4 assumed a hash was at least 12 characters, and crashed on a malformed one. Found, fixed and now covered.</a:t>
            </a:r>
            <a:endParaRPr lang="en-US" sz="1400" dirty="0"/>
          </a:p>
        </p:txBody>
      </p:sp>
      <p:sp>
        <p:nvSpPr>
          <p:cNvPr id="30" name="Shape 28"/>
          <p:cNvSpPr/>
          <p:nvPr/>
        </p:nvSpPr>
        <p:spPr>
          <a:xfrm>
            <a:off x="548640" y="5715000"/>
            <a:ext cx="11094415" cy="457200"/>
          </a:xfrm>
          <a:prstGeom prst="roundRect">
            <a:avLst>
              <a:gd name="adj" fmla="val 16000"/>
            </a:avLst>
          </a:prstGeom>
          <a:solidFill>
            <a:schemeClr val="bg2"/>
          </a:solidFill>
          <a:ln/>
        </p:spPr>
      </p:sp>
      <p:sp>
        <p:nvSpPr>
          <p:cNvPr id="31" name="Text 29"/>
          <p:cNvSpPr txBox="1"/>
          <p:nvPr/>
        </p:nvSpPr>
        <p:spPr>
          <a:xfrm>
            <a:off x="822960" y="5715000"/>
            <a:ext cx="10545775" cy="457200"/>
          </a:xfrm>
          <a:prstGeom prst="rect">
            <a:avLst/>
          </a:prstGeom>
          <a:noFill/>
          <a:ln/>
        </p:spPr>
        <p:txBody>
          <a:bodyPr wrap="square" lIns="0" tIns="0" rIns="0" bIns="0" rtlCol="0" anchor="ctr"/>
          <a:lstStyle/>
          <a:p>
            <a:pPr indent="0" marL="0">
              <a:buNone/>
            </a:pPr>
            <a:r>
              <a:rPr lang="en-US" sz="1400" b="1" dirty="0">
                <a:solidFill>
                  <a:schemeClr val="accent1"/>
                </a:solidFill>
                <a:latin typeface="Consolas" pitchFamily="34" charset="0"/>
                <a:ea typeface="Consolas" pitchFamily="34" charset="-122"/>
                <a:cs typeface="Consolas" pitchFamily="34" charset="-120"/>
              </a:rPr>
              <a:t>powershell -ExecutionPolicy Bypass -File tools\run_all_checks.ps1</a:t>
            </a:r>
            <a:endParaRPr lang="en-US" sz="14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94415"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STATED PLAINLY</a:t>
            </a:r>
            <a:endParaRPr lang="en-US" sz="1200" dirty="0"/>
          </a:p>
        </p:txBody>
      </p:sp>
      <p:sp>
        <p:nvSpPr>
          <p:cNvPr id="3" name="Text 0"/>
          <p:cNvSpPr/>
          <p:nvPr>
            <p:ph idx="101" type="title" hasCustomPrompt="1"/>
          </p:nvPr>
        </p:nvSpPr>
        <p:spPr>
          <a:xfrm>
            <a:off x="548640" y="658368"/>
            <a:ext cx="11094415" cy="713232"/>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What works, and what is out of reach</a:t>
            </a:r>
            <a:endParaRPr lang="en-US" sz="3200" dirty="0"/>
          </a:p>
        </p:txBody>
      </p:sp>
      <p:sp>
        <p:nvSpPr>
          <p:cNvPr id="4" name="Verified"/>
          <p:cNvSpPr/>
          <p:nvPr/>
        </p:nvSpPr>
        <p:spPr>
          <a:xfrm>
            <a:off x="548640" y="1645920"/>
            <a:ext cx="5760720" cy="4480560"/>
          </a:xfrm>
          <a:prstGeom prst="roundRect">
            <a:avLst>
              <a:gd name="adj" fmla="val 2041"/>
            </a:avLst>
          </a:prstGeom>
          <a:solidFill>
            <a:schemeClr val="bg2"/>
          </a:solidFill>
          <a:ln/>
        </p:spPr>
      </p:sp>
      <p:sp>
        <p:nvSpPr>
          <p:cNvPr id="5" name="Shape 3"/>
          <p:cNvSpPr/>
          <p:nvPr/>
        </p:nvSpPr>
        <p:spPr>
          <a:xfrm>
            <a:off x="822960" y="1874520"/>
            <a:ext cx="2468880" cy="365760"/>
          </a:xfrm>
          <a:prstGeom prst="roundRect">
            <a:avLst>
              <a:gd name="adj" fmla="val 50000"/>
            </a:avLst>
          </a:prstGeom>
          <a:solidFill>
            <a:schemeClr val="accent4"/>
          </a:solidFill>
          <a:ln/>
        </p:spPr>
      </p:sp>
      <p:sp>
        <p:nvSpPr>
          <p:cNvPr id="6" name="Text 4"/>
          <p:cNvSpPr txBox="1"/>
          <p:nvPr/>
        </p:nvSpPr>
        <p:spPr>
          <a:xfrm>
            <a:off x="822960" y="1874520"/>
            <a:ext cx="2468880" cy="365760"/>
          </a:xfrm>
          <a:prstGeom prst="rect">
            <a:avLst/>
          </a:prstGeom>
          <a:noFill/>
          <a:ln/>
        </p:spPr>
        <p:txBody>
          <a:bodyPr wrap="square" lIns="0" tIns="0" rIns="0" bIns="0" rtlCol="0" anchor="ctr"/>
          <a:lstStyle/>
          <a:p>
            <a:pPr algn="ctr" indent="0" marL="0">
              <a:buNone/>
            </a:pPr>
            <a:r>
              <a:rPr lang="en-US" sz="1200" b="1" dirty="0">
                <a:solidFill>
                  <a:schemeClr val="bg1"/>
                </a:solidFill>
              </a:rPr>
              <a:t>EXECUTED AND VERIFIED</a:t>
            </a:r>
            <a:endParaRPr lang="en-US" sz="1200" dirty="0"/>
          </a:p>
        </p:txBody>
      </p:sp>
      <p:sp>
        <p:nvSpPr>
          <p:cNvPr id="7" name="Text 5"/>
          <p:cNvSpPr txBox="1"/>
          <p:nvPr/>
        </p:nvSpPr>
        <p:spPr>
          <a:xfrm>
            <a:off x="822960" y="2423160"/>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Full pipeline, 48 transactions in about 24 s</a:t>
            </a:r>
            <a:endParaRPr lang="en-US" sz="1400" dirty="0"/>
          </a:p>
        </p:txBody>
      </p:sp>
      <p:sp>
        <p:nvSpPr>
          <p:cNvPr id="8" name="Text 6"/>
          <p:cNvSpPr txBox="1"/>
          <p:nvPr/>
        </p:nvSpPr>
        <p:spPr>
          <a:xfrm>
            <a:off x="822960" y="2784348"/>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All six rules, against an independent oracle</a:t>
            </a:r>
            <a:endParaRPr lang="en-US" sz="1400" dirty="0"/>
          </a:p>
        </p:txBody>
      </p:sp>
      <p:sp>
        <p:nvSpPr>
          <p:cNvPr id="9" name="Text 7"/>
          <p:cNvSpPr txBox="1"/>
          <p:nvPr/>
        </p:nvSpPr>
        <p:spPr>
          <a:xfrm>
            <a:off x="822960" y="3145536"/>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Three feeds across two schemas, one result</a:t>
            </a:r>
            <a:endParaRPr lang="en-US" sz="1400" dirty="0"/>
          </a:p>
        </p:txBody>
      </p:sp>
      <p:sp>
        <p:nvSpPr>
          <p:cNvPr id="10" name="Text 8"/>
          <p:cNvSpPr txBox="1"/>
          <p:nvPr/>
        </p:nvSpPr>
        <p:spPr>
          <a:xfrm>
            <a:off x="822960" y="3506724"/>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DECODE and LOOKUP shipment linking</a:t>
            </a:r>
            <a:endParaRPr lang="en-US" sz="1400" dirty="0"/>
          </a:p>
        </p:txBody>
      </p:sp>
      <p:sp>
        <p:nvSpPr>
          <p:cNvPr id="11" name="Text 9"/>
          <p:cNvSpPr txBox="1"/>
          <p:nvPr/>
        </p:nvSpPr>
        <p:spPr>
          <a:xfrm>
            <a:off x="822960" y="3867912"/>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 CSV and SQL ERP sources</a:t>
            </a:r>
            <a:endParaRPr lang="en-US" sz="1400" dirty="0"/>
          </a:p>
        </p:txBody>
      </p:sp>
      <p:sp>
        <p:nvSpPr>
          <p:cNvPr id="12" name="Text 10"/>
          <p:cNvSpPr txBox="1"/>
          <p:nvPr/>
        </p:nvSpPr>
        <p:spPr>
          <a:xfrm>
            <a:off x="822960" y="4229100"/>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Rules switched on and off from Excel</a:t>
            </a:r>
            <a:endParaRPr lang="en-US" sz="1400" dirty="0"/>
          </a:p>
        </p:txBody>
      </p:sp>
      <p:sp>
        <p:nvSpPr>
          <p:cNvPr id="13" name="Text 11"/>
          <p:cNvSpPr txBox="1"/>
          <p:nvPr/>
        </p:nvSpPr>
        <p:spPr>
          <a:xfrm>
            <a:off x="822960" y="4590288"/>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Review window, answered via UI Automation</a:t>
            </a:r>
            <a:endParaRPr lang="en-US" sz="1400" dirty="0"/>
          </a:p>
        </p:txBody>
      </p:sp>
      <p:sp>
        <p:nvSpPr>
          <p:cNvPr id="14" name="Text 12"/>
          <p:cNvSpPr txBox="1"/>
          <p:nvPr/>
        </p:nvSpPr>
        <p:spPr>
          <a:xfrm>
            <a:off x="822960" y="4951476"/>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Tamper detected at the exact line</a:t>
            </a:r>
            <a:endParaRPr lang="en-US" sz="1400" dirty="0"/>
          </a:p>
        </p:txBody>
      </p:sp>
      <p:sp>
        <p:nvSpPr>
          <p:cNvPr id="15" name="Text 13"/>
          <p:cNvSpPr txBox="1"/>
          <p:nvPr/>
        </p:nvSpPr>
        <p:spPr>
          <a:xfrm>
            <a:off x="822960" y="5312664"/>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 PDF, dashboard, Teams and Slack</a:t>
            </a:r>
            <a:endParaRPr lang="en-US" sz="1400" dirty="0"/>
          </a:p>
        </p:txBody>
      </p:sp>
      <p:sp>
        <p:nvSpPr>
          <p:cNvPr id="16" name="Text 14"/>
          <p:cNvSpPr txBox="1"/>
          <p:nvPr/>
        </p:nvSpPr>
        <p:spPr>
          <a:xfrm>
            <a:off x="822960" y="5673852"/>
            <a:ext cx="5212080" cy="347472"/>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API mode over HTTP to a local stand-in</a:t>
            </a:r>
            <a:endParaRPr lang="en-US" sz="1400" dirty="0"/>
          </a:p>
        </p:txBody>
      </p:sp>
      <p:sp>
        <p:nvSpPr>
          <p:cNvPr id="17" name="Not executed"/>
          <p:cNvSpPr/>
          <p:nvPr/>
        </p:nvSpPr>
        <p:spPr>
          <a:xfrm>
            <a:off x="6583680" y="1645920"/>
            <a:ext cx="5059375" cy="4480560"/>
          </a:xfrm>
          <a:prstGeom prst="roundRect">
            <a:avLst>
              <a:gd name="adj" fmla="val 2041"/>
            </a:avLst>
          </a:prstGeom>
          <a:solidFill>
            <a:schemeClr val="bg1"/>
          </a:solidFill>
          <a:ln w="12700">
            <a:solidFill>
              <a:srgbClr val="D5E1DF"/>
            </a:solidFill>
            <a:prstDash val="solid"/>
          </a:ln>
        </p:spPr>
      </p:sp>
      <p:sp>
        <p:nvSpPr>
          <p:cNvPr id="18" name="Shape 16"/>
          <p:cNvSpPr/>
          <p:nvPr/>
        </p:nvSpPr>
        <p:spPr>
          <a:xfrm>
            <a:off x="6858000" y="1874520"/>
            <a:ext cx="1737360" cy="365760"/>
          </a:xfrm>
          <a:prstGeom prst="roundRect">
            <a:avLst>
              <a:gd name="adj" fmla="val 50000"/>
            </a:avLst>
          </a:prstGeom>
          <a:solidFill>
            <a:schemeClr val="accent2"/>
          </a:solidFill>
          <a:ln/>
        </p:spPr>
      </p:sp>
      <p:sp>
        <p:nvSpPr>
          <p:cNvPr id="19" name="Text 17"/>
          <p:cNvSpPr txBox="1"/>
          <p:nvPr/>
        </p:nvSpPr>
        <p:spPr>
          <a:xfrm>
            <a:off x="6858000" y="1874520"/>
            <a:ext cx="1737360" cy="365760"/>
          </a:xfrm>
          <a:prstGeom prst="rect">
            <a:avLst/>
          </a:prstGeom>
          <a:noFill/>
          <a:ln/>
        </p:spPr>
        <p:txBody>
          <a:bodyPr wrap="square" lIns="0" tIns="0" rIns="0" bIns="0" rtlCol="0" anchor="ctr"/>
          <a:lstStyle/>
          <a:p>
            <a:pPr algn="ctr" indent="0" marL="0">
              <a:buNone/>
            </a:pPr>
            <a:r>
              <a:rPr lang="en-US" sz="1200" b="1" dirty="0">
                <a:solidFill>
                  <a:schemeClr val="bg1"/>
                </a:solidFill>
              </a:rPr>
              <a:t>NOT EXECUTED</a:t>
            </a:r>
            <a:endParaRPr lang="en-US" sz="1200" dirty="0"/>
          </a:p>
        </p:txBody>
      </p:sp>
      <p:sp>
        <p:nvSpPr>
          <p:cNvPr id="20" name="Text 18"/>
          <p:cNvSpPr txBox="1"/>
          <p:nvPr/>
        </p:nvSpPr>
        <p:spPr>
          <a:xfrm>
            <a:off x="6858000" y="2423160"/>
            <a:ext cx="4510735" cy="329184"/>
          </a:xfrm>
          <a:prstGeom prst="rect">
            <a:avLst/>
          </a:prstGeom>
          <a:noFill/>
          <a:ln/>
        </p:spPr>
        <p:txBody>
          <a:bodyPr wrap="square" lIns="0" tIns="0" rIns="0" bIns="0" rtlCol="0" anchor="t"/>
          <a:lstStyle/>
          <a:p>
            <a:pPr indent="0" marL="0">
              <a:buNone/>
            </a:pPr>
            <a:r>
              <a:rPr lang="en-US" sz="1600" b="1" dirty="0">
                <a:solidFill>
                  <a:schemeClr val="accent2"/>
                </a:solidFill>
              </a:rPr>
              <a:t>Orchestrator: out of scope</a:t>
            </a:r>
            <a:endParaRPr lang="en-US" sz="1600" dirty="0"/>
          </a:p>
        </p:txBody>
      </p:sp>
      <p:sp>
        <p:nvSpPr>
          <p:cNvPr id="21" name="Text 19"/>
          <p:cNvSpPr txBox="1"/>
          <p:nvPr/>
        </p:nvSpPr>
        <p:spPr>
          <a:xfrm>
            <a:off x="6858000" y="2770632"/>
            <a:ext cx="4510735" cy="502920"/>
          </a:xfrm>
          <a:prstGeom prst="rect">
            <a:avLst/>
          </a:prstGeom>
          <a:noFill/>
          <a:ln/>
        </p:spPr>
        <p:txBody>
          <a:bodyPr wrap="square" lIns="0" tIns="0" rIns="0" bIns="0" rtlCol="0" anchor="t"/>
          <a:lstStyle/>
          <a:p>
            <a:pPr indent="0" marL="0">
              <a:buNone/>
            </a:pPr>
            <a:r>
              <a:rPr lang="en-US" sz="1300" dirty="0">
                <a:solidFill>
                  <a:schemeClr val="accent5"/>
                </a:solidFill>
              </a:rPr>
              <a:t>The project runs in UiPath Studio; the work queue is a local file.</a:t>
            </a:r>
            <a:endParaRPr lang="en-US" sz="1300" dirty="0"/>
          </a:p>
        </p:txBody>
      </p:sp>
      <p:sp>
        <p:nvSpPr>
          <p:cNvPr id="22" name="Text 20"/>
          <p:cNvSpPr txBox="1"/>
          <p:nvPr/>
        </p:nvSpPr>
        <p:spPr>
          <a:xfrm>
            <a:off x="6858000" y="3337560"/>
            <a:ext cx="4510735" cy="329184"/>
          </a:xfrm>
          <a:prstGeom prst="rect">
            <a:avLst/>
          </a:prstGeom>
          <a:noFill/>
          <a:ln/>
        </p:spPr>
        <p:txBody>
          <a:bodyPr wrap="square" lIns="0" tIns="0" rIns="0" bIns="0" rtlCol="0" anchor="t"/>
          <a:lstStyle/>
          <a:p>
            <a:pPr indent="0" marL="0">
              <a:buNone/>
            </a:pPr>
            <a:r>
              <a:rPr lang="en-US" sz="1600" b="1" dirty="0">
                <a:solidFill>
                  <a:schemeClr val="accent2"/>
                </a:solidFill>
              </a:rPr>
              <a:t>Live Etherscan key</a:t>
            </a:r>
            <a:endParaRPr lang="en-US" sz="1600" dirty="0"/>
          </a:p>
        </p:txBody>
      </p:sp>
      <p:sp>
        <p:nvSpPr>
          <p:cNvPr id="23" name="Text 21"/>
          <p:cNvSpPr txBox="1"/>
          <p:nvPr/>
        </p:nvSpPr>
        <p:spPr>
          <a:xfrm>
            <a:off x="6858000" y="3685032"/>
            <a:ext cx="4510735" cy="502920"/>
          </a:xfrm>
          <a:prstGeom prst="rect">
            <a:avLst/>
          </a:prstGeom>
          <a:noFill/>
          <a:ln/>
        </p:spPr>
        <p:txBody>
          <a:bodyPr wrap="square" lIns="0" tIns="0" rIns="0" bIns="0" rtlCol="0" anchor="t"/>
          <a:lstStyle/>
          <a:p>
            <a:pPr indent="0" marL="0">
              <a:buNone/>
            </a:pPr>
            <a:r>
              <a:rPr lang="en-US" sz="1300" dirty="0">
                <a:solidFill>
                  <a:schemeClr val="accent5"/>
                </a:solidFill>
              </a:rPr>
              <a:t>API mode is tested over HTTP against a local stand-in, not the live chain.</a:t>
            </a:r>
            <a:endParaRPr lang="en-US" sz="1300" dirty="0"/>
          </a:p>
        </p:txBody>
      </p:sp>
      <p:sp>
        <p:nvSpPr>
          <p:cNvPr id="24" name="Text 22"/>
          <p:cNvSpPr txBox="1"/>
          <p:nvPr/>
        </p:nvSpPr>
        <p:spPr>
          <a:xfrm>
            <a:off x="6858000" y="4251960"/>
            <a:ext cx="4510735" cy="329184"/>
          </a:xfrm>
          <a:prstGeom prst="rect">
            <a:avLst/>
          </a:prstGeom>
          <a:noFill/>
          <a:ln/>
        </p:spPr>
        <p:txBody>
          <a:bodyPr wrap="square" lIns="0" tIns="0" rIns="0" bIns="0" rtlCol="0" anchor="t"/>
          <a:lstStyle/>
          <a:p>
            <a:pPr indent="0" marL="0">
              <a:buNone/>
            </a:pPr>
            <a:r>
              <a:rPr lang="en-US" sz="1600" b="1" dirty="0">
                <a:solidFill>
                  <a:schemeClr val="accent2"/>
                </a:solidFill>
              </a:rPr>
              <a:t>Browser automation</a:t>
            </a:r>
            <a:endParaRPr lang="en-US" sz="1600" dirty="0"/>
          </a:p>
        </p:txBody>
      </p:sp>
      <p:sp>
        <p:nvSpPr>
          <p:cNvPr id="25" name="Text 23"/>
          <p:cNvSpPr txBox="1"/>
          <p:nvPr/>
        </p:nvSpPr>
        <p:spPr>
          <a:xfrm>
            <a:off x="6858000" y="4599432"/>
            <a:ext cx="4510735" cy="502920"/>
          </a:xfrm>
          <a:prstGeom prst="rect">
            <a:avLst/>
          </a:prstGeom>
          <a:noFill/>
          <a:ln/>
        </p:spPr>
        <p:txBody>
          <a:bodyPr wrap="square" lIns="0" tIns="0" rIns="0" bIns="0" rtlCol="0" anchor="t"/>
          <a:lstStyle/>
          <a:p>
            <a:pPr indent="0" marL="0">
              <a:buNone/>
            </a:pPr>
            <a:r>
              <a:rPr lang="en-US" sz="1300" dirty="0">
                <a:solidFill>
                  <a:schemeClr val="accent5"/>
                </a:solidFill>
              </a:rPr>
              <a:t>WEB mode parses the explorer's HTML rather than recording a scrape.</a:t>
            </a:r>
            <a:endParaRPr lang="en-US" sz="1300" dirty="0"/>
          </a:p>
        </p:txBody>
      </p:sp>
      <p:sp>
        <p:nvSpPr>
          <p:cNvPr id="26" name="Text 24"/>
          <p:cNvSpPr txBox="1"/>
          <p:nvPr/>
        </p:nvSpPr>
        <p:spPr>
          <a:xfrm>
            <a:off x="6858000" y="5166360"/>
            <a:ext cx="4510735" cy="329184"/>
          </a:xfrm>
          <a:prstGeom prst="rect">
            <a:avLst/>
          </a:prstGeom>
          <a:noFill/>
          <a:ln/>
        </p:spPr>
        <p:txBody>
          <a:bodyPr wrap="square" lIns="0" tIns="0" rIns="0" bIns="0" rtlCol="0" anchor="t"/>
          <a:lstStyle/>
          <a:p>
            <a:pPr indent="0" marL="0">
              <a:buNone/>
            </a:pPr>
            <a:r>
              <a:rPr lang="en-US" sz="1600" b="1" dirty="0">
                <a:solidFill>
                  <a:schemeClr val="accent2"/>
                </a:solidFill>
              </a:rPr>
              <a:t>Real mail and chat</a:t>
            </a:r>
            <a:endParaRPr lang="en-US" sz="1600" dirty="0"/>
          </a:p>
        </p:txBody>
      </p:sp>
      <p:sp>
        <p:nvSpPr>
          <p:cNvPr id="27" name="Text 25"/>
          <p:cNvSpPr txBox="1"/>
          <p:nvPr/>
        </p:nvSpPr>
        <p:spPr>
          <a:xfrm>
            <a:off x="6858000" y="5513832"/>
            <a:ext cx="4510735" cy="502920"/>
          </a:xfrm>
          <a:prstGeom prst="rect">
            <a:avLst/>
          </a:prstGeom>
          <a:noFill/>
          <a:ln/>
        </p:spPr>
        <p:txBody>
          <a:bodyPr wrap="square" lIns="0" tIns="0" rIns="0" bIns="0" rtlCol="0" anchor="t"/>
          <a:lstStyle/>
          <a:p>
            <a:pPr indent="0" marL="0">
              <a:buNone/>
            </a:pPr>
            <a:r>
              <a:rPr lang="en-US" sz="1300" dirty="0">
                <a:solidFill>
                  <a:schemeClr val="accent5"/>
                </a:solidFill>
              </a:rPr>
              <a:t>Delivery is tested against a local capture server, not a real inbox.</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5486400" cy="292608"/>
          </a:xfrm>
          <a:prstGeom prst="rect">
            <a:avLst/>
          </a:prstGeom>
          <a:noFill/>
          <a:ln/>
        </p:spPr>
        <p:txBody>
          <a:bodyPr wrap="square" lIns="0" tIns="0" rIns="0" bIns="0" rtlCol="0" anchor="t"/>
          <a:lstStyle/>
          <a:p>
            <a:pPr indent="0" marL="0">
              <a:buNone/>
            </a:pPr>
            <a:r>
              <a:rPr lang="en-US" sz="1200" b="1" spc="200" kern="0" dirty="0">
                <a:solidFill>
                  <a:schemeClr val="accent6"/>
                </a:solidFill>
              </a:rPr>
              <a:t>FUTURE SCOPE</a:t>
            </a:r>
            <a:endParaRPr lang="en-US" sz="1200" dirty="0"/>
          </a:p>
        </p:txBody>
      </p:sp>
      <p:sp>
        <p:nvSpPr>
          <p:cNvPr id="3" name="Text 1"/>
          <p:cNvSpPr txBox="1"/>
          <p:nvPr/>
        </p:nvSpPr>
        <p:spPr>
          <a:xfrm>
            <a:off x="548640" y="658368"/>
            <a:ext cx="11094415" cy="713232"/>
          </a:xfrm>
          <a:prstGeom prst="rect">
            <a:avLst/>
          </a:prstGeom>
          <a:noFill/>
          <a:ln/>
        </p:spPr>
        <p:txBody>
          <a:bodyPr wrap="square" lIns="0" tIns="0" rIns="0" bIns="0" rtlCol="0" anchor="t"/>
          <a:lstStyle/>
          <a:p>
            <a:pPr indent="0" marL="0">
              <a:buNone/>
            </a:pPr>
            <a:r>
              <a:rPr lang="en-US" sz="3200" b="1" dirty="0">
                <a:solidFill>
                  <a:schemeClr val="bg1"/>
                </a:solidFill>
                <a:latin typeface="Calibri" pitchFamily="34" charset="0"/>
                <a:ea typeface="Calibri" pitchFamily="34" charset="-122"/>
                <a:cs typeface="Calibri" pitchFamily="34" charset="-120"/>
              </a:rPr>
              <a:t>Where this goes next</a:t>
            </a:r>
            <a:endParaRPr lang="en-US" sz="3200" dirty="0"/>
          </a:p>
        </p:txBody>
      </p:sp>
      <p:sp>
        <p:nvSpPr>
          <p:cNvPr id="4" name="Shape 2"/>
          <p:cNvSpPr/>
          <p:nvPr/>
        </p:nvSpPr>
        <p:spPr>
          <a:xfrm>
            <a:off x="548640" y="1645920"/>
            <a:ext cx="5410048" cy="1325880"/>
          </a:xfrm>
          <a:prstGeom prst="roundRect">
            <a:avLst>
              <a:gd name="adj" fmla="val 6897"/>
            </a:avLst>
          </a:prstGeom>
          <a:solidFill>
            <a:srgbClr val="14404A"/>
          </a:solidFill>
          <a:ln/>
        </p:spPr>
      </p:sp>
      <p:sp>
        <p:nvSpPr>
          <p:cNvPr id="5" name="Deploy to Orchestrator badge"/>
          <p:cNvSpPr/>
          <p:nvPr/>
        </p:nvSpPr>
        <p:spPr>
          <a:xfrm>
            <a:off x="822960" y="1965960"/>
            <a:ext cx="685800" cy="685800"/>
          </a:xfrm>
          <a:prstGeom prst="ellipse">
            <a:avLst/>
          </a:prstGeom>
          <a:solidFill>
            <a:schemeClr val="accent6"/>
          </a:solidFill>
          <a:ln/>
        </p:spPr>
      </p:sp>
      <p:pic>
        <p:nvPicPr>
          <p:cNvPr id="6" name="Image 0" descr="Deploy to Orchestrator">    </p:cNvPr>
          <p:cNvPicPr>
            <a:picLocks noChangeAspect="1"/>
          </p:cNvPicPr>
          <p:nvPr/>
        </p:nvPicPr>
        <p:blipFill>
          <a:blip r:embed="rId1"/>
          <a:stretch>
            <a:fillRect/>
          </a:stretch>
        </p:blipFill>
        <p:spPr>
          <a:xfrm>
            <a:off x="994410" y="2137410"/>
            <a:ext cx="342900" cy="342900"/>
          </a:xfrm>
          <a:prstGeom prst="rect">
            <a:avLst/>
          </a:prstGeom>
        </p:spPr>
      </p:pic>
      <p:sp>
        <p:nvSpPr>
          <p:cNvPr id="7" name="Text 4"/>
          <p:cNvSpPr txBox="1"/>
          <p:nvPr/>
        </p:nvSpPr>
        <p:spPr>
          <a:xfrm>
            <a:off x="1737360" y="1847088"/>
            <a:ext cx="3992728" cy="365760"/>
          </a:xfrm>
          <a:prstGeom prst="rect">
            <a:avLst/>
          </a:prstGeom>
          <a:noFill/>
          <a:ln/>
        </p:spPr>
        <p:txBody>
          <a:bodyPr wrap="square" lIns="0" tIns="0" rIns="0" bIns="0" rtlCol="0" anchor="t"/>
          <a:lstStyle/>
          <a:p>
            <a:pPr indent="0" marL="0">
              <a:buNone/>
            </a:pPr>
            <a:r>
              <a:rPr lang="en-US" sz="1800" b="1" dirty="0">
                <a:solidFill>
                  <a:schemeClr val="bg1"/>
                </a:solidFill>
              </a:rPr>
              <a:t>Deploy to Orchestrator</a:t>
            </a:r>
            <a:endParaRPr lang="en-US" sz="1800" dirty="0"/>
          </a:p>
        </p:txBody>
      </p:sp>
      <p:sp>
        <p:nvSpPr>
          <p:cNvPr id="8" name="Text 5"/>
          <p:cNvSpPr txBox="1"/>
          <p:nvPr/>
        </p:nvSpPr>
        <p:spPr>
          <a:xfrm>
            <a:off x="1737360" y="2240280"/>
            <a:ext cx="3992728" cy="640080"/>
          </a:xfrm>
          <a:prstGeom prst="rect">
            <a:avLst/>
          </a:prstGeom>
          <a:noFill/>
          <a:ln/>
        </p:spPr>
        <p:txBody>
          <a:bodyPr wrap="square" lIns="0" tIns="0" rIns="0" bIns="0" rtlCol="0" anchor="t"/>
          <a:lstStyle/>
          <a:p>
            <a:pPr indent="0" marL="0">
              <a:buNone/>
            </a:pPr>
            <a:r>
              <a:rPr lang="en-US" sz="1400" dirty="0">
                <a:solidFill>
                  <a:srgbClr val="C9DCDD"/>
                </a:solidFill>
              </a:rPr>
              <a:t>Schedule with time triggers and swap the work-queue file for an Orchestrator queue.</a:t>
            </a:r>
            <a:endParaRPr lang="en-US" sz="1400" dirty="0"/>
          </a:p>
        </p:txBody>
      </p:sp>
      <p:sp>
        <p:nvSpPr>
          <p:cNvPr id="9" name="Shape 6"/>
          <p:cNvSpPr/>
          <p:nvPr/>
        </p:nvSpPr>
        <p:spPr>
          <a:xfrm>
            <a:off x="6233008" y="1645920"/>
            <a:ext cx="5410048" cy="1325880"/>
          </a:xfrm>
          <a:prstGeom prst="roundRect">
            <a:avLst>
              <a:gd name="adj" fmla="val 6897"/>
            </a:avLst>
          </a:prstGeom>
          <a:solidFill>
            <a:srgbClr val="14404A"/>
          </a:solidFill>
          <a:ln/>
        </p:spPr>
      </p:sp>
      <p:sp>
        <p:nvSpPr>
          <p:cNvPr id="10" name="ML anomaly detection badge"/>
          <p:cNvSpPr/>
          <p:nvPr/>
        </p:nvSpPr>
        <p:spPr>
          <a:xfrm>
            <a:off x="6507328" y="1965960"/>
            <a:ext cx="685800" cy="685800"/>
          </a:xfrm>
          <a:prstGeom prst="ellipse">
            <a:avLst/>
          </a:prstGeom>
          <a:solidFill>
            <a:schemeClr val="accent6"/>
          </a:solidFill>
          <a:ln/>
        </p:spPr>
      </p:sp>
      <p:pic>
        <p:nvPicPr>
          <p:cNvPr id="11" name="Image 1" descr="ML anomaly detection">    </p:cNvPr>
          <p:cNvPicPr>
            <a:picLocks noChangeAspect="1"/>
          </p:cNvPicPr>
          <p:nvPr/>
        </p:nvPicPr>
        <p:blipFill>
          <a:blip r:embed="rId2"/>
          <a:stretch>
            <a:fillRect/>
          </a:stretch>
        </p:blipFill>
        <p:spPr>
          <a:xfrm>
            <a:off x="6678778" y="2137410"/>
            <a:ext cx="342900" cy="342900"/>
          </a:xfrm>
          <a:prstGeom prst="rect">
            <a:avLst/>
          </a:prstGeom>
        </p:spPr>
      </p:pic>
      <p:sp>
        <p:nvSpPr>
          <p:cNvPr id="12" name="Text 8"/>
          <p:cNvSpPr txBox="1"/>
          <p:nvPr/>
        </p:nvSpPr>
        <p:spPr>
          <a:xfrm>
            <a:off x="7421728" y="1847088"/>
            <a:ext cx="3992728" cy="365760"/>
          </a:xfrm>
          <a:prstGeom prst="rect">
            <a:avLst/>
          </a:prstGeom>
          <a:noFill/>
          <a:ln/>
        </p:spPr>
        <p:txBody>
          <a:bodyPr wrap="square" lIns="0" tIns="0" rIns="0" bIns="0" rtlCol="0" anchor="t"/>
          <a:lstStyle/>
          <a:p>
            <a:pPr indent="0" marL="0">
              <a:buNone/>
            </a:pPr>
            <a:r>
              <a:rPr lang="en-US" sz="1800" b="1" dirty="0">
                <a:solidFill>
                  <a:schemeClr val="bg1"/>
                </a:solidFill>
              </a:rPr>
              <a:t>ML anomaly detection</a:t>
            </a:r>
            <a:endParaRPr lang="en-US" sz="1800" dirty="0"/>
          </a:p>
        </p:txBody>
      </p:sp>
      <p:sp>
        <p:nvSpPr>
          <p:cNvPr id="13" name="Text 9"/>
          <p:cNvSpPr txBox="1"/>
          <p:nvPr/>
        </p:nvSpPr>
        <p:spPr>
          <a:xfrm>
            <a:off x="7421728" y="2240280"/>
            <a:ext cx="3992728" cy="640080"/>
          </a:xfrm>
          <a:prstGeom prst="rect">
            <a:avLst/>
          </a:prstGeom>
          <a:noFill/>
          <a:ln/>
        </p:spPr>
        <p:txBody>
          <a:bodyPr wrap="square" lIns="0" tIns="0" rIns="0" bIns="0" rtlCol="0" anchor="t"/>
          <a:lstStyle/>
          <a:p>
            <a:pPr indent="0" marL="0">
              <a:buNone/>
            </a:pPr>
            <a:r>
              <a:rPr lang="en-US" sz="1400" dirty="0">
                <a:solidFill>
                  <a:srgbClr val="C9DCDD"/>
                </a:solidFill>
              </a:rPr>
              <a:t>AI Center on historical transactions, to catch patterns no fixed rule anticipates.</a:t>
            </a:r>
            <a:endParaRPr lang="en-US" sz="1400" dirty="0"/>
          </a:p>
        </p:txBody>
      </p:sp>
      <p:sp>
        <p:nvSpPr>
          <p:cNvPr id="14" name="Shape 10"/>
          <p:cNvSpPr/>
          <p:nvPr/>
        </p:nvSpPr>
        <p:spPr>
          <a:xfrm>
            <a:off x="548640" y="3246120"/>
            <a:ext cx="5410048" cy="1325880"/>
          </a:xfrm>
          <a:prstGeom prst="roundRect">
            <a:avLst>
              <a:gd name="adj" fmla="val 6897"/>
            </a:avLst>
          </a:prstGeom>
          <a:solidFill>
            <a:srgbClr val="14404A"/>
          </a:solidFill>
          <a:ln/>
        </p:spPr>
      </p:sp>
      <p:sp>
        <p:nvSpPr>
          <p:cNvPr id="15" name="IoT data fusion badge"/>
          <p:cNvSpPr/>
          <p:nvPr/>
        </p:nvSpPr>
        <p:spPr>
          <a:xfrm>
            <a:off x="822960" y="3566160"/>
            <a:ext cx="685800" cy="685800"/>
          </a:xfrm>
          <a:prstGeom prst="ellipse">
            <a:avLst/>
          </a:prstGeom>
          <a:solidFill>
            <a:schemeClr val="accent6"/>
          </a:solidFill>
          <a:ln/>
        </p:spPr>
      </p:sp>
      <p:pic>
        <p:nvPicPr>
          <p:cNvPr id="16" name="Image 2" descr="IoT data fusion">    </p:cNvPr>
          <p:cNvPicPr>
            <a:picLocks noChangeAspect="1"/>
          </p:cNvPicPr>
          <p:nvPr/>
        </p:nvPicPr>
        <p:blipFill>
          <a:blip r:embed="rId3"/>
          <a:stretch>
            <a:fillRect/>
          </a:stretch>
        </p:blipFill>
        <p:spPr>
          <a:xfrm>
            <a:off x="994410" y="3737610"/>
            <a:ext cx="342900" cy="342900"/>
          </a:xfrm>
          <a:prstGeom prst="rect">
            <a:avLst/>
          </a:prstGeom>
        </p:spPr>
      </p:pic>
      <p:sp>
        <p:nvSpPr>
          <p:cNvPr id="17" name="Text 12"/>
          <p:cNvSpPr txBox="1"/>
          <p:nvPr/>
        </p:nvSpPr>
        <p:spPr>
          <a:xfrm>
            <a:off x="1737360" y="3447288"/>
            <a:ext cx="3992728" cy="365760"/>
          </a:xfrm>
          <a:prstGeom prst="rect">
            <a:avLst/>
          </a:prstGeom>
          <a:noFill/>
          <a:ln/>
        </p:spPr>
        <p:txBody>
          <a:bodyPr wrap="square" lIns="0" tIns="0" rIns="0" bIns="0" rtlCol="0" anchor="t"/>
          <a:lstStyle/>
          <a:p>
            <a:pPr indent="0" marL="0">
              <a:buNone/>
            </a:pPr>
            <a:r>
              <a:rPr lang="en-US" sz="1800" b="1" dirty="0">
                <a:solidFill>
                  <a:schemeClr val="bg1"/>
                </a:solidFill>
              </a:rPr>
              <a:t>IoT data fusion</a:t>
            </a:r>
            <a:endParaRPr lang="en-US" sz="1800" dirty="0"/>
          </a:p>
        </p:txBody>
      </p:sp>
      <p:sp>
        <p:nvSpPr>
          <p:cNvPr id="18" name="Text 13"/>
          <p:cNvSpPr txBox="1"/>
          <p:nvPr/>
        </p:nvSpPr>
        <p:spPr>
          <a:xfrm>
            <a:off x="1737360" y="3840480"/>
            <a:ext cx="3992728" cy="640080"/>
          </a:xfrm>
          <a:prstGeom prst="rect">
            <a:avLst/>
          </a:prstGeom>
          <a:noFill/>
          <a:ln/>
        </p:spPr>
        <p:txBody>
          <a:bodyPr wrap="square" lIns="0" tIns="0" rIns="0" bIns="0" rtlCol="0" anchor="t"/>
          <a:lstStyle/>
          <a:p>
            <a:pPr indent="0" marL="0">
              <a:buNone/>
            </a:pPr>
            <a:r>
              <a:rPr lang="en-US" sz="1400" dirty="0">
                <a:solidFill>
                  <a:srgbClr val="C9DCDD"/>
                </a:solidFill>
              </a:rPr>
              <a:t>Check on-chain records against temperature and GPS, so a cold-chain breach is caught too.</a:t>
            </a:r>
            <a:endParaRPr lang="en-US" sz="1400" dirty="0"/>
          </a:p>
        </p:txBody>
      </p:sp>
      <p:sp>
        <p:nvSpPr>
          <p:cNvPr id="19" name="Shape 14"/>
          <p:cNvSpPr/>
          <p:nvPr/>
        </p:nvSpPr>
        <p:spPr>
          <a:xfrm>
            <a:off x="6233008" y="3246120"/>
            <a:ext cx="5410048" cy="1325880"/>
          </a:xfrm>
          <a:prstGeom prst="roundRect">
            <a:avLst>
              <a:gd name="adj" fmla="val 6897"/>
            </a:avLst>
          </a:prstGeom>
          <a:solidFill>
            <a:srgbClr val="14404A"/>
          </a:solidFill>
          <a:ln/>
        </p:spPr>
      </p:sp>
      <p:sp>
        <p:nvSpPr>
          <p:cNvPr id="20" name="Event-driven validation badge"/>
          <p:cNvSpPr/>
          <p:nvPr/>
        </p:nvSpPr>
        <p:spPr>
          <a:xfrm>
            <a:off x="6507328" y="3566160"/>
            <a:ext cx="685800" cy="685800"/>
          </a:xfrm>
          <a:prstGeom prst="ellipse">
            <a:avLst/>
          </a:prstGeom>
          <a:solidFill>
            <a:schemeClr val="accent6"/>
          </a:solidFill>
          <a:ln/>
        </p:spPr>
      </p:sp>
      <p:pic>
        <p:nvPicPr>
          <p:cNvPr id="21" name="Image 3" descr="Event-driven validation">    </p:cNvPr>
          <p:cNvPicPr>
            <a:picLocks noChangeAspect="1"/>
          </p:cNvPicPr>
          <p:nvPr/>
        </p:nvPicPr>
        <p:blipFill>
          <a:blip r:embed="rId4"/>
          <a:stretch>
            <a:fillRect/>
          </a:stretch>
        </p:blipFill>
        <p:spPr>
          <a:xfrm>
            <a:off x="6678778" y="3737610"/>
            <a:ext cx="342900" cy="342900"/>
          </a:xfrm>
          <a:prstGeom prst="rect">
            <a:avLst/>
          </a:prstGeom>
        </p:spPr>
      </p:pic>
      <p:sp>
        <p:nvSpPr>
          <p:cNvPr id="22" name="Text 16"/>
          <p:cNvSpPr txBox="1"/>
          <p:nvPr/>
        </p:nvSpPr>
        <p:spPr>
          <a:xfrm>
            <a:off x="7421728" y="3447288"/>
            <a:ext cx="3992728" cy="365760"/>
          </a:xfrm>
          <a:prstGeom prst="rect">
            <a:avLst/>
          </a:prstGeom>
          <a:noFill/>
          <a:ln/>
        </p:spPr>
        <p:txBody>
          <a:bodyPr wrap="square" lIns="0" tIns="0" rIns="0" bIns="0" rtlCol="0" anchor="t"/>
          <a:lstStyle/>
          <a:p>
            <a:pPr indent="0" marL="0">
              <a:buNone/>
            </a:pPr>
            <a:r>
              <a:rPr lang="en-US" sz="1800" b="1" dirty="0">
                <a:solidFill>
                  <a:schemeClr val="bg1"/>
                </a:solidFill>
              </a:rPr>
              <a:t>Event-driven validation</a:t>
            </a:r>
            <a:endParaRPr lang="en-US" sz="1800" dirty="0"/>
          </a:p>
        </p:txBody>
      </p:sp>
      <p:sp>
        <p:nvSpPr>
          <p:cNvPr id="23" name="Text 17"/>
          <p:cNvSpPr txBox="1"/>
          <p:nvPr/>
        </p:nvSpPr>
        <p:spPr>
          <a:xfrm>
            <a:off x="7421728" y="3840480"/>
            <a:ext cx="3992728" cy="640080"/>
          </a:xfrm>
          <a:prstGeom prst="rect">
            <a:avLst/>
          </a:prstGeom>
          <a:noFill/>
          <a:ln/>
        </p:spPr>
        <p:txBody>
          <a:bodyPr wrap="square" lIns="0" tIns="0" rIns="0" bIns="0" rtlCol="0" anchor="t"/>
          <a:lstStyle/>
          <a:p>
            <a:pPr indent="0" marL="0">
              <a:buNone/>
            </a:pPr>
            <a:r>
              <a:rPr lang="en-US" sz="1400" dirty="0">
                <a:solidFill>
                  <a:srgbClr val="C9DCDD"/>
                </a:solidFill>
              </a:rPr>
              <a:t>Blockchain WebSocket subscriptions instead of polling, for near-instant checks.</a:t>
            </a:r>
            <a:endParaRPr lang="en-US" sz="1400" dirty="0"/>
          </a:p>
        </p:txBody>
      </p:sp>
      <p:sp>
        <p:nvSpPr>
          <p:cNvPr id="24" name="Text 18"/>
          <p:cNvSpPr txBox="1"/>
          <p:nvPr/>
        </p:nvSpPr>
        <p:spPr>
          <a:xfrm>
            <a:off x="548640" y="4892040"/>
            <a:ext cx="11094415" cy="457200"/>
          </a:xfrm>
          <a:prstGeom prst="rect">
            <a:avLst/>
          </a:prstGeom>
          <a:noFill/>
          <a:ln/>
        </p:spPr>
        <p:txBody>
          <a:bodyPr wrap="square" lIns="0" tIns="0" rIns="0" bIns="0" rtlCol="0" anchor="t"/>
          <a:lstStyle/>
          <a:p>
            <a:pPr indent="0" marL="0">
              <a:buNone/>
            </a:pPr>
            <a:r>
              <a:rPr lang="en-US" sz="2600" b="1" dirty="0">
                <a:solidFill>
                  <a:schemeClr val="bg1"/>
                </a:solidFill>
              </a:rPr>
              <a:t>Immutable is not the same as verified.</a:t>
            </a:r>
            <a:endParaRPr lang="en-US" sz="2600" dirty="0"/>
          </a:p>
        </p:txBody>
      </p:sp>
      <p:sp>
        <p:nvSpPr>
          <p:cNvPr id="25" name="Text 19"/>
          <p:cNvSpPr txBox="1"/>
          <p:nvPr/>
        </p:nvSpPr>
        <p:spPr>
          <a:xfrm>
            <a:off x="548640" y="5349240"/>
            <a:ext cx="11094415" cy="411480"/>
          </a:xfrm>
          <a:prstGeom prst="rect">
            <a:avLst/>
          </a:prstGeom>
          <a:noFill/>
          <a:ln/>
        </p:spPr>
        <p:txBody>
          <a:bodyPr wrap="square" lIns="0" tIns="0" rIns="0" bIns="0" rtlCol="0" anchor="t"/>
          <a:lstStyle/>
          <a:p>
            <a:pPr indent="0" marL="0">
              <a:buNone/>
            </a:pPr>
            <a:r>
              <a:rPr lang="en-US" sz="2000" i="1" dirty="0">
                <a:solidFill>
                  <a:schemeClr val="accent6"/>
                </a:solidFill>
              </a:rPr>
              <a:t>This is the bot that does the verifying.</a:t>
            </a:r>
            <a:endParaRPr lang="en-US" sz="2000" dirty="0"/>
          </a:p>
        </p:txBody>
      </p:sp>
      <p:sp>
        <p:nvSpPr>
          <p:cNvPr id="26" name="Text 20"/>
          <p:cNvSpPr txBox="1"/>
          <p:nvPr/>
        </p:nvSpPr>
        <p:spPr>
          <a:xfrm>
            <a:off x="548640" y="6080760"/>
            <a:ext cx="5486400" cy="365760"/>
          </a:xfrm>
          <a:prstGeom prst="rect">
            <a:avLst/>
          </a:prstGeom>
          <a:noFill/>
          <a:ln/>
        </p:spPr>
        <p:txBody>
          <a:bodyPr wrap="square" lIns="0" tIns="0" rIns="0" bIns="0" rtlCol="0" anchor="t"/>
          <a:lstStyle/>
          <a:p>
            <a:pPr indent="0" marL="0">
              <a:buNone/>
            </a:pPr>
            <a:r>
              <a:rPr lang="en-US" sz="1600" b="1" dirty="0">
                <a:solidFill>
                  <a:schemeClr val="bg1"/>
                </a:solidFill>
              </a:rPr>
              <a:t>Thank you - questions welcome</a:t>
            </a:r>
            <a:endParaRPr lang="en-US" sz="1600" dirty="0"/>
          </a:p>
        </p:txBody>
      </p:sp>
      <p:sp>
        <p:nvSpPr>
          <p:cNvPr id="27" name="Text 21"/>
          <p:cNvSpPr txBox="1"/>
          <p:nvPr/>
        </p:nvSpPr>
        <p:spPr>
          <a:xfrm>
            <a:off x="5760720" y="6108192"/>
            <a:ext cx="5882335" cy="320040"/>
          </a:xfrm>
          <a:prstGeom prst="rect">
            <a:avLst/>
          </a:prstGeom>
          <a:noFill/>
          <a:ln/>
        </p:spPr>
        <p:txBody>
          <a:bodyPr wrap="square" lIns="0" tIns="0" rIns="0" bIns="0" rtlCol="0" anchor="t"/>
          <a:lstStyle/>
          <a:p>
            <a:pPr algn="r" indent="0" marL="0">
              <a:buNone/>
            </a:pPr>
            <a:r>
              <a:rPr lang="en-US" sz="1200" dirty="0">
                <a:solidFill>
                  <a:srgbClr val="A9C3C8"/>
                </a:solidFill>
                <a:latin typeface="Consolas" pitchFamily="34" charset="0"/>
                <a:ea typeface="Consolas" pitchFamily="34" charset="-122"/>
                <a:cs typeface="Consolas" pitchFamily="34" charset="-120"/>
              </a:rPr>
              <a:t>github.com/AdithyaSM31/UiPath-Blockchain-Transaction-Validation</a:t>
            </a:r>
            <a:endParaRPr lang="en-US" sz="1200" dirty="0"/>
          </a:p>
        </p:txBody>
      </p:sp>
    </p:spTree>
  </p:cSld>
  <p:clrMapOvr>
    <a:masterClrMapping/>
  </p:clrMapOvr>
</p:sld>
</file>

<file path=ppt/theme/theme1.xml><?xml version="1.0" encoding="utf-8"?>
<a:theme xmlns:a="http://schemas.openxmlformats.org/drawingml/2006/main" name="Ledger Teal">
  <a:themeElements>
    <a:clrScheme name="Ledger Teal">
      <a:dk1>
        <a:srgbClr val="16212B"/>
      </a:dk1>
      <a:lt1>
        <a:srgbClr val="FFFFFF"/>
      </a:lt1>
      <a:dk2>
        <a:srgbClr val="0B2B33"/>
      </a:dk2>
      <a:lt2>
        <a:srgbClr val="EDF3F2"/>
      </a:lt2>
      <a:accent1>
        <a:srgbClr val="0E8577"/>
      </a:accent1>
      <a:accent2>
        <a:srgbClr val="C9821E"/>
      </a:accent2>
      <a:accent3>
        <a:srgbClr val="C43D3D"/>
      </a:accent3>
      <a:accent4>
        <a:srgbClr val="2B8F55"/>
      </a:accent4>
      <a:accent5>
        <a:srgbClr val="5D6C79"/>
      </a:accent5>
      <a:accent6>
        <a:srgbClr val="8FE0D2"/>
      </a:accent6>
      <a:hlink>
        <a:srgbClr val="0E8577"/>
      </a:hlink>
      <a:folHlink>
        <a:srgbClr val="5D6C79"/>
      </a:folHlink>
    </a:clrScheme>
    <a:fontScheme name="Ledger Tea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Project Review - Blockchain Logistics Validator</dc:title>
  <dc:subject>UiPath-Based Validation of Blockchain Transactions for Transparent Logistics</dc:subject>
  <dc:creator>Adithya Sankar Menon, Nitin Nandakumar</dc:creator>
  <cp:lastModifiedBy>Adithya Sankar Menon, Nitin Nandakumar</cp:lastModifiedBy>
  <cp:revision>1</cp:revision>
  <dcterms:created xsi:type="dcterms:W3CDTF">2026-10-22T16:08:27Z</dcterms:created>
  <dcterms:modified xsi:type="dcterms:W3CDTF">2026-10-22T16:08:27Z</dcterms:modified>
</cp:coreProperties>
</file>
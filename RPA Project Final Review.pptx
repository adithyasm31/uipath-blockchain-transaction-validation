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c:ser>
          <c:idx val="0"/>
          <c:order val="0"/>
          <c:tx>
            <c:strRef>
              <c:f>Sheet1!$B$1</c:f>
              <c:strCache>
                <c:ptCount val="1"/>
                <c:pt idx="0">
                  <c:v>Transactions</c:v>
                </c:pt>
              </c:strCache>
            </c:strRef>
          </c:tx>
          <c:dPt>
            <c:idx val="0"/>
            <c:spPr>
              <a:solidFill>
                <a:srgbClr val="1A7F4B"/>
              </a:solidFill>
            </c:spPr>
          </c:dPt>
          <c:dPt>
            <c:idx val="1"/>
            <c:spPr>
              <a:solidFill>
                <a:srgbClr val="8A6100"/>
              </a:solidFill>
            </c:spPr>
          </c:dPt>
          <c:dPt>
            <c:idx val="2"/>
            <c:spPr>
              <a:solidFill>
                <a:srgbClr val="B3261E"/>
              </a:solidFill>
            </c:spPr>
          </c:dPt>
          <c:cat>
            <c:strRef>
              <c:f>Sheet1!$A$2:$A$4</c:f>
              <c:strCache>
                <c:ptCount val="3"/>
                <c:pt idx="0">
                  <c:v>Pass</c:v>
                </c:pt>
                <c:pt idx="1">
                  <c:v>Warning</c:v>
                </c:pt>
                <c:pt idx="2">
                  <c:v>Fail</c:v>
                </c:pt>
              </c:strCache>
            </c:strRef>
          </c:cat>
          <c:val>
            <c:numRef>
              <c:f>Sheet1!$B$2:$B$4</c:f>
              <c:numCache>
                <c:formatCode>General</c:formatCode>
                <c:ptCount val="3"/>
                <c:pt idx="0">
                  <c:v>40</c:v>
                </c:pt>
                <c:pt idx="1">
                  <c:v>1</c:v>
                </c:pt>
                <c:pt idx="2">
                  <c:v>7</c:v>
                </c:pt>
              </c:numCache>
            </c:numRef>
          </c:val>
        </c:ser>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Findings</c:v>
                </c:pt>
              </c:strCache>
            </c:strRef>
          </c:tx>
          <c:spPr>
            <a:solidFill>
              <a:srgbClr val="2F1D63"/>
            </a:solidFill>
          </c:spPr>
          <c:cat>
            <c:strRef>
              <c:f>Sheet1!$A$2:$A$7</c:f>
              <c:strCache>
                <c:ptCount val="6"/>
                <c:pt idx="0">
                  <c:v>R1</c:v>
                </c:pt>
                <c:pt idx="1">
                  <c:v>R2</c:v>
                </c:pt>
                <c:pt idx="2">
                  <c:v>R3</c:v>
                </c:pt>
                <c:pt idx="3">
                  <c:v>R4</c:v>
                </c:pt>
                <c:pt idx="4">
                  <c:v>R5</c:v>
                </c:pt>
                <c:pt idx="5">
                  <c:v>R6</c:v>
                </c:pt>
              </c:strCache>
            </c:strRef>
          </c:cat>
          <c:val>
            <c:numRef>
              <c:f>Sheet1!$B$2:$B$7</c:f>
              <c:numCache>
                <c:formatCode>General</c:formatCode>
                <c:ptCount val="6"/>
                <c:pt idx="0">
                  <c:v>2</c:v>
                </c:pt>
                <c:pt idx="1">
                  <c:v>1</c:v>
                </c:pt>
                <c:pt idx="2">
                  <c:v>1</c:v>
                </c:pt>
                <c:pt idx="3">
                  <c:v>2</c:v>
                </c:pt>
                <c:pt idx="4">
                  <c:v>1</c:v>
                </c:pt>
                <c:pt idx="5">
                  <c:v>1</c:v>
                </c:pt>
              </c:numCache>
            </c:numRef>
          </c:val>
        </c:ser>
        <c:gapWidth val="7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Nitin opens. One line: blockchain makes a record immutable, it does not make it correct - that is the gap this project fills. Say that this is the final review of a finished system, and that everything in the deck is reproducible with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'what changed' slide - keep it to about a minute. The one to dwell on is the mapping engine, because it is what turns the chain-agnostic claim from an assertion into a property of the design. The others are each a Review 1 commitment that was still open at Review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intellectual core, and the question most likely to be probed. Land the distinction between immutable and verified before showing any code. If asked 'isn't blockchain data already trustworthy' - immutable, not correct: the chain guarantees the record has not changed since it was written, not that it was true when written, and not that it agrees with the ERP.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Adithya leads. The point to emphasise is 14_Finalise_Run: it is why queue mode is not a second, divergent code path. If asked why Invoke Code rather than all activities - three of the six rules compare rows against one another, and a state machine drawn as activities would be unreadable.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Adithya leads. This slide did not exist at Review 2 - the FieldMapping sheet was read but never applied. Run chain_swap_demo.ps1 live if there is time, or open FieldMapping next to FieldMapping_EvmEtl in Config.xlsx to show the two translations side by side. The Besu export is the convincing one because its field names and timestamp format are genuinely different, not a renamed copy.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seeded failure is a real, valid on-chain transaction - that is the whole point. The sample data contains exactly one anomaly per rule, so a single run exercises all six. Severity is not decoration: it decides whether a finding is escalated to a human, and it is a cell in Config.xlsx.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seconds of workflow execution. Against a manual baseline of two to three minutes per transaction this supports the 90% reduction claim from Review 1 - present it as an estimate against a stated baseline, not as a measured comparison, because no manual baseline was actually timed. The determinism point is worth making: it is what lets a suite assert exact counts.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oracle is the point worth making here: we did not just assert our own output was right, we verified it against a deliberately separate implementation written from the data, not from the bot's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moment: toggle R4 off live. Adithya leads. The point is that change control sits with the people who own the domain knowledge, not with developers. Note that the sheet count went from six to seven since Review 2 - FieldMapping_EvmEtl is the new one, and it is what makes a differently-shaped ledger export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Nitin leads. Demo the form live if the projector allows - set AttendedMode True and EscalationMode PROMPT beforehand, and set it back to SIMULATE afterwards. Choose REJECTED so the decision shows up in the dashboard and the PDF. TC10 proves the form appears, times out to DEFERRED and keeps an evidence image, but a human clicking through it can only be rehearsed - do it at least once before the review.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90 seconds that separate the project from a data-comparison script. Open the CSV, show the three hash columns, then run tamper_test.ps1 live. It verifies clean, flips one FAIL to PASS - the exact edit somebody covering up an anomaly would make - detects it at the exact line, and restores the file. If asked why hash a log that is already about a blockchain: the transactions are on-chain, the validation is not. It happens off-chain, in the bot.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Nitin leads. Open the newest xlsx and the newest pdf from the run you just did. Read one FailureReasons cell aloud - it is written in plain English on purpose, because the person who reads it is a logistics manager, not a developer. The PDF and the webhook payloads are both new since Review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Adithya leads. Say plainly that the queue is a local file and the project runs in Studio only - our Orchestrator access ended before the final review. The split per shipment is the design point. If there is time: set RunMode = DISPATCH in Config.xlsx, run Main, then open Workflows\Queue\Performer.xaml and Run File, and show that the counts and the audit trail match a batch run.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bug story even if not asked - it is the most credible sentence available, because it is what actually happens when you test properly. Run the suite before the review, not during it: it takes about fifteen minutes and it answers an on-screen dialog itself near the end, so do not touch the mouse while it finishes.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this slide. Answer plainly if asked - waffling reads as not knowing. The honest summary: Orchestrator is out of scope because the project runs in Studio only, and the other gaps are accounts or tools, not capability - a live API key, the browser extension, and real mail and chat endpoints. Each path is exercised locally up to the final hop. This is also the slide that shortened most since Review 2, because the PDF, webhooks, ledger export and Performer all moved from the right column to the left.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returning to the opening line: immutable is not the same as verified, and this is the bot that does the verifying. Then invite questions. Expect: is blockchain data already trustworthy, why RPA rather than a Python script, why hash the audit log, is the data real, where are the tests, and what does not work - all six are answered in docs/DEMO_SCRIPT.md.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625"/>
        </a:solidFill>
        <a:effectLst/>
      </p:bgPr>
    </p:bg>
    <p:spTree>
      <p:nvGrpSpPr>
        <p:cNvPr id="1" name=""/>
        <p:cNvGrpSpPr/>
        <p:nvPr/>
      </p:nvGrpSpPr>
      <p:grpSpPr/>
      <p:sp>
        <p:nvSpPr>
          <p:cNvPr id="2" name="Oval 1"/>
          <p:cNvSpPr/>
          <p:nvPr/>
        </p:nvSpPr>
        <p:spPr>
          <a:xfrm>
            <a:off x="9052560" y="-1371600"/>
            <a:ext cx="5120640" cy="5120640"/>
          </a:xfrm>
          <a:prstGeom prst="ellipse">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383280"/>
            <a:ext cx="2926080" cy="2926080"/>
          </a:xfrm>
          <a:prstGeom prst="ellipse">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98448"/>
            <a:ext cx="7680960" cy="274320"/>
          </a:xfrm>
          <a:prstGeom prst="rect">
            <a:avLst/>
          </a:prstGeom>
          <a:noFill/>
        </p:spPr>
        <p:txBody>
          <a:bodyPr wrap="square" lIns="0" rIns="0" tIns="0" bIns="0" anchor="t">
            <a:spAutoFit/>
          </a:bodyPr>
          <a:lstStyle/>
          <a:p>
            <a:pPr algn="l"/>
            <a:r>
              <a:rPr sz="1250" b="1">
                <a:solidFill>
                  <a:srgbClr val="FF8AAF"/>
                </a:solidFill>
                <a:latin typeface="Calibri"/>
              </a:rPr>
              <a:t>FINAL REVIEW</a:t>
            </a:r>
          </a:p>
        </p:txBody>
      </p:sp>
      <p:sp>
        <p:nvSpPr>
          <p:cNvPr id="5" name="TextBox 4"/>
          <p:cNvSpPr txBox="1"/>
          <p:nvPr/>
        </p:nvSpPr>
        <p:spPr>
          <a:xfrm>
            <a:off x="566928" y="1700784"/>
            <a:ext cx="7955279" cy="1737360"/>
          </a:xfrm>
          <a:prstGeom prst="rect">
            <a:avLst/>
          </a:prstGeom>
          <a:noFill/>
        </p:spPr>
        <p:txBody>
          <a:bodyPr wrap="square" lIns="0" rIns="0" tIns="0" bIns="0" anchor="t">
            <a:spAutoFit/>
          </a:bodyPr>
          <a:lstStyle/>
          <a:p>
            <a:pPr algn="l"/>
            <a:r>
              <a:rPr sz="3700" b="1">
                <a:solidFill>
                  <a:srgbClr val="FFFFFF"/>
                </a:solidFill>
                <a:latin typeface="Calibri"/>
              </a:rPr>
              <a:t>UiPath-Based Validation of Blockchain Transactions for Transparent Logistics</a:t>
            </a:r>
          </a:p>
        </p:txBody>
      </p:sp>
      <p:sp>
        <p:nvSpPr>
          <p:cNvPr id="6" name="TextBox 5"/>
          <p:cNvSpPr txBox="1"/>
          <p:nvPr/>
        </p:nvSpPr>
        <p:spPr>
          <a:xfrm>
            <a:off x="566928" y="3621024"/>
            <a:ext cx="7589520" cy="822960"/>
          </a:xfrm>
          <a:prstGeom prst="rect">
            <a:avLst/>
          </a:prstGeom>
          <a:noFill/>
        </p:spPr>
        <p:txBody>
          <a:bodyPr wrap="square" lIns="0" rIns="0" tIns="0" bIns="0" anchor="t">
            <a:spAutoFit/>
          </a:bodyPr>
          <a:lstStyle/>
          <a:p>
            <a:pPr algn="l"/>
            <a:r>
              <a:rPr sz="1400" b="0">
                <a:solidFill>
                  <a:srgbClr val="CFC7E4"/>
                </a:solidFill>
                <a:latin typeface="Calibri"/>
              </a:rPr>
              <a:t>An RPA bot that reconciles on-chain logistics events against enterprise ERP records, flags anomalies against six configurable rules, escalates to a human, and proves its own audit trail was never altered.</a:t>
            </a:r>
          </a:p>
        </p:txBody>
      </p:sp>
      <p:sp>
        <p:nvSpPr>
          <p:cNvPr id="7" name="TextBox 6"/>
          <p:cNvSpPr txBox="1"/>
          <p:nvPr/>
        </p:nvSpPr>
        <p:spPr>
          <a:xfrm>
            <a:off x="566928" y="4681728"/>
            <a:ext cx="3840480" cy="274320"/>
          </a:xfrm>
          <a:prstGeom prst="rect">
            <a:avLst/>
          </a:prstGeom>
          <a:noFill/>
        </p:spPr>
        <p:txBody>
          <a:bodyPr wrap="square" lIns="0" rIns="0" tIns="0" bIns="0" anchor="t">
            <a:spAutoFit/>
          </a:bodyPr>
          <a:lstStyle/>
          <a:p>
            <a:pPr algn="l"/>
            <a:r>
              <a:rPr sz="1300" b="1">
                <a:solidFill>
                  <a:srgbClr val="FFFFFF"/>
                </a:solidFill>
                <a:latin typeface="Calibri"/>
              </a:rPr>
              <a:t>Adithya Sankar Menon  23BRS1079</a:t>
            </a:r>
          </a:p>
        </p:txBody>
      </p:sp>
      <p:sp>
        <p:nvSpPr>
          <p:cNvPr id="8" name="TextBox 7"/>
          <p:cNvSpPr txBox="1"/>
          <p:nvPr/>
        </p:nvSpPr>
        <p:spPr>
          <a:xfrm>
            <a:off x="566928" y="4992624"/>
            <a:ext cx="3840480" cy="274320"/>
          </a:xfrm>
          <a:prstGeom prst="rect">
            <a:avLst/>
          </a:prstGeom>
          <a:noFill/>
        </p:spPr>
        <p:txBody>
          <a:bodyPr wrap="square" lIns="0" rIns="0" tIns="0" bIns="0" anchor="t">
            <a:spAutoFit/>
          </a:bodyPr>
          <a:lstStyle/>
          <a:p>
            <a:pPr algn="l"/>
            <a:r>
              <a:rPr sz="1300" b="1">
                <a:solidFill>
                  <a:srgbClr val="FFFFFF"/>
                </a:solidFill>
                <a:latin typeface="Calibri"/>
              </a:rPr>
              <a:t>Nitin Nandakumar  23BRS1378</a:t>
            </a:r>
          </a:p>
        </p:txBody>
      </p:sp>
      <p:sp>
        <p:nvSpPr>
          <p:cNvPr id="9" name="TextBox 8"/>
          <p:cNvSpPr txBox="1"/>
          <p:nvPr/>
        </p:nvSpPr>
        <p:spPr>
          <a:xfrm>
            <a:off x="566928" y="5742432"/>
            <a:ext cx="7680960" cy="274320"/>
          </a:xfrm>
          <a:prstGeom prst="rect">
            <a:avLst/>
          </a:prstGeom>
          <a:noFill/>
        </p:spPr>
        <p:txBody>
          <a:bodyPr wrap="square" lIns="0" rIns="0" tIns="0" bIns="0" anchor="t">
            <a:spAutoFit/>
          </a:bodyPr>
          <a:lstStyle/>
          <a:p>
            <a:pPr algn="l"/>
            <a:r>
              <a:rPr sz="1150" b="0">
                <a:solidFill>
                  <a:srgbClr val="A79FC0"/>
                </a:solidFill>
                <a:latin typeface="Calibri"/>
              </a:rPr>
              <a:t>Robotic Process Automation  ·  21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SINCE REVIEW 2</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Six capabilities added, and the gap list shortened</a:t>
            </a:r>
          </a:p>
        </p:txBody>
      </p:sp>
      <p:sp>
        <p:nvSpPr>
          <p:cNvPr id="4" name="Rounded Rectangle 3"/>
          <p:cNvSpPr/>
          <p:nvPr/>
        </p:nvSpPr>
        <p:spPr>
          <a:xfrm>
            <a:off x="566928" y="1426464"/>
            <a:ext cx="11055096" cy="768096"/>
          </a:xfrm>
          <a:prstGeom prst="roundRect">
            <a:avLst>
              <a:gd name="adj" fmla="val 11904"/>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04672" y="1655064"/>
            <a:ext cx="310896" cy="310896"/>
          </a:xfrm>
          <a:prstGeom prst="ellipse">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691640"/>
            <a:ext cx="310896" cy="237744"/>
          </a:xfrm>
          <a:prstGeom prst="rect">
            <a:avLst/>
          </a:prstGeom>
          <a:noFill/>
        </p:spPr>
        <p:txBody>
          <a:bodyPr wrap="square" lIns="0" rIns="0" tIns="0" bIns="0" anchor="t">
            <a:spAutoFit/>
          </a:bodyPr>
          <a:lstStyle/>
          <a:p>
            <a:pPr algn="ctr"/>
            <a:r>
              <a:rPr sz="1250" b="1">
                <a:solidFill>
                  <a:srgbClr val="FFFFFF"/>
                </a:solidFill>
                <a:latin typeface="Calibri"/>
              </a:rPr>
              <a:t>1</a:t>
            </a:r>
          </a:p>
        </p:txBody>
      </p:sp>
      <p:sp>
        <p:nvSpPr>
          <p:cNvPr id="7" name="TextBox 6"/>
          <p:cNvSpPr txBox="1"/>
          <p:nvPr/>
        </p:nvSpPr>
        <p:spPr>
          <a:xfrm>
            <a:off x="1280160" y="1554480"/>
            <a:ext cx="3200400" cy="274320"/>
          </a:xfrm>
          <a:prstGeom prst="rect">
            <a:avLst/>
          </a:prstGeom>
          <a:noFill/>
        </p:spPr>
        <p:txBody>
          <a:bodyPr wrap="square" lIns="0" rIns="0" tIns="0" bIns="0" anchor="t">
            <a:spAutoFit/>
          </a:bodyPr>
          <a:lstStyle/>
          <a:p>
            <a:pPr algn="l"/>
            <a:r>
              <a:rPr sz="1400" b="1">
                <a:solidFill>
                  <a:srgbClr val="2F1D63"/>
                </a:solidFill>
                <a:latin typeface="Calibri"/>
              </a:rPr>
              <a:t>Field mapping engine</a:t>
            </a:r>
          </a:p>
        </p:txBody>
      </p:sp>
      <p:sp>
        <p:nvSpPr>
          <p:cNvPr id="8" name="TextBox 7"/>
          <p:cNvSpPr txBox="1"/>
          <p:nvPr/>
        </p:nvSpPr>
        <p:spPr>
          <a:xfrm>
            <a:off x="1280160" y="1847088"/>
            <a:ext cx="3200400" cy="237744"/>
          </a:xfrm>
          <a:prstGeom prst="rect">
            <a:avLst/>
          </a:prstGeom>
          <a:noFill/>
        </p:spPr>
        <p:txBody>
          <a:bodyPr wrap="square" lIns="0" rIns="0" tIns="0" bIns="0" anchor="t">
            <a:spAutoFit/>
          </a:bodyPr>
          <a:lstStyle/>
          <a:p>
            <a:pPr algn="l"/>
            <a:r>
              <a:rPr sz="1000" b="0">
                <a:solidFill>
                  <a:srgbClr val="6B6480"/>
                </a:solidFill>
                <a:latin typeface="Courier New"/>
              </a:rPr>
              <a:t>01d_Apply_FieldMapping</a:t>
            </a:r>
          </a:p>
        </p:txBody>
      </p:sp>
      <p:sp>
        <p:nvSpPr>
          <p:cNvPr id="9" name="TextBox 8"/>
          <p:cNvSpPr txBox="1"/>
          <p:nvPr/>
        </p:nvSpPr>
        <p:spPr>
          <a:xfrm>
            <a:off x="4663440" y="1664208"/>
            <a:ext cx="6675120" cy="548640"/>
          </a:xfrm>
          <a:prstGeom prst="rect">
            <a:avLst/>
          </a:prstGeom>
          <a:noFill/>
        </p:spPr>
        <p:txBody>
          <a:bodyPr wrap="square" lIns="0" rIns="0" tIns="0" bIns="0" anchor="t">
            <a:spAutoFit/>
          </a:bodyPr>
          <a:lstStyle/>
          <a:p>
            <a:pPr algn="l"/>
            <a:r>
              <a:rPr sz="1150" b="0">
                <a:solidFill>
                  <a:srgbClr val="241C3A"/>
                </a:solidFill>
                <a:latin typeface="Calibri"/>
              </a:rPr>
              <a:t>Readers fetch; the mapping sheet translates. A new feed schema needs a sheet, not a workflow.</a:t>
            </a:r>
          </a:p>
        </p:txBody>
      </p:sp>
      <p:sp>
        <p:nvSpPr>
          <p:cNvPr id="10" name="Rounded Rectangle 9"/>
          <p:cNvSpPr/>
          <p:nvPr/>
        </p:nvSpPr>
        <p:spPr>
          <a:xfrm>
            <a:off x="566928" y="2267712"/>
            <a:ext cx="11055096" cy="768096"/>
          </a:xfrm>
          <a:prstGeom prst="roundRect">
            <a:avLst>
              <a:gd name="adj" fmla="val 11904"/>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496312"/>
            <a:ext cx="310896" cy="310896"/>
          </a:xfrm>
          <a:prstGeom prst="ellipse">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532888"/>
            <a:ext cx="310896" cy="237744"/>
          </a:xfrm>
          <a:prstGeom prst="rect">
            <a:avLst/>
          </a:prstGeom>
          <a:noFill/>
        </p:spPr>
        <p:txBody>
          <a:bodyPr wrap="square" lIns="0" rIns="0" tIns="0" bIns="0" anchor="t">
            <a:spAutoFit/>
          </a:bodyPr>
          <a:lstStyle/>
          <a:p>
            <a:pPr algn="ctr"/>
            <a:r>
              <a:rPr sz="1250" b="1">
                <a:solidFill>
                  <a:srgbClr val="FFFFFF"/>
                </a:solidFill>
                <a:latin typeface="Calibri"/>
              </a:rPr>
              <a:t>2</a:t>
            </a:r>
          </a:p>
        </p:txBody>
      </p:sp>
      <p:sp>
        <p:nvSpPr>
          <p:cNvPr id="13" name="TextBox 12"/>
          <p:cNvSpPr txBox="1"/>
          <p:nvPr/>
        </p:nvSpPr>
        <p:spPr>
          <a:xfrm>
            <a:off x="1280160" y="2395728"/>
            <a:ext cx="3200400" cy="274320"/>
          </a:xfrm>
          <a:prstGeom prst="rect">
            <a:avLst/>
          </a:prstGeom>
          <a:noFill/>
        </p:spPr>
        <p:txBody>
          <a:bodyPr wrap="square" lIns="0" rIns="0" tIns="0" bIns="0" anchor="t">
            <a:spAutoFit/>
          </a:bodyPr>
          <a:lstStyle/>
          <a:p>
            <a:pPr algn="l"/>
            <a:r>
              <a:rPr sz="1400" b="1">
                <a:solidFill>
                  <a:srgbClr val="2F1D63"/>
                </a:solidFill>
                <a:latin typeface="Calibri"/>
              </a:rPr>
              <a:t>Ledger export support</a:t>
            </a:r>
          </a:p>
        </p:txBody>
      </p:sp>
      <p:sp>
        <p:nvSpPr>
          <p:cNvPr id="14" name="TextBox 13"/>
          <p:cNvSpPr txBox="1"/>
          <p:nvPr/>
        </p:nvSpPr>
        <p:spPr>
          <a:xfrm>
            <a:off x="1280160" y="2688336"/>
            <a:ext cx="3200400" cy="237744"/>
          </a:xfrm>
          <a:prstGeom prst="rect">
            <a:avLst/>
          </a:prstGeom>
          <a:noFill/>
        </p:spPr>
        <p:txBody>
          <a:bodyPr wrap="square" lIns="0" rIns="0" tIns="0" bIns="0" anchor="t">
            <a:spAutoFit/>
          </a:bodyPr>
          <a:lstStyle/>
          <a:p>
            <a:pPr algn="l"/>
            <a:r>
              <a:rPr sz="1000" b="0">
                <a:solidFill>
                  <a:srgbClr val="6B6480"/>
                </a:solidFill>
                <a:latin typeface="Courier New"/>
              </a:rPr>
              <a:t>FieldMapping_EvmEtl</a:t>
            </a:r>
          </a:p>
        </p:txBody>
      </p:sp>
      <p:sp>
        <p:nvSpPr>
          <p:cNvPr id="15" name="TextBox 14"/>
          <p:cNvSpPr txBox="1"/>
          <p:nvPr/>
        </p:nvSpPr>
        <p:spPr>
          <a:xfrm>
            <a:off x="4663440" y="2505456"/>
            <a:ext cx="6675120" cy="548640"/>
          </a:xfrm>
          <a:prstGeom prst="rect">
            <a:avLst/>
          </a:prstGeom>
          <a:noFill/>
        </p:spPr>
        <p:txBody>
          <a:bodyPr wrap="square" lIns="0" rIns="0" tIns="0" bIns="0" anchor="t">
            <a:spAutoFit/>
          </a:bodyPr>
          <a:lstStyle/>
          <a:p>
            <a:pPr algn="l"/>
            <a:r>
              <a:rPr sz="1150" b="0">
                <a:solidFill>
                  <a:srgbClr val="241C3A"/>
                </a:solidFill>
                <a:latin typeface="Calibri"/>
              </a:rPr>
              <a:t>A Hyperledger Besu ethereum-etl export - different field names, different timestamp format.</a:t>
            </a:r>
          </a:p>
        </p:txBody>
      </p:sp>
      <p:sp>
        <p:nvSpPr>
          <p:cNvPr id="16" name="Rounded Rectangle 15"/>
          <p:cNvSpPr/>
          <p:nvPr/>
        </p:nvSpPr>
        <p:spPr>
          <a:xfrm>
            <a:off x="566928" y="3108960"/>
            <a:ext cx="11055096" cy="768096"/>
          </a:xfrm>
          <a:prstGeom prst="roundRect">
            <a:avLst>
              <a:gd name="adj" fmla="val 11904"/>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04672" y="3337560"/>
            <a:ext cx="310896" cy="310896"/>
          </a:xfrm>
          <a:prstGeom prst="ellipse">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374136"/>
            <a:ext cx="310896" cy="237744"/>
          </a:xfrm>
          <a:prstGeom prst="rect">
            <a:avLst/>
          </a:prstGeom>
          <a:noFill/>
        </p:spPr>
        <p:txBody>
          <a:bodyPr wrap="square" lIns="0" rIns="0" tIns="0" bIns="0" anchor="t">
            <a:spAutoFit/>
          </a:bodyPr>
          <a:lstStyle/>
          <a:p>
            <a:pPr algn="ctr"/>
            <a:r>
              <a:rPr sz="1250" b="1">
                <a:solidFill>
                  <a:srgbClr val="FFFFFF"/>
                </a:solidFill>
                <a:latin typeface="Calibri"/>
              </a:rPr>
              <a:t>3</a:t>
            </a:r>
          </a:p>
        </p:txBody>
      </p:sp>
      <p:sp>
        <p:nvSpPr>
          <p:cNvPr id="19" name="TextBox 18"/>
          <p:cNvSpPr txBox="1"/>
          <p:nvPr/>
        </p:nvSpPr>
        <p:spPr>
          <a:xfrm>
            <a:off x="1280160" y="3236976"/>
            <a:ext cx="3200400" cy="274320"/>
          </a:xfrm>
          <a:prstGeom prst="rect">
            <a:avLst/>
          </a:prstGeom>
          <a:noFill/>
        </p:spPr>
        <p:txBody>
          <a:bodyPr wrap="square" lIns="0" rIns="0" tIns="0" bIns="0" anchor="t">
            <a:spAutoFit/>
          </a:bodyPr>
          <a:lstStyle/>
          <a:p>
            <a:pPr algn="l"/>
            <a:r>
              <a:rPr sz="1400" b="1">
                <a:solidFill>
                  <a:srgbClr val="2F1D63"/>
                </a:solidFill>
                <a:latin typeface="Calibri"/>
              </a:rPr>
              <a:t>LOOKUP shipment linking</a:t>
            </a:r>
          </a:p>
        </p:txBody>
      </p:sp>
      <p:sp>
        <p:nvSpPr>
          <p:cNvPr id="20" name="TextBox 19"/>
          <p:cNvSpPr txBox="1"/>
          <p:nvPr/>
        </p:nvSpPr>
        <p:spPr>
          <a:xfrm>
            <a:off x="1280160" y="3529584"/>
            <a:ext cx="3200400" cy="237744"/>
          </a:xfrm>
          <a:prstGeom prst="rect">
            <a:avLst/>
          </a:prstGeom>
          <a:noFill/>
        </p:spPr>
        <p:txBody>
          <a:bodyPr wrap="square" lIns="0" rIns="0" tIns="0" bIns="0" anchor="t">
            <a:spAutoFit/>
          </a:bodyPr>
          <a:lstStyle/>
          <a:p>
            <a:pPr algn="l"/>
            <a:r>
              <a:rPr sz="1000" b="0">
                <a:solidFill>
                  <a:srgbClr val="6B6480"/>
                </a:solidFill>
                <a:latin typeface="Courier New"/>
              </a:rPr>
              <a:t>MappingMode = LOOKUP</a:t>
            </a:r>
          </a:p>
        </p:txBody>
      </p:sp>
      <p:sp>
        <p:nvSpPr>
          <p:cNvPr id="21" name="TextBox 20"/>
          <p:cNvSpPr txBox="1"/>
          <p:nvPr/>
        </p:nvSpPr>
        <p:spPr>
          <a:xfrm>
            <a:off x="4663440" y="3346704"/>
            <a:ext cx="6675120" cy="548640"/>
          </a:xfrm>
          <a:prstGeom prst="rect">
            <a:avLst/>
          </a:prstGeom>
          <a:noFill/>
        </p:spPr>
        <p:txBody>
          <a:bodyPr wrap="square" lIns="0" rIns="0" tIns="0" bIns="0" anchor="t">
            <a:spAutoFit/>
          </a:bodyPr>
          <a:lstStyle/>
          <a:p>
            <a:pPr algn="l"/>
            <a:r>
              <a:rPr sz="1150" b="0">
                <a:solidFill>
                  <a:srgbClr val="241C3A"/>
                </a:solidFill>
                <a:latin typeface="Calibri"/>
              </a:rPr>
              <a:t>Shipment keys from a mapping file when the call data does not carry one.</a:t>
            </a:r>
          </a:p>
        </p:txBody>
      </p:sp>
      <p:sp>
        <p:nvSpPr>
          <p:cNvPr id="22" name="Rounded Rectangle 21"/>
          <p:cNvSpPr/>
          <p:nvPr/>
        </p:nvSpPr>
        <p:spPr>
          <a:xfrm>
            <a:off x="566928" y="3950208"/>
            <a:ext cx="11055096" cy="768096"/>
          </a:xfrm>
          <a:prstGeom prst="roundRect">
            <a:avLst>
              <a:gd name="adj" fmla="val 11904"/>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4178808"/>
            <a:ext cx="310896" cy="310896"/>
          </a:xfrm>
          <a:prstGeom prst="ellipse">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215384"/>
            <a:ext cx="310896" cy="237744"/>
          </a:xfrm>
          <a:prstGeom prst="rect">
            <a:avLst/>
          </a:prstGeom>
          <a:noFill/>
        </p:spPr>
        <p:txBody>
          <a:bodyPr wrap="square" lIns="0" rIns="0" tIns="0" bIns="0" anchor="t">
            <a:spAutoFit/>
          </a:bodyPr>
          <a:lstStyle/>
          <a:p>
            <a:pPr algn="ctr"/>
            <a:r>
              <a:rPr sz="1250" b="1">
                <a:solidFill>
                  <a:srgbClr val="FFFFFF"/>
                </a:solidFill>
                <a:latin typeface="Calibri"/>
              </a:rPr>
              <a:t>4</a:t>
            </a:r>
          </a:p>
        </p:txBody>
      </p:sp>
      <p:sp>
        <p:nvSpPr>
          <p:cNvPr id="25" name="TextBox 24"/>
          <p:cNvSpPr txBox="1"/>
          <p:nvPr/>
        </p:nvSpPr>
        <p:spPr>
          <a:xfrm>
            <a:off x="1280160" y="4078224"/>
            <a:ext cx="3200400" cy="274320"/>
          </a:xfrm>
          <a:prstGeom prst="rect">
            <a:avLst/>
          </a:prstGeom>
          <a:noFill/>
        </p:spPr>
        <p:txBody>
          <a:bodyPr wrap="square" lIns="0" rIns="0" tIns="0" bIns="0" anchor="t">
            <a:spAutoFit/>
          </a:bodyPr>
          <a:lstStyle/>
          <a:p>
            <a:pPr algn="l"/>
            <a:r>
              <a:rPr sz="1400" b="1">
                <a:solidFill>
                  <a:srgbClr val="2F1D63"/>
                </a:solidFill>
                <a:latin typeface="Calibri"/>
              </a:rPr>
              <a:t>Formal PDF audit report</a:t>
            </a:r>
          </a:p>
        </p:txBody>
      </p:sp>
      <p:sp>
        <p:nvSpPr>
          <p:cNvPr id="26" name="TextBox 25"/>
          <p:cNvSpPr txBox="1"/>
          <p:nvPr/>
        </p:nvSpPr>
        <p:spPr>
          <a:xfrm>
            <a:off x="1280160" y="4370832"/>
            <a:ext cx="3200400" cy="237744"/>
          </a:xfrm>
          <a:prstGeom prst="rect">
            <a:avLst/>
          </a:prstGeom>
          <a:noFill/>
        </p:spPr>
        <p:txBody>
          <a:bodyPr wrap="square" lIns="0" rIns="0" tIns="0" bIns="0" anchor="t">
            <a:spAutoFit/>
          </a:bodyPr>
          <a:lstStyle/>
          <a:p>
            <a:pPr algn="l"/>
            <a:r>
              <a:rPr sz="1000" b="0">
                <a:solidFill>
                  <a:srgbClr val="6B6480"/>
                </a:solidFill>
                <a:latin typeface="Courier New"/>
              </a:rPr>
              <a:t>08_Report_PDF</a:t>
            </a:r>
          </a:p>
        </p:txBody>
      </p:sp>
      <p:sp>
        <p:nvSpPr>
          <p:cNvPr id="27" name="TextBox 26"/>
          <p:cNvSpPr txBox="1"/>
          <p:nvPr/>
        </p:nvSpPr>
        <p:spPr>
          <a:xfrm>
            <a:off x="4663440" y="4187952"/>
            <a:ext cx="6675120" cy="548640"/>
          </a:xfrm>
          <a:prstGeom prst="rect">
            <a:avLst/>
          </a:prstGeom>
          <a:noFill/>
        </p:spPr>
        <p:txBody>
          <a:bodyPr wrap="square" lIns="0" rIns="0" tIns="0" bIns="0" anchor="t">
            <a:spAutoFit/>
          </a:bodyPr>
          <a:lstStyle/>
          <a:p>
            <a:pPr algn="l"/>
            <a:r>
              <a:rPr sz="1150" b="0">
                <a:solidFill>
                  <a:srgbClr val="241C3A"/>
                </a:solidFill>
                <a:latin typeface="Calibri"/>
              </a:rPr>
              <a:t>The document handed to an auditor: config, findings, decisions, chain head, signature block.</a:t>
            </a:r>
          </a:p>
        </p:txBody>
      </p:sp>
      <p:sp>
        <p:nvSpPr>
          <p:cNvPr id="28" name="Rounded Rectangle 27"/>
          <p:cNvSpPr/>
          <p:nvPr/>
        </p:nvSpPr>
        <p:spPr>
          <a:xfrm>
            <a:off x="566928" y="4791456"/>
            <a:ext cx="11055096" cy="768096"/>
          </a:xfrm>
          <a:prstGeom prst="roundRect">
            <a:avLst>
              <a:gd name="adj" fmla="val 11904"/>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4672" y="5020056"/>
            <a:ext cx="310896" cy="310896"/>
          </a:xfrm>
          <a:prstGeom prst="ellipse">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056632"/>
            <a:ext cx="310896" cy="237744"/>
          </a:xfrm>
          <a:prstGeom prst="rect">
            <a:avLst/>
          </a:prstGeom>
          <a:noFill/>
        </p:spPr>
        <p:txBody>
          <a:bodyPr wrap="square" lIns="0" rIns="0" tIns="0" bIns="0" anchor="t">
            <a:spAutoFit/>
          </a:bodyPr>
          <a:lstStyle/>
          <a:p>
            <a:pPr algn="ctr"/>
            <a:r>
              <a:rPr sz="1250" b="1">
                <a:solidFill>
                  <a:srgbClr val="FFFFFF"/>
                </a:solidFill>
                <a:latin typeface="Calibri"/>
              </a:rPr>
              <a:t>5</a:t>
            </a:r>
          </a:p>
        </p:txBody>
      </p:sp>
      <p:sp>
        <p:nvSpPr>
          <p:cNvPr id="31" name="TextBox 30"/>
          <p:cNvSpPr txBox="1"/>
          <p:nvPr/>
        </p:nvSpPr>
        <p:spPr>
          <a:xfrm>
            <a:off x="1280160" y="4919472"/>
            <a:ext cx="3200400" cy="274320"/>
          </a:xfrm>
          <a:prstGeom prst="rect">
            <a:avLst/>
          </a:prstGeom>
          <a:noFill/>
        </p:spPr>
        <p:txBody>
          <a:bodyPr wrap="square" lIns="0" rIns="0" tIns="0" bIns="0" anchor="t">
            <a:spAutoFit/>
          </a:bodyPr>
          <a:lstStyle/>
          <a:p>
            <a:pPr algn="l"/>
            <a:r>
              <a:rPr sz="1400" b="1">
                <a:solidFill>
                  <a:srgbClr val="2F1D63"/>
                </a:solidFill>
                <a:latin typeface="Calibri"/>
              </a:rPr>
              <a:t>Teams and Slack alerts</a:t>
            </a:r>
          </a:p>
        </p:txBody>
      </p:sp>
      <p:sp>
        <p:nvSpPr>
          <p:cNvPr id="32" name="TextBox 31"/>
          <p:cNvSpPr txBox="1"/>
          <p:nvPr/>
        </p:nvSpPr>
        <p:spPr>
          <a:xfrm>
            <a:off x="1280160" y="5212080"/>
            <a:ext cx="3200400" cy="237744"/>
          </a:xfrm>
          <a:prstGeom prst="rect">
            <a:avLst/>
          </a:prstGeom>
          <a:noFill/>
        </p:spPr>
        <p:txBody>
          <a:bodyPr wrap="square" lIns="0" rIns="0" tIns="0" bIns="0" anchor="t">
            <a:spAutoFit/>
          </a:bodyPr>
          <a:lstStyle/>
          <a:p>
            <a:pPr algn="l"/>
            <a:r>
              <a:rPr sz="1000" b="0">
                <a:solidFill>
                  <a:srgbClr val="6B6480"/>
                </a:solidFill>
                <a:latin typeface="Courier New"/>
              </a:rPr>
              <a:t>09b_Alert_Webhooks</a:t>
            </a:r>
          </a:p>
        </p:txBody>
      </p:sp>
      <p:sp>
        <p:nvSpPr>
          <p:cNvPr id="33" name="TextBox 32"/>
          <p:cNvSpPr txBox="1"/>
          <p:nvPr/>
        </p:nvSpPr>
        <p:spPr>
          <a:xfrm>
            <a:off x="4663440" y="5029200"/>
            <a:ext cx="6675120" cy="548640"/>
          </a:xfrm>
          <a:prstGeom prst="rect">
            <a:avLst/>
          </a:prstGeom>
          <a:noFill/>
        </p:spPr>
        <p:txBody>
          <a:bodyPr wrap="square" lIns="0" rIns="0" tIns="0" bIns="0" anchor="t">
            <a:spAutoFit/>
          </a:bodyPr>
          <a:lstStyle/>
          <a:p>
            <a:pPr algn="l"/>
            <a:r>
              <a:rPr sz="1150" b="0">
                <a:solidFill>
                  <a:srgbClr val="241C3A"/>
                </a:solidFill>
                <a:latin typeface="Calibri"/>
              </a:rPr>
              <a:t>An Adaptive Card and a Block Kit message alongside the e-mail.</a:t>
            </a:r>
          </a:p>
        </p:txBody>
      </p:sp>
      <p:sp>
        <p:nvSpPr>
          <p:cNvPr id="34" name="Rounded Rectangle 33"/>
          <p:cNvSpPr/>
          <p:nvPr/>
        </p:nvSpPr>
        <p:spPr>
          <a:xfrm>
            <a:off x="566928" y="5632704"/>
            <a:ext cx="11055096" cy="768096"/>
          </a:xfrm>
          <a:prstGeom prst="roundRect">
            <a:avLst>
              <a:gd name="adj" fmla="val 11904"/>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04672" y="5861304"/>
            <a:ext cx="310896" cy="310896"/>
          </a:xfrm>
          <a:prstGeom prst="ellipse">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897880"/>
            <a:ext cx="310896" cy="237744"/>
          </a:xfrm>
          <a:prstGeom prst="rect">
            <a:avLst/>
          </a:prstGeom>
          <a:noFill/>
        </p:spPr>
        <p:txBody>
          <a:bodyPr wrap="square" lIns="0" rIns="0" tIns="0" bIns="0" anchor="t">
            <a:spAutoFit/>
          </a:bodyPr>
          <a:lstStyle/>
          <a:p>
            <a:pPr algn="ctr"/>
            <a:r>
              <a:rPr sz="1250" b="1">
                <a:solidFill>
                  <a:srgbClr val="FFFFFF"/>
                </a:solidFill>
                <a:latin typeface="Calibri"/>
              </a:rPr>
              <a:t>6</a:t>
            </a:r>
          </a:p>
        </p:txBody>
      </p:sp>
      <p:sp>
        <p:nvSpPr>
          <p:cNvPr id="37" name="TextBox 36"/>
          <p:cNvSpPr txBox="1"/>
          <p:nvPr/>
        </p:nvSpPr>
        <p:spPr>
          <a:xfrm>
            <a:off x="1280160" y="5760720"/>
            <a:ext cx="3200400" cy="274320"/>
          </a:xfrm>
          <a:prstGeom prst="rect">
            <a:avLst/>
          </a:prstGeom>
          <a:noFill/>
        </p:spPr>
        <p:txBody>
          <a:bodyPr wrap="square" lIns="0" rIns="0" tIns="0" bIns="0" anchor="t">
            <a:spAutoFit/>
          </a:bodyPr>
          <a:lstStyle/>
          <a:p>
            <a:pPr algn="l"/>
            <a:r>
              <a:rPr sz="1400" b="1">
                <a:solidFill>
                  <a:srgbClr val="2F1D63"/>
                </a:solidFill>
                <a:latin typeface="Calibri"/>
              </a:rPr>
              <a:t>Standalone Performer</a:t>
            </a:r>
          </a:p>
        </p:txBody>
      </p:sp>
      <p:sp>
        <p:nvSpPr>
          <p:cNvPr id="38" name="TextBox 37"/>
          <p:cNvSpPr txBox="1"/>
          <p:nvPr/>
        </p:nvSpPr>
        <p:spPr>
          <a:xfrm>
            <a:off x="1280160" y="6053328"/>
            <a:ext cx="3200400" cy="237744"/>
          </a:xfrm>
          <a:prstGeom prst="rect">
            <a:avLst/>
          </a:prstGeom>
          <a:noFill/>
        </p:spPr>
        <p:txBody>
          <a:bodyPr wrap="square" lIns="0" rIns="0" tIns="0" bIns="0" anchor="t">
            <a:spAutoFit/>
          </a:bodyPr>
          <a:lstStyle/>
          <a:p>
            <a:pPr algn="l"/>
            <a:r>
              <a:rPr sz="1000" b="0">
                <a:solidFill>
                  <a:srgbClr val="6B6480"/>
                </a:solidFill>
                <a:latin typeface="Courier New"/>
              </a:rPr>
              <a:t>Queue\Performer.xaml</a:t>
            </a:r>
          </a:p>
        </p:txBody>
      </p:sp>
      <p:sp>
        <p:nvSpPr>
          <p:cNvPr id="39" name="TextBox 38"/>
          <p:cNvSpPr txBox="1"/>
          <p:nvPr/>
        </p:nvSpPr>
        <p:spPr>
          <a:xfrm>
            <a:off x="4663440" y="5870448"/>
            <a:ext cx="6675120" cy="548640"/>
          </a:xfrm>
          <a:prstGeom prst="rect">
            <a:avLst/>
          </a:prstGeom>
          <a:noFill/>
        </p:spPr>
        <p:txBody>
          <a:bodyPr wrap="square" lIns="0" rIns="0" tIns="0" bIns="0" anchor="t">
            <a:spAutoFit/>
          </a:bodyPr>
          <a:lstStyle/>
          <a:p>
            <a:pPr algn="l"/>
            <a:r>
              <a:rPr sz="1150" b="0">
                <a:solidFill>
                  <a:srgbClr val="241C3A"/>
                </a:solidFill>
                <a:latin typeface="Calibri"/>
              </a:rPr>
              <a:t>Its own entry point: works through the work queue, then runs the same finalise pipeline as a batch run.</a:t>
            </a:r>
          </a:p>
        </p:txBody>
      </p:sp>
      <p:sp>
        <p:nvSpPr>
          <p:cNvPr id="40" name="TextBox 39"/>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0625"/>
        </a:solidFill>
        <a:effectLst/>
      </p:bgPr>
    </p:bg>
    <p:spTree>
      <p:nvGrpSpPr>
        <p:cNvPr id="1" name=""/>
        <p:cNvGrpSpPr/>
        <p:nvPr/>
      </p:nvGrpSpPr>
      <p:grpSpPr/>
      <p:sp>
        <p:nvSpPr>
          <p:cNvPr id="2" name="Oval 1"/>
          <p:cNvSpPr/>
          <p:nvPr/>
        </p:nvSpPr>
        <p:spPr>
          <a:xfrm>
            <a:off x="-1645920" y="4023360"/>
            <a:ext cx="4206240" cy="4206240"/>
          </a:xfrm>
          <a:prstGeom prst="ellipse">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115568"/>
            <a:ext cx="11055096" cy="274320"/>
          </a:xfrm>
          <a:prstGeom prst="rect">
            <a:avLst/>
          </a:prstGeom>
          <a:noFill/>
        </p:spPr>
        <p:txBody>
          <a:bodyPr wrap="square" lIns="0" rIns="0" tIns="0" bIns="0" anchor="t">
            <a:spAutoFit/>
          </a:bodyPr>
          <a:lstStyle/>
          <a:p>
            <a:pPr algn="l"/>
            <a:r>
              <a:rPr sz="1200" b="1">
                <a:solidFill>
                  <a:srgbClr val="FF8AAF"/>
                </a:solidFill>
                <a:latin typeface="Calibri"/>
              </a:rPr>
              <a:t>THE PROBLEM, IN ONE LINE</a:t>
            </a:r>
          </a:p>
        </p:txBody>
      </p:sp>
      <p:sp>
        <p:nvSpPr>
          <p:cNvPr id="4" name="TextBox 3"/>
          <p:cNvSpPr txBox="1"/>
          <p:nvPr/>
        </p:nvSpPr>
        <p:spPr>
          <a:xfrm>
            <a:off x="566928" y="1591056"/>
            <a:ext cx="10241280" cy="1737360"/>
          </a:xfrm>
          <a:prstGeom prst="rect">
            <a:avLst/>
          </a:prstGeom>
          <a:noFill/>
        </p:spPr>
        <p:txBody>
          <a:bodyPr wrap="square" lIns="0" rIns="0" tIns="0" bIns="0" anchor="t">
            <a:spAutoFit/>
          </a:bodyPr>
          <a:lstStyle/>
          <a:p>
            <a:pPr algn="l"/>
            <a:r>
              <a:rPr sz="3400" b="1">
                <a:solidFill>
                  <a:srgbClr val="FFFFFF"/>
                </a:solidFill>
                <a:latin typeface="Calibri"/>
              </a:rPr>
              <a:t>Blockchain makes a record immutable.</a:t>
            </a:r>
          </a:p>
          <a:p>
            <a:pPr algn="l"/>
            <a:r>
              <a:rPr sz="3400" b="1">
                <a:solidFill>
                  <a:srgbClr val="FF8AAF"/>
                </a:solidFill>
                <a:latin typeface="Calibri"/>
              </a:rPr>
              <a:t>It does not make it correct.</a:t>
            </a:r>
          </a:p>
        </p:txBody>
      </p:sp>
      <p:sp>
        <p:nvSpPr>
          <p:cNvPr id="5" name="TextBox 4"/>
          <p:cNvSpPr txBox="1"/>
          <p:nvPr/>
        </p:nvSpPr>
        <p:spPr>
          <a:xfrm>
            <a:off x="566928" y="3584448"/>
            <a:ext cx="8778240" cy="914400"/>
          </a:xfrm>
          <a:prstGeom prst="rect">
            <a:avLst/>
          </a:prstGeom>
          <a:noFill/>
        </p:spPr>
        <p:txBody>
          <a:bodyPr wrap="square" lIns="0" rIns="0" tIns="0" bIns="0" anchor="t">
            <a:spAutoFit/>
          </a:bodyPr>
          <a:lstStyle/>
          <a:p>
            <a:pPr algn="l"/>
            <a:r>
              <a:rPr sz="1450" b="0">
                <a:solidFill>
                  <a:srgbClr val="CFC7E4"/>
                </a:solidFill>
                <a:latin typeface="Calibri"/>
              </a:rPr>
              <a:t>A tampered quantity, a forged timestamp or an unauthorised wallet is recorded just as permanently as a legitimate one. Every anomaly this bot catches is a perfectly valid on-chain transaction.</a:t>
            </a:r>
          </a:p>
        </p:txBody>
      </p:sp>
      <p:sp>
        <p:nvSpPr>
          <p:cNvPr id="6" name="Rounded Rectangle 5"/>
          <p:cNvSpPr/>
          <p:nvPr/>
        </p:nvSpPr>
        <p:spPr>
          <a:xfrm>
            <a:off x="566928" y="4828032"/>
            <a:ext cx="3456432" cy="1115568"/>
          </a:xfrm>
          <a:prstGeom prst="roundRect">
            <a:avLst>
              <a:gd name="adj" fmla="val 8196"/>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4974336"/>
            <a:ext cx="3017520" cy="274320"/>
          </a:xfrm>
          <a:prstGeom prst="rect">
            <a:avLst/>
          </a:prstGeom>
          <a:noFill/>
        </p:spPr>
        <p:txBody>
          <a:bodyPr wrap="square" lIns="0" rIns="0" tIns="0" bIns="0" anchor="t">
            <a:spAutoFit/>
          </a:bodyPr>
          <a:lstStyle/>
          <a:p>
            <a:pPr algn="l"/>
            <a:r>
              <a:rPr sz="1400" b="1">
                <a:solidFill>
                  <a:srgbClr val="FF8AAF"/>
                </a:solidFill>
                <a:latin typeface="Calibri"/>
              </a:rPr>
              <a:t>Manual</a:t>
            </a:r>
          </a:p>
        </p:txBody>
      </p:sp>
      <p:sp>
        <p:nvSpPr>
          <p:cNvPr id="8" name="TextBox 7"/>
          <p:cNvSpPr txBox="1"/>
          <p:nvPr/>
        </p:nvSpPr>
        <p:spPr>
          <a:xfrm>
            <a:off x="786384" y="5266944"/>
            <a:ext cx="3054096" cy="566928"/>
          </a:xfrm>
          <a:prstGeom prst="rect">
            <a:avLst/>
          </a:prstGeom>
          <a:noFill/>
        </p:spPr>
        <p:txBody>
          <a:bodyPr wrap="square" lIns="0" rIns="0" tIns="0" bIns="0" anchor="t">
            <a:spAutoFit/>
          </a:bodyPr>
          <a:lstStyle/>
          <a:p>
            <a:pPr algn="l"/>
            <a:r>
              <a:rPr sz="1100" b="0">
                <a:solidFill>
                  <a:srgbClr val="CFC7E4"/>
                </a:solidFill>
                <a:latin typeface="Calibri"/>
              </a:rPr>
              <a:t>Operators cross-check hashes against ERP records by hand</a:t>
            </a:r>
          </a:p>
        </p:txBody>
      </p:sp>
      <p:sp>
        <p:nvSpPr>
          <p:cNvPr id="9" name="Rounded Rectangle 8"/>
          <p:cNvSpPr/>
          <p:nvPr/>
        </p:nvSpPr>
        <p:spPr>
          <a:xfrm>
            <a:off x="4251960" y="4828032"/>
            <a:ext cx="3456432" cy="1115568"/>
          </a:xfrm>
          <a:prstGeom prst="roundRect">
            <a:avLst>
              <a:gd name="adj" fmla="val 8196"/>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71416" y="4974336"/>
            <a:ext cx="3017520" cy="274320"/>
          </a:xfrm>
          <a:prstGeom prst="rect">
            <a:avLst/>
          </a:prstGeom>
          <a:noFill/>
        </p:spPr>
        <p:txBody>
          <a:bodyPr wrap="square" lIns="0" rIns="0" tIns="0" bIns="0" anchor="t">
            <a:spAutoFit/>
          </a:bodyPr>
          <a:lstStyle/>
          <a:p>
            <a:pPr algn="l"/>
            <a:r>
              <a:rPr sz="1400" b="1">
                <a:solidFill>
                  <a:srgbClr val="FF8AAF"/>
                </a:solidFill>
                <a:latin typeface="Calibri"/>
              </a:rPr>
              <a:t>Siloed</a:t>
            </a:r>
          </a:p>
        </p:txBody>
      </p:sp>
      <p:sp>
        <p:nvSpPr>
          <p:cNvPr id="11" name="TextBox 10"/>
          <p:cNvSpPr txBox="1"/>
          <p:nvPr/>
        </p:nvSpPr>
        <p:spPr>
          <a:xfrm>
            <a:off x="4471416" y="5266944"/>
            <a:ext cx="3054096" cy="566928"/>
          </a:xfrm>
          <a:prstGeom prst="rect">
            <a:avLst/>
          </a:prstGeom>
          <a:noFill/>
        </p:spPr>
        <p:txBody>
          <a:bodyPr wrap="square" lIns="0" rIns="0" tIns="0" bIns="0" anchor="t">
            <a:spAutoFit/>
          </a:bodyPr>
          <a:lstStyle/>
          <a:p>
            <a:pPr algn="l"/>
            <a:r>
              <a:rPr sz="1100" b="0">
                <a:solidFill>
                  <a:srgbClr val="CFC7E4"/>
                </a:solidFill>
                <a:latin typeface="Calibri"/>
              </a:rPr>
              <a:t>Explorers emit JSON and hex; ERP systems speak Excel and SQL</a:t>
            </a:r>
          </a:p>
        </p:txBody>
      </p:sp>
      <p:sp>
        <p:nvSpPr>
          <p:cNvPr id="12" name="Rounded Rectangle 11"/>
          <p:cNvSpPr/>
          <p:nvPr/>
        </p:nvSpPr>
        <p:spPr>
          <a:xfrm>
            <a:off x="7936992" y="4828032"/>
            <a:ext cx="3456432" cy="1115568"/>
          </a:xfrm>
          <a:prstGeom prst="roundRect">
            <a:avLst>
              <a:gd name="adj" fmla="val 8196"/>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56448" y="4974336"/>
            <a:ext cx="3017520" cy="274320"/>
          </a:xfrm>
          <a:prstGeom prst="rect">
            <a:avLst/>
          </a:prstGeom>
          <a:noFill/>
        </p:spPr>
        <p:txBody>
          <a:bodyPr wrap="square" lIns="0" rIns="0" tIns="0" bIns="0" anchor="t">
            <a:spAutoFit/>
          </a:bodyPr>
          <a:lstStyle/>
          <a:p>
            <a:pPr algn="l"/>
            <a:r>
              <a:rPr sz="1400" b="1">
                <a:solidFill>
                  <a:srgbClr val="FF8AAF"/>
                </a:solidFill>
                <a:latin typeface="Calibri"/>
              </a:rPr>
              <a:t>Unprovable</a:t>
            </a:r>
          </a:p>
        </p:txBody>
      </p:sp>
      <p:sp>
        <p:nvSpPr>
          <p:cNvPr id="14" name="TextBox 13"/>
          <p:cNvSpPr txBox="1"/>
          <p:nvPr/>
        </p:nvSpPr>
        <p:spPr>
          <a:xfrm>
            <a:off x="8156448" y="5266944"/>
            <a:ext cx="3054096" cy="566928"/>
          </a:xfrm>
          <a:prstGeom prst="rect">
            <a:avLst/>
          </a:prstGeom>
          <a:noFill/>
        </p:spPr>
        <p:txBody>
          <a:bodyPr wrap="square" lIns="0" rIns="0" tIns="0" bIns="0" anchor="t">
            <a:spAutoFit/>
          </a:bodyPr>
          <a:lstStyle/>
          <a:p>
            <a:pPr algn="l"/>
            <a:r>
              <a:rPr sz="1100" b="0">
                <a:solidFill>
                  <a:srgbClr val="CFC7E4"/>
                </a:solidFill>
                <a:latin typeface="Calibri"/>
              </a:rPr>
              <a:t>A manual verification log is not itself evidence</a:t>
            </a:r>
          </a:p>
        </p:txBody>
      </p:sp>
      <p:sp>
        <p:nvSpPr>
          <p:cNvPr id="15" name="TextBox 14"/>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6B5F8F"/>
                </a:solidFill>
                <a:latin typeface="Calibri"/>
              </a:rPr>
              <a:t>Final Review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28 WORKFLOWS, ORCHESTRATED BY MAIN.XAML</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System architecture</a:t>
            </a:r>
          </a:p>
        </p:txBody>
      </p:sp>
      <p:sp>
        <p:nvSpPr>
          <p:cNvPr id="4" name="Rounded Rectangle 3"/>
          <p:cNvSpPr/>
          <p:nvPr/>
        </p:nvSpPr>
        <p:spPr>
          <a:xfrm>
            <a:off x="566928" y="1517904"/>
            <a:ext cx="2670048" cy="2670048"/>
          </a:xfrm>
          <a:prstGeom prst="roundRect">
            <a:avLst>
              <a:gd name="adj" fmla="val 3424"/>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9808" y="1700784"/>
            <a:ext cx="1225296" cy="310896"/>
          </a:xfrm>
          <a:prstGeom prst="roundRect">
            <a:avLst>
              <a:gd name="adj" fmla="val 50000"/>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737360"/>
            <a:ext cx="1225296" cy="237744"/>
          </a:xfrm>
          <a:prstGeom prst="rect">
            <a:avLst/>
          </a:prstGeom>
          <a:noFill/>
        </p:spPr>
        <p:txBody>
          <a:bodyPr wrap="square" lIns="0" rIns="0" tIns="0" bIns="0" anchor="t">
            <a:spAutoFit/>
          </a:bodyPr>
          <a:lstStyle/>
          <a:p>
            <a:pPr algn="ctr"/>
            <a:r>
              <a:rPr sz="950" b="1">
                <a:solidFill>
                  <a:srgbClr val="FFFFFF"/>
                </a:solidFill>
                <a:latin typeface="Calibri"/>
              </a:rPr>
              <a:t>INGEST</a:t>
            </a:r>
          </a:p>
        </p:txBody>
      </p:sp>
      <p:sp>
        <p:nvSpPr>
          <p:cNvPr id="7" name="TextBox 6"/>
          <p:cNvSpPr txBox="1"/>
          <p:nvPr/>
        </p:nvSpPr>
        <p:spPr>
          <a:xfrm>
            <a:off x="749808" y="2212848"/>
            <a:ext cx="475488" cy="256032"/>
          </a:xfrm>
          <a:prstGeom prst="rect">
            <a:avLst/>
          </a:prstGeom>
          <a:noFill/>
        </p:spPr>
        <p:txBody>
          <a:bodyPr wrap="square" lIns="0" rIns="0" tIns="0" bIns="0" anchor="t">
            <a:spAutoFit/>
          </a:bodyPr>
          <a:lstStyle/>
          <a:p>
            <a:pPr algn="l"/>
            <a:r>
              <a:rPr sz="1150" b="1">
                <a:solidFill>
                  <a:srgbClr val="FF8AAF"/>
                </a:solidFill>
                <a:latin typeface="Calibri"/>
              </a:rPr>
              <a:t>00</a:t>
            </a:r>
          </a:p>
        </p:txBody>
      </p:sp>
      <p:sp>
        <p:nvSpPr>
          <p:cNvPr id="8" name="TextBox 7"/>
          <p:cNvSpPr txBox="1"/>
          <p:nvPr/>
        </p:nvSpPr>
        <p:spPr>
          <a:xfrm>
            <a:off x="1261872" y="2212848"/>
            <a:ext cx="1828800" cy="256032"/>
          </a:xfrm>
          <a:prstGeom prst="rect">
            <a:avLst/>
          </a:prstGeom>
          <a:noFill/>
        </p:spPr>
        <p:txBody>
          <a:bodyPr wrap="square" lIns="0" rIns="0" tIns="0" bIns="0" anchor="t">
            <a:spAutoFit/>
          </a:bodyPr>
          <a:lstStyle/>
          <a:p>
            <a:pPr algn="l"/>
            <a:r>
              <a:rPr sz="1150" b="0">
                <a:solidFill>
                  <a:srgbClr val="241C3A"/>
                </a:solidFill>
                <a:latin typeface="Calibri"/>
              </a:rPr>
              <a:t>Read config</a:t>
            </a:r>
          </a:p>
        </p:txBody>
      </p:sp>
      <p:sp>
        <p:nvSpPr>
          <p:cNvPr id="9" name="TextBox 8"/>
          <p:cNvSpPr txBox="1"/>
          <p:nvPr/>
        </p:nvSpPr>
        <p:spPr>
          <a:xfrm>
            <a:off x="749808" y="2596896"/>
            <a:ext cx="475488" cy="256032"/>
          </a:xfrm>
          <a:prstGeom prst="rect">
            <a:avLst/>
          </a:prstGeom>
          <a:noFill/>
        </p:spPr>
        <p:txBody>
          <a:bodyPr wrap="square" lIns="0" rIns="0" tIns="0" bIns="0" anchor="t">
            <a:spAutoFit/>
          </a:bodyPr>
          <a:lstStyle/>
          <a:p>
            <a:pPr algn="l"/>
            <a:r>
              <a:rPr sz="1150" b="1">
                <a:solidFill>
                  <a:srgbClr val="FF8AAF"/>
                </a:solidFill>
                <a:latin typeface="Calibri"/>
              </a:rPr>
              <a:t>01</a:t>
            </a:r>
          </a:p>
        </p:txBody>
      </p:sp>
      <p:sp>
        <p:nvSpPr>
          <p:cNvPr id="10" name="TextBox 9"/>
          <p:cNvSpPr txBox="1"/>
          <p:nvPr/>
        </p:nvSpPr>
        <p:spPr>
          <a:xfrm>
            <a:off x="1261872" y="2596896"/>
            <a:ext cx="1828800" cy="256032"/>
          </a:xfrm>
          <a:prstGeom prst="rect">
            <a:avLst/>
          </a:prstGeom>
          <a:noFill/>
        </p:spPr>
        <p:txBody>
          <a:bodyPr wrap="square" lIns="0" rIns="0" tIns="0" bIns="0" anchor="t">
            <a:spAutoFit/>
          </a:bodyPr>
          <a:lstStyle/>
          <a:p>
            <a:pPr algn="l"/>
            <a:r>
              <a:rPr sz="1150" b="0">
                <a:solidFill>
                  <a:srgbClr val="241C3A"/>
                </a:solidFill>
                <a:latin typeface="Calibri"/>
              </a:rPr>
              <a:t>Extract chain</a:t>
            </a:r>
          </a:p>
        </p:txBody>
      </p:sp>
      <p:sp>
        <p:nvSpPr>
          <p:cNvPr id="11" name="TextBox 10"/>
          <p:cNvSpPr txBox="1"/>
          <p:nvPr/>
        </p:nvSpPr>
        <p:spPr>
          <a:xfrm>
            <a:off x="749808" y="2980944"/>
            <a:ext cx="475488" cy="256032"/>
          </a:xfrm>
          <a:prstGeom prst="rect">
            <a:avLst/>
          </a:prstGeom>
          <a:noFill/>
        </p:spPr>
        <p:txBody>
          <a:bodyPr wrap="square" lIns="0" rIns="0" tIns="0" bIns="0" anchor="t">
            <a:spAutoFit/>
          </a:bodyPr>
          <a:lstStyle/>
          <a:p>
            <a:pPr algn="l"/>
            <a:r>
              <a:rPr sz="1150" b="1">
                <a:solidFill>
                  <a:srgbClr val="FF8AAF"/>
                </a:solidFill>
                <a:latin typeface="Calibri"/>
              </a:rPr>
              <a:t>01d</a:t>
            </a:r>
          </a:p>
        </p:txBody>
      </p:sp>
      <p:sp>
        <p:nvSpPr>
          <p:cNvPr id="12" name="TextBox 11"/>
          <p:cNvSpPr txBox="1"/>
          <p:nvPr/>
        </p:nvSpPr>
        <p:spPr>
          <a:xfrm>
            <a:off x="1261872" y="2980944"/>
            <a:ext cx="1828800" cy="256032"/>
          </a:xfrm>
          <a:prstGeom prst="rect">
            <a:avLst/>
          </a:prstGeom>
          <a:noFill/>
        </p:spPr>
        <p:txBody>
          <a:bodyPr wrap="square" lIns="0" rIns="0" tIns="0" bIns="0" anchor="t">
            <a:spAutoFit/>
          </a:bodyPr>
          <a:lstStyle/>
          <a:p>
            <a:pPr algn="l"/>
            <a:r>
              <a:rPr sz="1150" b="0">
                <a:solidFill>
                  <a:srgbClr val="241C3A"/>
                </a:solidFill>
                <a:latin typeface="Calibri"/>
              </a:rPr>
              <a:t>Field mapping</a:t>
            </a:r>
          </a:p>
        </p:txBody>
      </p:sp>
      <p:sp>
        <p:nvSpPr>
          <p:cNvPr id="13" name="TextBox 12"/>
          <p:cNvSpPr txBox="1"/>
          <p:nvPr/>
        </p:nvSpPr>
        <p:spPr>
          <a:xfrm>
            <a:off x="749808" y="3364991"/>
            <a:ext cx="475488" cy="256032"/>
          </a:xfrm>
          <a:prstGeom prst="rect">
            <a:avLst/>
          </a:prstGeom>
          <a:noFill/>
        </p:spPr>
        <p:txBody>
          <a:bodyPr wrap="square" lIns="0" rIns="0" tIns="0" bIns="0" anchor="t">
            <a:spAutoFit/>
          </a:bodyPr>
          <a:lstStyle/>
          <a:p>
            <a:pPr algn="l"/>
            <a:r>
              <a:rPr sz="1150" b="1">
                <a:solidFill>
                  <a:srgbClr val="FF8AAF"/>
                </a:solidFill>
                <a:latin typeface="Calibri"/>
              </a:rPr>
              <a:t>02</a:t>
            </a:r>
          </a:p>
        </p:txBody>
      </p:sp>
      <p:sp>
        <p:nvSpPr>
          <p:cNvPr id="14" name="TextBox 13"/>
          <p:cNvSpPr txBox="1"/>
          <p:nvPr/>
        </p:nvSpPr>
        <p:spPr>
          <a:xfrm>
            <a:off x="1261872" y="3364991"/>
            <a:ext cx="1828800" cy="256032"/>
          </a:xfrm>
          <a:prstGeom prst="rect">
            <a:avLst/>
          </a:prstGeom>
          <a:noFill/>
        </p:spPr>
        <p:txBody>
          <a:bodyPr wrap="square" lIns="0" rIns="0" tIns="0" bIns="0" anchor="t">
            <a:spAutoFit/>
          </a:bodyPr>
          <a:lstStyle/>
          <a:p>
            <a:pPr algn="l"/>
            <a:r>
              <a:rPr sz="1150" b="0">
                <a:solidFill>
                  <a:srgbClr val="241C3A"/>
                </a:solidFill>
                <a:latin typeface="Calibri"/>
              </a:rPr>
              <a:t>Extract ERP</a:t>
            </a:r>
          </a:p>
        </p:txBody>
      </p:sp>
      <p:sp>
        <p:nvSpPr>
          <p:cNvPr id="15" name="TextBox 14"/>
          <p:cNvSpPr txBox="1"/>
          <p:nvPr/>
        </p:nvSpPr>
        <p:spPr>
          <a:xfrm>
            <a:off x="749808" y="3749039"/>
            <a:ext cx="475488" cy="256032"/>
          </a:xfrm>
          <a:prstGeom prst="rect">
            <a:avLst/>
          </a:prstGeom>
          <a:noFill/>
        </p:spPr>
        <p:txBody>
          <a:bodyPr wrap="square" lIns="0" rIns="0" tIns="0" bIns="0" anchor="t">
            <a:spAutoFit/>
          </a:bodyPr>
          <a:lstStyle/>
          <a:p>
            <a:pPr algn="l"/>
            <a:r>
              <a:rPr sz="1150" b="1">
                <a:solidFill>
                  <a:srgbClr val="FF8AAF"/>
                </a:solidFill>
                <a:latin typeface="Calibri"/>
              </a:rPr>
              <a:t>03</a:t>
            </a:r>
          </a:p>
        </p:txBody>
      </p:sp>
      <p:sp>
        <p:nvSpPr>
          <p:cNvPr id="16" name="TextBox 15"/>
          <p:cNvSpPr txBox="1"/>
          <p:nvPr/>
        </p:nvSpPr>
        <p:spPr>
          <a:xfrm>
            <a:off x="1261872" y="3749039"/>
            <a:ext cx="1828800" cy="256032"/>
          </a:xfrm>
          <a:prstGeom prst="rect">
            <a:avLst/>
          </a:prstGeom>
          <a:noFill/>
        </p:spPr>
        <p:txBody>
          <a:bodyPr wrap="square" lIns="0" rIns="0" tIns="0" bIns="0" anchor="t">
            <a:spAutoFit/>
          </a:bodyPr>
          <a:lstStyle/>
          <a:p>
            <a:pPr algn="l"/>
            <a:r>
              <a:rPr sz="1150" b="0">
                <a:solidFill>
                  <a:srgbClr val="241C3A"/>
                </a:solidFill>
                <a:latin typeface="Calibri"/>
              </a:rPr>
              <a:t>Map and join</a:t>
            </a:r>
          </a:p>
        </p:txBody>
      </p:sp>
      <p:sp>
        <p:nvSpPr>
          <p:cNvPr id="17" name="TextBox 16"/>
          <p:cNvSpPr txBox="1"/>
          <p:nvPr/>
        </p:nvSpPr>
        <p:spPr>
          <a:xfrm>
            <a:off x="3218688" y="2697480"/>
            <a:ext cx="219456" cy="365760"/>
          </a:xfrm>
          <a:prstGeom prst="rect">
            <a:avLst/>
          </a:prstGeom>
          <a:noFill/>
        </p:spPr>
        <p:txBody>
          <a:bodyPr wrap="square" lIns="0" rIns="0" tIns="0" bIns="0" anchor="t">
            <a:spAutoFit/>
          </a:bodyPr>
          <a:lstStyle/>
          <a:p>
            <a:pPr algn="l"/>
            <a:r>
              <a:rPr sz="2600" b="1">
                <a:solidFill>
                  <a:srgbClr val="9A81DF"/>
                </a:solidFill>
                <a:latin typeface="Calibri"/>
              </a:rPr>
              <a:t>›</a:t>
            </a:r>
          </a:p>
        </p:txBody>
      </p:sp>
      <p:sp>
        <p:nvSpPr>
          <p:cNvPr id="18" name="Rounded Rectangle 17"/>
          <p:cNvSpPr/>
          <p:nvPr/>
        </p:nvSpPr>
        <p:spPr>
          <a:xfrm>
            <a:off x="3383280" y="1517904"/>
            <a:ext cx="2670048" cy="2670048"/>
          </a:xfrm>
          <a:prstGeom prst="roundRect">
            <a:avLst>
              <a:gd name="adj" fmla="val 3424"/>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66160" y="1700784"/>
            <a:ext cx="1225296" cy="310896"/>
          </a:xfrm>
          <a:prstGeom prst="roundRect">
            <a:avLst>
              <a:gd name="adj" fmla="val 50000"/>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6160" y="1737360"/>
            <a:ext cx="1225296" cy="237744"/>
          </a:xfrm>
          <a:prstGeom prst="rect">
            <a:avLst/>
          </a:prstGeom>
          <a:noFill/>
        </p:spPr>
        <p:txBody>
          <a:bodyPr wrap="square" lIns="0" rIns="0" tIns="0" bIns="0" anchor="t">
            <a:spAutoFit/>
          </a:bodyPr>
          <a:lstStyle/>
          <a:p>
            <a:pPr algn="ctr"/>
            <a:r>
              <a:rPr sz="950" b="1">
                <a:solidFill>
                  <a:srgbClr val="FFFFFF"/>
                </a:solidFill>
                <a:latin typeface="Calibri"/>
              </a:rPr>
              <a:t>VALIDATE</a:t>
            </a:r>
          </a:p>
        </p:txBody>
      </p:sp>
      <p:sp>
        <p:nvSpPr>
          <p:cNvPr id="21" name="TextBox 20"/>
          <p:cNvSpPr txBox="1"/>
          <p:nvPr/>
        </p:nvSpPr>
        <p:spPr>
          <a:xfrm>
            <a:off x="3566160" y="2212848"/>
            <a:ext cx="475488" cy="256032"/>
          </a:xfrm>
          <a:prstGeom prst="rect">
            <a:avLst/>
          </a:prstGeom>
          <a:noFill/>
        </p:spPr>
        <p:txBody>
          <a:bodyPr wrap="square" lIns="0" rIns="0" tIns="0" bIns="0" anchor="t">
            <a:spAutoFit/>
          </a:bodyPr>
          <a:lstStyle/>
          <a:p>
            <a:pPr algn="l"/>
            <a:r>
              <a:rPr sz="1150" b="1">
                <a:solidFill>
                  <a:srgbClr val="FF8AAF"/>
                </a:solidFill>
                <a:latin typeface="Calibri"/>
              </a:rPr>
              <a:t>05</a:t>
            </a:r>
          </a:p>
        </p:txBody>
      </p:sp>
      <p:sp>
        <p:nvSpPr>
          <p:cNvPr id="22" name="TextBox 21"/>
          <p:cNvSpPr txBox="1"/>
          <p:nvPr/>
        </p:nvSpPr>
        <p:spPr>
          <a:xfrm>
            <a:off x="4078224" y="2212848"/>
            <a:ext cx="1828800" cy="256032"/>
          </a:xfrm>
          <a:prstGeom prst="rect">
            <a:avLst/>
          </a:prstGeom>
          <a:noFill/>
        </p:spPr>
        <p:txBody>
          <a:bodyPr wrap="square" lIns="0" rIns="0" tIns="0" bIns="0" anchor="t">
            <a:spAutoFit/>
          </a:bodyPr>
          <a:lstStyle/>
          <a:p>
            <a:pPr algn="l"/>
            <a:r>
              <a:rPr sz="1150" b="0">
                <a:solidFill>
                  <a:srgbClr val="241C3A"/>
                </a:solidFill>
                <a:latin typeface="Calibri"/>
              </a:rPr>
              <a:t>Rules R1-R6</a:t>
            </a:r>
          </a:p>
        </p:txBody>
      </p:sp>
      <p:sp>
        <p:nvSpPr>
          <p:cNvPr id="23" name="TextBox 22"/>
          <p:cNvSpPr txBox="1"/>
          <p:nvPr/>
        </p:nvSpPr>
        <p:spPr>
          <a:xfrm>
            <a:off x="3566160" y="2596896"/>
            <a:ext cx="475488" cy="256032"/>
          </a:xfrm>
          <a:prstGeom prst="rect">
            <a:avLst/>
          </a:prstGeom>
          <a:noFill/>
        </p:spPr>
        <p:txBody>
          <a:bodyPr wrap="square" lIns="0" rIns="0" tIns="0" bIns="0" anchor="t">
            <a:spAutoFit/>
          </a:bodyPr>
          <a:lstStyle/>
          <a:p>
            <a:pPr algn="l"/>
            <a:r>
              <a:rPr sz="1150" b="1">
                <a:solidFill>
                  <a:srgbClr val="FF8AAF"/>
                </a:solidFill>
                <a:latin typeface="Calibri"/>
              </a:rPr>
              <a:t>06</a:t>
            </a:r>
          </a:p>
        </p:txBody>
      </p:sp>
      <p:sp>
        <p:nvSpPr>
          <p:cNvPr id="24" name="TextBox 23"/>
          <p:cNvSpPr txBox="1"/>
          <p:nvPr/>
        </p:nvSpPr>
        <p:spPr>
          <a:xfrm>
            <a:off x="4078224" y="2596896"/>
            <a:ext cx="1828800" cy="256032"/>
          </a:xfrm>
          <a:prstGeom prst="rect">
            <a:avLst/>
          </a:prstGeom>
          <a:noFill/>
        </p:spPr>
        <p:txBody>
          <a:bodyPr wrap="square" lIns="0" rIns="0" tIns="0" bIns="0" anchor="t">
            <a:spAutoFit/>
          </a:bodyPr>
          <a:lstStyle/>
          <a:p>
            <a:pPr algn="l"/>
            <a:r>
              <a:rPr sz="1150" b="0">
                <a:solidFill>
                  <a:srgbClr val="241C3A"/>
                </a:solidFill>
                <a:latin typeface="Calibri"/>
              </a:rPr>
              <a:t>Escalate to human</a:t>
            </a:r>
          </a:p>
        </p:txBody>
      </p:sp>
      <p:sp>
        <p:nvSpPr>
          <p:cNvPr id="25" name="TextBox 24"/>
          <p:cNvSpPr txBox="1"/>
          <p:nvPr/>
        </p:nvSpPr>
        <p:spPr>
          <a:xfrm>
            <a:off x="6035040" y="2697480"/>
            <a:ext cx="219456" cy="365760"/>
          </a:xfrm>
          <a:prstGeom prst="rect">
            <a:avLst/>
          </a:prstGeom>
          <a:noFill/>
        </p:spPr>
        <p:txBody>
          <a:bodyPr wrap="square" lIns="0" rIns="0" tIns="0" bIns="0" anchor="t">
            <a:spAutoFit/>
          </a:bodyPr>
          <a:lstStyle/>
          <a:p>
            <a:pPr algn="l"/>
            <a:r>
              <a:rPr sz="2600" b="1">
                <a:solidFill>
                  <a:srgbClr val="9A81DF"/>
                </a:solidFill>
                <a:latin typeface="Calibri"/>
              </a:rPr>
              <a:t>›</a:t>
            </a:r>
          </a:p>
        </p:txBody>
      </p:sp>
      <p:sp>
        <p:nvSpPr>
          <p:cNvPr id="26" name="Rounded Rectangle 25"/>
          <p:cNvSpPr/>
          <p:nvPr/>
        </p:nvSpPr>
        <p:spPr>
          <a:xfrm>
            <a:off x="6199632" y="1517904"/>
            <a:ext cx="2670048" cy="2670048"/>
          </a:xfrm>
          <a:prstGeom prst="roundRect">
            <a:avLst>
              <a:gd name="adj" fmla="val 3424"/>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82512" y="1700784"/>
            <a:ext cx="1225296" cy="310896"/>
          </a:xfrm>
          <a:prstGeom prst="roundRect">
            <a:avLst>
              <a:gd name="adj" fmla="val 50000"/>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82512" y="1737360"/>
            <a:ext cx="1225296" cy="237744"/>
          </a:xfrm>
          <a:prstGeom prst="rect">
            <a:avLst/>
          </a:prstGeom>
          <a:noFill/>
        </p:spPr>
        <p:txBody>
          <a:bodyPr wrap="square" lIns="0" rIns="0" tIns="0" bIns="0" anchor="t">
            <a:spAutoFit/>
          </a:bodyPr>
          <a:lstStyle/>
          <a:p>
            <a:pPr algn="ctr"/>
            <a:r>
              <a:rPr sz="950" b="1">
                <a:solidFill>
                  <a:srgbClr val="FFFFFF"/>
                </a:solidFill>
                <a:latin typeface="Calibri"/>
              </a:rPr>
              <a:t>EVIDENCE</a:t>
            </a:r>
          </a:p>
        </p:txBody>
      </p:sp>
      <p:sp>
        <p:nvSpPr>
          <p:cNvPr id="29" name="TextBox 28"/>
          <p:cNvSpPr txBox="1"/>
          <p:nvPr/>
        </p:nvSpPr>
        <p:spPr>
          <a:xfrm>
            <a:off x="6382512" y="2212848"/>
            <a:ext cx="475488" cy="256032"/>
          </a:xfrm>
          <a:prstGeom prst="rect">
            <a:avLst/>
          </a:prstGeom>
          <a:noFill/>
        </p:spPr>
        <p:txBody>
          <a:bodyPr wrap="square" lIns="0" rIns="0" tIns="0" bIns="0" anchor="t">
            <a:spAutoFit/>
          </a:bodyPr>
          <a:lstStyle/>
          <a:p>
            <a:pPr algn="l"/>
            <a:r>
              <a:rPr sz="1150" b="1">
                <a:solidFill>
                  <a:srgbClr val="FF8AAF"/>
                </a:solidFill>
                <a:latin typeface="Calibri"/>
              </a:rPr>
              <a:t>10</a:t>
            </a:r>
          </a:p>
        </p:txBody>
      </p:sp>
      <p:sp>
        <p:nvSpPr>
          <p:cNvPr id="30" name="TextBox 29"/>
          <p:cNvSpPr txBox="1"/>
          <p:nvPr/>
        </p:nvSpPr>
        <p:spPr>
          <a:xfrm>
            <a:off x="6894576" y="2212848"/>
            <a:ext cx="1828800" cy="256032"/>
          </a:xfrm>
          <a:prstGeom prst="rect">
            <a:avLst/>
          </a:prstGeom>
          <a:noFill/>
        </p:spPr>
        <p:txBody>
          <a:bodyPr wrap="square" lIns="0" rIns="0" tIns="0" bIns="0" anchor="t">
            <a:spAutoFit/>
          </a:bodyPr>
          <a:lstStyle/>
          <a:p>
            <a:pPr algn="l"/>
            <a:r>
              <a:rPr sz="1150" b="0">
                <a:solidFill>
                  <a:srgbClr val="241C3A"/>
                </a:solidFill>
                <a:latin typeface="Calibri"/>
              </a:rPr>
              <a:t>Hash-chained log</a:t>
            </a:r>
          </a:p>
        </p:txBody>
      </p:sp>
      <p:sp>
        <p:nvSpPr>
          <p:cNvPr id="31" name="TextBox 30"/>
          <p:cNvSpPr txBox="1"/>
          <p:nvPr/>
        </p:nvSpPr>
        <p:spPr>
          <a:xfrm>
            <a:off x="6382512" y="2596896"/>
            <a:ext cx="475488" cy="256032"/>
          </a:xfrm>
          <a:prstGeom prst="rect">
            <a:avLst/>
          </a:prstGeom>
          <a:noFill/>
        </p:spPr>
        <p:txBody>
          <a:bodyPr wrap="square" lIns="0" rIns="0" tIns="0" bIns="0" anchor="t">
            <a:spAutoFit/>
          </a:bodyPr>
          <a:lstStyle/>
          <a:p>
            <a:pPr algn="l"/>
            <a:r>
              <a:rPr sz="1150" b="1">
                <a:solidFill>
                  <a:srgbClr val="FF8AAF"/>
                </a:solidFill>
                <a:latin typeface="Calibri"/>
              </a:rPr>
              <a:t>12</a:t>
            </a:r>
          </a:p>
        </p:txBody>
      </p:sp>
      <p:sp>
        <p:nvSpPr>
          <p:cNvPr id="32" name="TextBox 31"/>
          <p:cNvSpPr txBox="1"/>
          <p:nvPr/>
        </p:nvSpPr>
        <p:spPr>
          <a:xfrm>
            <a:off x="6894576" y="2596896"/>
            <a:ext cx="1828800" cy="256032"/>
          </a:xfrm>
          <a:prstGeom prst="rect">
            <a:avLst/>
          </a:prstGeom>
          <a:noFill/>
        </p:spPr>
        <p:txBody>
          <a:bodyPr wrap="square" lIns="0" rIns="0" tIns="0" bIns="0" anchor="t">
            <a:spAutoFit/>
          </a:bodyPr>
          <a:lstStyle/>
          <a:p>
            <a:pPr algn="l"/>
            <a:r>
              <a:rPr sz="1150" b="0">
                <a:solidFill>
                  <a:srgbClr val="241C3A"/>
                </a:solidFill>
                <a:latin typeface="Calibri"/>
              </a:rPr>
              <a:t>Verify chain</a:t>
            </a:r>
          </a:p>
        </p:txBody>
      </p:sp>
      <p:sp>
        <p:nvSpPr>
          <p:cNvPr id="33" name="TextBox 32"/>
          <p:cNvSpPr txBox="1"/>
          <p:nvPr/>
        </p:nvSpPr>
        <p:spPr>
          <a:xfrm>
            <a:off x="8851392" y="2697480"/>
            <a:ext cx="219456" cy="365760"/>
          </a:xfrm>
          <a:prstGeom prst="rect">
            <a:avLst/>
          </a:prstGeom>
          <a:noFill/>
        </p:spPr>
        <p:txBody>
          <a:bodyPr wrap="square" lIns="0" rIns="0" tIns="0" bIns="0" anchor="t">
            <a:spAutoFit/>
          </a:bodyPr>
          <a:lstStyle/>
          <a:p>
            <a:pPr algn="l"/>
            <a:r>
              <a:rPr sz="2600" b="1">
                <a:solidFill>
                  <a:srgbClr val="9A81DF"/>
                </a:solidFill>
                <a:latin typeface="Calibri"/>
              </a:rPr>
              <a:t>›</a:t>
            </a:r>
          </a:p>
        </p:txBody>
      </p:sp>
      <p:sp>
        <p:nvSpPr>
          <p:cNvPr id="34" name="Rounded Rectangle 33"/>
          <p:cNvSpPr/>
          <p:nvPr/>
        </p:nvSpPr>
        <p:spPr>
          <a:xfrm>
            <a:off x="9015984" y="1517904"/>
            <a:ext cx="2670048" cy="2670048"/>
          </a:xfrm>
          <a:prstGeom prst="roundRect">
            <a:avLst>
              <a:gd name="adj" fmla="val 3424"/>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198863" y="1700784"/>
            <a:ext cx="1225296" cy="310896"/>
          </a:xfrm>
          <a:prstGeom prst="roundRect">
            <a:avLst>
              <a:gd name="adj" fmla="val 50000"/>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98863" y="1737360"/>
            <a:ext cx="1225296" cy="237744"/>
          </a:xfrm>
          <a:prstGeom prst="rect">
            <a:avLst/>
          </a:prstGeom>
          <a:noFill/>
        </p:spPr>
        <p:txBody>
          <a:bodyPr wrap="square" lIns="0" rIns="0" tIns="0" bIns="0" anchor="t">
            <a:spAutoFit/>
          </a:bodyPr>
          <a:lstStyle/>
          <a:p>
            <a:pPr algn="ctr"/>
            <a:r>
              <a:rPr sz="950" b="1">
                <a:solidFill>
                  <a:srgbClr val="FFFFFF"/>
                </a:solidFill>
                <a:latin typeface="Calibri"/>
              </a:rPr>
              <a:t>REPORT</a:t>
            </a:r>
          </a:p>
        </p:txBody>
      </p:sp>
      <p:sp>
        <p:nvSpPr>
          <p:cNvPr id="37" name="TextBox 36"/>
          <p:cNvSpPr txBox="1"/>
          <p:nvPr/>
        </p:nvSpPr>
        <p:spPr>
          <a:xfrm>
            <a:off x="9198863" y="2212848"/>
            <a:ext cx="475488" cy="256032"/>
          </a:xfrm>
          <a:prstGeom prst="rect">
            <a:avLst/>
          </a:prstGeom>
          <a:noFill/>
        </p:spPr>
        <p:txBody>
          <a:bodyPr wrap="square" lIns="0" rIns="0" tIns="0" bIns="0" anchor="t">
            <a:spAutoFit/>
          </a:bodyPr>
          <a:lstStyle/>
          <a:p>
            <a:pPr algn="l"/>
            <a:r>
              <a:rPr sz="1150" b="1">
                <a:solidFill>
                  <a:srgbClr val="FF8AAF"/>
                </a:solidFill>
                <a:latin typeface="Calibri"/>
              </a:rPr>
              <a:t>07</a:t>
            </a:r>
          </a:p>
        </p:txBody>
      </p:sp>
      <p:sp>
        <p:nvSpPr>
          <p:cNvPr id="38" name="TextBox 37"/>
          <p:cNvSpPr txBox="1"/>
          <p:nvPr/>
        </p:nvSpPr>
        <p:spPr>
          <a:xfrm>
            <a:off x="9710928" y="2212848"/>
            <a:ext cx="1828800" cy="256032"/>
          </a:xfrm>
          <a:prstGeom prst="rect">
            <a:avLst/>
          </a:prstGeom>
          <a:noFill/>
        </p:spPr>
        <p:txBody>
          <a:bodyPr wrap="square" lIns="0" rIns="0" tIns="0" bIns="0" anchor="t">
            <a:spAutoFit/>
          </a:bodyPr>
          <a:lstStyle/>
          <a:p>
            <a:pPr algn="l"/>
            <a:r>
              <a:rPr sz="1150" b="0">
                <a:solidFill>
                  <a:srgbClr val="241C3A"/>
                </a:solidFill>
                <a:latin typeface="Calibri"/>
              </a:rPr>
              <a:t>Excel report</a:t>
            </a:r>
          </a:p>
        </p:txBody>
      </p:sp>
      <p:sp>
        <p:nvSpPr>
          <p:cNvPr id="39" name="TextBox 38"/>
          <p:cNvSpPr txBox="1"/>
          <p:nvPr/>
        </p:nvSpPr>
        <p:spPr>
          <a:xfrm>
            <a:off x="9198863" y="2596896"/>
            <a:ext cx="475488" cy="256032"/>
          </a:xfrm>
          <a:prstGeom prst="rect">
            <a:avLst/>
          </a:prstGeom>
          <a:noFill/>
        </p:spPr>
        <p:txBody>
          <a:bodyPr wrap="square" lIns="0" rIns="0" tIns="0" bIns="0" anchor="t">
            <a:spAutoFit/>
          </a:bodyPr>
          <a:lstStyle/>
          <a:p>
            <a:pPr algn="l"/>
            <a:r>
              <a:rPr sz="1150" b="1">
                <a:solidFill>
                  <a:srgbClr val="FF8AAF"/>
                </a:solidFill>
                <a:latin typeface="Calibri"/>
              </a:rPr>
              <a:t>08</a:t>
            </a:r>
          </a:p>
        </p:txBody>
      </p:sp>
      <p:sp>
        <p:nvSpPr>
          <p:cNvPr id="40" name="TextBox 39"/>
          <p:cNvSpPr txBox="1"/>
          <p:nvPr/>
        </p:nvSpPr>
        <p:spPr>
          <a:xfrm>
            <a:off x="9710928" y="2596896"/>
            <a:ext cx="1828800" cy="256032"/>
          </a:xfrm>
          <a:prstGeom prst="rect">
            <a:avLst/>
          </a:prstGeom>
          <a:noFill/>
        </p:spPr>
        <p:txBody>
          <a:bodyPr wrap="square" lIns="0" rIns="0" tIns="0" bIns="0" anchor="t">
            <a:spAutoFit/>
          </a:bodyPr>
          <a:lstStyle/>
          <a:p>
            <a:pPr algn="l"/>
            <a:r>
              <a:rPr sz="1150" b="0">
                <a:solidFill>
                  <a:srgbClr val="241C3A"/>
                </a:solidFill>
                <a:latin typeface="Calibri"/>
              </a:rPr>
              <a:t>PDF audit report</a:t>
            </a:r>
          </a:p>
        </p:txBody>
      </p:sp>
      <p:sp>
        <p:nvSpPr>
          <p:cNvPr id="41" name="TextBox 40"/>
          <p:cNvSpPr txBox="1"/>
          <p:nvPr/>
        </p:nvSpPr>
        <p:spPr>
          <a:xfrm>
            <a:off x="9198863" y="2980944"/>
            <a:ext cx="475488" cy="256032"/>
          </a:xfrm>
          <a:prstGeom prst="rect">
            <a:avLst/>
          </a:prstGeom>
          <a:noFill/>
        </p:spPr>
        <p:txBody>
          <a:bodyPr wrap="square" lIns="0" rIns="0" tIns="0" bIns="0" anchor="t">
            <a:spAutoFit/>
          </a:bodyPr>
          <a:lstStyle/>
          <a:p>
            <a:pPr algn="l"/>
            <a:r>
              <a:rPr sz="1150" b="1">
                <a:solidFill>
                  <a:srgbClr val="FF8AAF"/>
                </a:solidFill>
                <a:latin typeface="Calibri"/>
              </a:rPr>
              <a:t>13</a:t>
            </a:r>
          </a:p>
        </p:txBody>
      </p:sp>
      <p:sp>
        <p:nvSpPr>
          <p:cNvPr id="42" name="TextBox 41"/>
          <p:cNvSpPr txBox="1"/>
          <p:nvPr/>
        </p:nvSpPr>
        <p:spPr>
          <a:xfrm>
            <a:off x="9710928" y="2980944"/>
            <a:ext cx="1828800" cy="256032"/>
          </a:xfrm>
          <a:prstGeom prst="rect">
            <a:avLst/>
          </a:prstGeom>
          <a:noFill/>
        </p:spPr>
        <p:txBody>
          <a:bodyPr wrap="square" lIns="0" rIns="0" tIns="0" bIns="0" anchor="t">
            <a:spAutoFit/>
          </a:bodyPr>
          <a:lstStyle/>
          <a:p>
            <a:pPr algn="l"/>
            <a:r>
              <a:rPr sz="1150" b="0">
                <a:solidFill>
                  <a:srgbClr val="241C3A"/>
                </a:solidFill>
                <a:latin typeface="Calibri"/>
              </a:rPr>
              <a:t>HTML dashboard</a:t>
            </a:r>
          </a:p>
        </p:txBody>
      </p:sp>
      <p:sp>
        <p:nvSpPr>
          <p:cNvPr id="43" name="TextBox 42"/>
          <p:cNvSpPr txBox="1"/>
          <p:nvPr/>
        </p:nvSpPr>
        <p:spPr>
          <a:xfrm>
            <a:off x="9198863" y="3364991"/>
            <a:ext cx="475488" cy="256032"/>
          </a:xfrm>
          <a:prstGeom prst="rect">
            <a:avLst/>
          </a:prstGeom>
          <a:noFill/>
        </p:spPr>
        <p:txBody>
          <a:bodyPr wrap="square" lIns="0" rIns="0" tIns="0" bIns="0" anchor="t">
            <a:spAutoFit/>
          </a:bodyPr>
          <a:lstStyle/>
          <a:p>
            <a:pPr algn="l"/>
            <a:r>
              <a:rPr sz="1150" b="1">
                <a:solidFill>
                  <a:srgbClr val="FF8AAF"/>
                </a:solidFill>
                <a:latin typeface="Calibri"/>
              </a:rPr>
              <a:t>09</a:t>
            </a:r>
          </a:p>
        </p:txBody>
      </p:sp>
      <p:sp>
        <p:nvSpPr>
          <p:cNvPr id="44" name="TextBox 43"/>
          <p:cNvSpPr txBox="1"/>
          <p:nvPr/>
        </p:nvSpPr>
        <p:spPr>
          <a:xfrm>
            <a:off x="9710928" y="3364991"/>
            <a:ext cx="1828800" cy="256032"/>
          </a:xfrm>
          <a:prstGeom prst="rect">
            <a:avLst/>
          </a:prstGeom>
          <a:noFill/>
        </p:spPr>
        <p:txBody>
          <a:bodyPr wrap="square" lIns="0" rIns="0" tIns="0" bIns="0" anchor="t">
            <a:spAutoFit/>
          </a:bodyPr>
          <a:lstStyle/>
          <a:p>
            <a:pPr algn="l"/>
            <a:r>
              <a:rPr sz="1150" b="0">
                <a:solidFill>
                  <a:srgbClr val="241C3A"/>
                </a:solidFill>
                <a:latin typeface="Calibri"/>
              </a:rPr>
              <a:t>Alert e-mail</a:t>
            </a:r>
          </a:p>
        </p:txBody>
      </p:sp>
      <p:sp>
        <p:nvSpPr>
          <p:cNvPr id="45" name="TextBox 44"/>
          <p:cNvSpPr txBox="1"/>
          <p:nvPr/>
        </p:nvSpPr>
        <p:spPr>
          <a:xfrm>
            <a:off x="9198863" y="3749039"/>
            <a:ext cx="475488" cy="256032"/>
          </a:xfrm>
          <a:prstGeom prst="rect">
            <a:avLst/>
          </a:prstGeom>
          <a:noFill/>
        </p:spPr>
        <p:txBody>
          <a:bodyPr wrap="square" lIns="0" rIns="0" tIns="0" bIns="0" anchor="t">
            <a:spAutoFit/>
          </a:bodyPr>
          <a:lstStyle/>
          <a:p>
            <a:pPr algn="l"/>
            <a:r>
              <a:rPr sz="1150" b="1">
                <a:solidFill>
                  <a:srgbClr val="FF8AAF"/>
                </a:solidFill>
                <a:latin typeface="Calibri"/>
              </a:rPr>
              <a:t>09b</a:t>
            </a:r>
          </a:p>
        </p:txBody>
      </p:sp>
      <p:sp>
        <p:nvSpPr>
          <p:cNvPr id="46" name="TextBox 45"/>
          <p:cNvSpPr txBox="1"/>
          <p:nvPr/>
        </p:nvSpPr>
        <p:spPr>
          <a:xfrm>
            <a:off x="9710928" y="3749039"/>
            <a:ext cx="1828800" cy="256032"/>
          </a:xfrm>
          <a:prstGeom prst="rect">
            <a:avLst/>
          </a:prstGeom>
          <a:noFill/>
        </p:spPr>
        <p:txBody>
          <a:bodyPr wrap="square" lIns="0" rIns="0" tIns="0" bIns="0" anchor="t">
            <a:spAutoFit/>
          </a:bodyPr>
          <a:lstStyle/>
          <a:p>
            <a:pPr algn="l"/>
            <a:r>
              <a:rPr sz="1150" b="0">
                <a:solidFill>
                  <a:srgbClr val="241C3A"/>
                </a:solidFill>
                <a:latin typeface="Calibri"/>
              </a:rPr>
              <a:t>Teams / Slack</a:t>
            </a:r>
          </a:p>
        </p:txBody>
      </p:sp>
      <p:sp>
        <p:nvSpPr>
          <p:cNvPr id="47" name="Rounded Rectangle 46"/>
          <p:cNvSpPr/>
          <p:nvPr/>
        </p:nvSpPr>
        <p:spPr>
          <a:xfrm>
            <a:off x="566928" y="4370832"/>
            <a:ext cx="11055096" cy="804672"/>
          </a:xfrm>
          <a:prstGeom prst="roundRect">
            <a:avLst>
              <a:gd name="adj" fmla="val 11363"/>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6384" y="4517136"/>
            <a:ext cx="10607040" cy="548640"/>
          </a:xfrm>
          <a:prstGeom prst="rect">
            <a:avLst/>
          </a:prstGeom>
          <a:noFill/>
        </p:spPr>
        <p:txBody>
          <a:bodyPr wrap="square" lIns="0" rIns="0" tIns="0" bIns="0" anchor="t">
            <a:spAutoFit/>
          </a:bodyPr>
          <a:lstStyle/>
          <a:p>
            <a:pPr algn="l"/>
            <a:r>
              <a:rPr sz="1200" b="1">
                <a:solidFill>
                  <a:srgbClr val="2F1D63"/>
                </a:solidFill>
                <a:latin typeface="Calibri"/>
              </a:rPr>
              <a:t>Steps 06-13 are 14_Finalise_Run.</a:t>
            </a:r>
          </a:p>
          <a:p>
            <a:pPr algn="l"/>
            <a:r>
              <a:rPr sz="1150" b="0">
                <a:solidFill>
                  <a:srgbClr val="241C3A"/>
                </a:solidFill>
                <a:latin typeface="Calibri"/>
              </a:rPr>
              <a:t>A batch run and the queue Performer both call it, so queue mode produces the same audit trail, the same reports and the same dashboard as a single-job run.</a:t>
            </a:r>
          </a:p>
        </p:txBody>
      </p:sp>
      <p:sp>
        <p:nvSpPr>
          <p:cNvPr id="49" name="Rounded Rectangle 48"/>
          <p:cNvSpPr/>
          <p:nvPr/>
        </p:nvSpPr>
        <p:spPr>
          <a:xfrm>
            <a:off x="566928" y="5285232"/>
            <a:ext cx="3456432" cy="969264"/>
          </a:xfrm>
          <a:prstGeom prst="roundRect">
            <a:avLst>
              <a:gd name="adj" fmla="val 9433"/>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6384" y="5449824"/>
            <a:ext cx="3108960" cy="274320"/>
          </a:xfrm>
          <a:prstGeom prst="rect">
            <a:avLst/>
          </a:prstGeom>
          <a:noFill/>
        </p:spPr>
        <p:txBody>
          <a:bodyPr wrap="square" lIns="0" rIns="0" tIns="0" bIns="0" anchor="t">
            <a:spAutoFit/>
          </a:bodyPr>
          <a:lstStyle/>
          <a:p>
            <a:pPr algn="l"/>
            <a:r>
              <a:rPr sz="1250" b="1">
                <a:solidFill>
                  <a:srgbClr val="2F1D63"/>
                </a:solidFill>
                <a:latin typeface="Calibri"/>
              </a:rPr>
              <a:t>Structure in XAML</a:t>
            </a:r>
          </a:p>
        </p:txBody>
      </p:sp>
      <p:sp>
        <p:nvSpPr>
          <p:cNvPr id="51" name="TextBox 50"/>
          <p:cNvSpPr txBox="1"/>
          <p:nvPr/>
        </p:nvSpPr>
        <p:spPr>
          <a:xfrm>
            <a:off x="786384" y="5760720"/>
            <a:ext cx="3108960" cy="457200"/>
          </a:xfrm>
          <a:prstGeom prst="rect">
            <a:avLst/>
          </a:prstGeom>
          <a:noFill/>
        </p:spPr>
        <p:txBody>
          <a:bodyPr wrap="square" lIns="0" rIns="0" tIns="0" bIns="0" anchor="t">
            <a:spAutoFit/>
          </a:bodyPr>
          <a:lstStyle/>
          <a:p>
            <a:pPr algn="l"/>
            <a:r>
              <a:rPr sz="1050" b="0">
                <a:solidFill>
                  <a:srgbClr val="6B6480"/>
                </a:solidFill>
                <a:latin typeface="Calibri"/>
              </a:rPr>
              <a:t>Sequences, Excel, database, mail and HTTP activities stay visual.</a:t>
            </a:r>
          </a:p>
        </p:txBody>
      </p:sp>
      <p:sp>
        <p:nvSpPr>
          <p:cNvPr id="52" name="Rounded Rectangle 51"/>
          <p:cNvSpPr/>
          <p:nvPr/>
        </p:nvSpPr>
        <p:spPr>
          <a:xfrm>
            <a:off x="4251960" y="5285232"/>
            <a:ext cx="3456432" cy="969264"/>
          </a:xfrm>
          <a:prstGeom prst="roundRect">
            <a:avLst>
              <a:gd name="adj" fmla="val 9433"/>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71416" y="5449824"/>
            <a:ext cx="3108960" cy="274320"/>
          </a:xfrm>
          <a:prstGeom prst="rect">
            <a:avLst/>
          </a:prstGeom>
          <a:noFill/>
        </p:spPr>
        <p:txBody>
          <a:bodyPr wrap="square" lIns="0" rIns="0" tIns="0" bIns="0" anchor="t">
            <a:spAutoFit/>
          </a:bodyPr>
          <a:lstStyle/>
          <a:p>
            <a:pPr algn="l"/>
            <a:r>
              <a:rPr sz="1250" b="1">
                <a:solidFill>
                  <a:srgbClr val="2F1D63"/>
                </a:solidFill>
                <a:latin typeface="Calibri"/>
              </a:rPr>
              <a:t>Algorithms in Invoke Code</a:t>
            </a:r>
          </a:p>
        </p:txBody>
      </p:sp>
      <p:sp>
        <p:nvSpPr>
          <p:cNvPr id="54" name="TextBox 53"/>
          <p:cNvSpPr txBox="1"/>
          <p:nvPr/>
        </p:nvSpPr>
        <p:spPr>
          <a:xfrm>
            <a:off x="4471416" y="5760720"/>
            <a:ext cx="3108960" cy="457200"/>
          </a:xfrm>
          <a:prstGeom prst="rect">
            <a:avLst/>
          </a:prstGeom>
          <a:noFill/>
        </p:spPr>
        <p:txBody>
          <a:bodyPr wrap="square" lIns="0" rIns="0" tIns="0" bIns="0" anchor="t">
            <a:spAutoFit/>
          </a:bodyPr>
          <a:lstStyle/>
          <a:p>
            <a:pPr algn="l"/>
            <a:r>
              <a:rPr sz="1050" b="0">
                <a:solidFill>
                  <a:srgbClr val="6B6480"/>
                </a:solidFill>
                <a:latin typeface="Calibri"/>
              </a:rPr>
              <a:t>ABI decoding, hashing, PDF layout and the sequence state machine.</a:t>
            </a:r>
          </a:p>
        </p:txBody>
      </p:sp>
      <p:sp>
        <p:nvSpPr>
          <p:cNvPr id="55" name="Rounded Rectangle 54"/>
          <p:cNvSpPr/>
          <p:nvPr/>
        </p:nvSpPr>
        <p:spPr>
          <a:xfrm>
            <a:off x="7936992" y="5285232"/>
            <a:ext cx="3456432" cy="969264"/>
          </a:xfrm>
          <a:prstGeom prst="roundRect">
            <a:avLst>
              <a:gd name="adj" fmla="val 9433"/>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56448" y="5449824"/>
            <a:ext cx="3108960" cy="274320"/>
          </a:xfrm>
          <a:prstGeom prst="rect">
            <a:avLst/>
          </a:prstGeom>
          <a:noFill/>
        </p:spPr>
        <p:txBody>
          <a:bodyPr wrap="square" lIns="0" rIns="0" tIns="0" bIns="0" anchor="t">
            <a:spAutoFit/>
          </a:bodyPr>
          <a:lstStyle/>
          <a:p>
            <a:pPr algn="l"/>
            <a:r>
              <a:rPr sz="1250" b="1">
                <a:solidFill>
                  <a:srgbClr val="2F1D63"/>
                </a:solidFill>
                <a:latin typeface="Calibri"/>
              </a:rPr>
              <a:t>Reports need no Office</a:t>
            </a:r>
          </a:p>
        </p:txBody>
      </p:sp>
      <p:sp>
        <p:nvSpPr>
          <p:cNvPr id="57" name="TextBox 56"/>
          <p:cNvSpPr txBox="1"/>
          <p:nvPr/>
        </p:nvSpPr>
        <p:spPr>
          <a:xfrm>
            <a:off x="8156448" y="5760720"/>
            <a:ext cx="3108960" cy="457200"/>
          </a:xfrm>
          <a:prstGeom prst="rect">
            <a:avLst/>
          </a:prstGeom>
          <a:noFill/>
        </p:spPr>
        <p:txBody>
          <a:bodyPr wrap="square" lIns="0" rIns="0" tIns="0" bIns="0" anchor="t">
            <a:spAutoFit/>
          </a:bodyPr>
          <a:lstStyle/>
          <a:p>
            <a:pPr algn="l"/>
            <a:r>
              <a:rPr sz="1050" b="0">
                <a:solidFill>
                  <a:srgbClr val="6B6480"/>
                </a:solidFill>
                <a:latin typeface="Calibri"/>
              </a:rPr>
              <a:t>ClosedXML and raw PDF 1.4, so an unattended robot writes identical files.</a:t>
            </a:r>
          </a:p>
        </p:txBody>
      </p:sp>
      <p:sp>
        <p:nvSpPr>
          <p:cNvPr id="58" name="TextBox 57"/>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THE CHAIN-AGNOSTIC CLAIM, AS A PROPERTY OF THE DESIGN</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Readers fetch. The mapping sheet translates.</a:t>
            </a:r>
          </a:p>
        </p:txBody>
      </p:sp>
      <p:sp>
        <p:nvSpPr>
          <p:cNvPr id="4" name="Rounded Rectangle 3"/>
          <p:cNvSpPr/>
          <p:nvPr/>
        </p:nvSpPr>
        <p:spPr>
          <a:xfrm>
            <a:off x="566928" y="1481328"/>
            <a:ext cx="3566160" cy="1005840"/>
          </a:xfrm>
          <a:prstGeom prst="roundRect">
            <a:avLst>
              <a:gd name="adj" fmla="val 9090"/>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1645920"/>
            <a:ext cx="2103120" cy="292608"/>
          </a:xfrm>
          <a:prstGeom prst="roundRect">
            <a:avLst>
              <a:gd name="adj" fmla="val 50000"/>
            </a:avLst>
          </a:prstGeom>
          <a:solidFill>
            <a:srgbClr val="FF8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673352"/>
            <a:ext cx="2103120" cy="237744"/>
          </a:xfrm>
          <a:prstGeom prst="rect">
            <a:avLst/>
          </a:prstGeom>
          <a:noFill/>
        </p:spPr>
        <p:txBody>
          <a:bodyPr wrap="square" lIns="0" rIns="0" tIns="0" bIns="0" anchor="t">
            <a:spAutoFit/>
          </a:bodyPr>
          <a:lstStyle/>
          <a:p>
            <a:pPr algn="ctr"/>
            <a:r>
              <a:rPr sz="950" b="1">
                <a:solidFill>
                  <a:srgbClr val="0C0625"/>
                </a:solidFill>
                <a:latin typeface="Calibri"/>
              </a:rPr>
              <a:t>MOCK / API / WEB</a:t>
            </a:r>
          </a:p>
        </p:txBody>
      </p:sp>
      <p:sp>
        <p:nvSpPr>
          <p:cNvPr id="7" name="TextBox 6"/>
          <p:cNvSpPr txBox="1"/>
          <p:nvPr/>
        </p:nvSpPr>
        <p:spPr>
          <a:xfrm>
            <a:off x="768096" y="2011680"/>
            <a:ext cx="3163824" cy="402336"/>
          </a:xfrm>
          <a:prstGeom prst="rect">
            <a:avLst/>
          </a:prstGeom>
          <a:noFill/>
        </p:spPr>
        <p:txBody>
          <a:bodyPr wrap="square" lIns="0" rIns="0" tIns="0" bIns="0" anchor="t">
            <a:spAutoFit/>
          </a:bodyPr>
          <a:lstStyle/>
          <a:p>
            <a:pPr algn="l"/>
            <a:r>
              <a:rPr sz="1050" b="0">
                <a:solidFill>
                  <a:srgbClr val="241C3A"/>
                </a:solidFill>
                <a:latin typeface="Calibri"/>
              </a:rPr>
              <a:t>Three readers. Each returns the feed's records untouched.</a:t>
            </a:r>
          </a:p>
        </p:txBody>
      </p:sp>
      <p:sp>
        <p:nvSpPr>
          <p:cNvPr id="8" name="TextBox 7"/>
          <p:cNvSpPr txBox="1"/>
          <p:nvPr/>
        </p:nvSpPr>
        <p:spPr>
          <a:xfrm>
            <a:off x="4096511" y="1801368"/>
            <a:ext cx="274320" cy="365760"/>
          </a:xfrm>
          <a:prstGeom prst="rect">
            <a:avLst/>
          </a:prstGeom>
          <a:noFill/>
        </p:spPr>
        <p:txBody>
          <a:bodyPr wrap="square" lIns="0" rIns="0" tIns="0" bIns="0" anchor="t">
            <a:spAutoFit/>
          </a:bodyPr>
          <a:lstStyle/>
          <a:p>
            <a:pPr algn="l"/>
            <a:r>
              <a:rPr sz="2600" b="1">
                <a:solidFill>
                  <a:srgbClr val="9A81DF"/>
                </a:solidFill>
                <a:latin typeface="Calibri"/>
              </a:rPr>
              <a:t>›</a:t>
            </a:r>
          </a:p>
        </p:txBody>
      </p:sp>
      <p:sp>
        <p:nvSpPr>
          <p:cNvPr id="9" name="Rounded Rectangle 8"/>
          <p:cNvSpPr/>
          <p:nvPr/>
        </p:nvSpPr>
        <p:spPr>
          <a:xfrm>
            <a:off x="4389120" y="1481328"/>
            <a:ext cx="3566160" cy="1005840"/>
          </a:xfrm>
          <a:prstGeom prst="roundRect">
            <a:avLst>
              <a:gd name="adj" fmla="val 9090"/>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90288" y="1645920"/>
            <a:ext cx="2103120" cy="292608"/>
          </a:xfrm>
          <a:prstGeom prst="roundRect">
            <a:avLst>
              <a:gd name="adj" fmla="val 50000"/>
            </a:avLst>
          </a:prstGeom>
          <a:solidFill>
            <a:srgbClr val="FF8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673352"/>
            <a:ext cx="2103120" cy="237744"/>
          </a:xfrm>
          <a:prstGeom prst="rect">
            <a:avLst/>
          </a:prstGeom>
          <a:noFill/>
        </p:spPr>
        <p:txBody>
          <a:bodyPr wrap="square" lIns="0" rIns="0" tIns="0" bIns="0" anchor="t">
            <a:spAutoFit/>
          </a:bodyPr>
          <a:lstStyle/>
          <a:p>
            <a:pPr algn="ctr"/>
            <a:r>
              <a:rPr sz="950" b="1">
                <a:solidFill>
                  <a:srgbClr val="0C0625"/>
                </a:solidFill>
                <a:latin typeface="Calibri"/>
              </a:rPr>
              <a:t>01d FIELD MAPPING</a:t>
            </a:r>
          </a:p>
        </p:txBody>
      </p:sp>
      <p:sp>
        <p:nvSpPr>
          <p:cNvPr id="12" name="TextBox 11"/>
          <p:cNvSpPr txBox="1"/>
          <p:nvPr/>
        </p:nvSpPr>
        <p:spPr>
          <a:xfrm>
            <a:off x="4590288" y="2011680"/>
            <a:ext cx="3163824" cy="402336"/>
          </a:xfrm>
          <a:prstGeom prst="rect">
            <a:avLst/>
          </a:prstGeom>
          <a:noFill/>
        </p:spPr>
        <p:txBody>
          <a:bodyPr wrap="square" lIns="0" rIns="0" tIns="0" bIns="0" anchor="t">
            <a:spAutoFit/>
          </a:bodyPr>
          <a:lstStyle/>
          <a:p>
            <a:pPr algn="l"/>
            <a:r>
              <a:rPr sz="1050" b="0">
                <a:solidFill>
                  <a:srgbClr val="241C3A"/>
                </a:solidFill>
                <a:latin typeface="Calibri"/>
              </a:rPr>
              <a:t>The selected FieldMapping sheet builds the canonical table.</a:t>
            </a:r>
          </a:p>
        </p:txBody>
      </p:sp>
      <p:sp>
        <p:nvSpPr>
          <p:cNvPr id="13" name="TextBox 12"/>
          <p:cNvSpPr txBox="1"/>
          <p:nvPr/>
        </p:nvSpPr>
        <p:spPr>
          <a:xfrm>
            <a:off x="7918704" y="1801368"/>
            <a:ext cx="274320" cy="365760"/>
          </a:xfrm>
          <a:prstGeom prst="rect">
            <a:avLst/>
          </a:prstGeom>
          <a:noFill/>
        </p:spPr>
        <p:txBody>
          <a:bodyPr wrap="square" lIns="0" rIns="0" tIns="0" bIns="0" anchor="t">
            <a:spAutoFit/>
          </a:bodyPr>
          <a:lstStyle/>
          <a:p>
            <a:pPr algn="l"/>
            <a:r>
              <a:rPr sz="2600" b="1">
                <a:solidFill>
                  <a:srgbClr val="9A81DF"/>
                </a:solidFill>
                <a:latin typeface="Calibri"/>
              </a:rPr>
              <a:t>›</a:t>
            </a:r>
          </a:p>
        </p:txBody>
      </p:sp>
      <p:sp>
        <p:nvSpPr>
          <p:cNvPr id="14" name="Rounded Rectangle 13"/>
          <p:cNvSpPr/>
          <p:nvPr/>
        </p:nvSpPr>
        <p:spPr>
          <a:xfrm>
            <a:off x="8211311" y="1481328"/>
            <a:ext cx="3566160" cy="1005840"/>
          </a:xfrm>
          <a:prstGeom prst="roundRect">
            <a:avLst>
              <a:gd name="adj" fmla="val 9090"/>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1645920"/>
            <a:ext cx="2103120" cy="292608"/>
          </a:xfrm>
          <a:prstGeom prst="roundRect">
            <a:avLst>
              <a:gd name="adj" fmla="val 50000"/>
            </a:avLst>
          </a:prstGeom>
          <a:solidFill>
            <a:srgbClr val="FF8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673352"/>
            <a:ext cx="2103120" cy="237744"/>
          </a:xfrm>
          <a:prstGeom prst="rect">
            <a:avLst/>
          </a:prstGeom>
          <a:noFill/>
        </p:spPr>
        <p:txBody>
          <a:bodyPr wrap="square" lIns="0" rIns="0" tIns="0" bIns="0" anchor="t">
            <a:spAutoFit/>
          </a:bodyPr>
          <a:lstStyle/>
          <a:p>
            <a:pPr algn="ctr"/>
            <a:r>
              <a:rPr sz="950" b="1">
                <a:solidFill>
                  <a:srgbClr val="0C0625"/>
                </a:solidFill>
                <a:latin typeface="Calibri"/>
              </a:rPr>
              <a:t>R1-R6 VALIDATION</a:t>
            </a:r>
          </a:p>
        </p:txBody>
      </p:sp>
      <p:sp>
        <p:nvSpPr>
          <p:cNvPr id="17" name="TextBox 16"/>
          <p:cNvSpPr txBox="1"/>
          <p:nvPr/>
        </p:nvSpPr>
        <p:spPr>
          <a:xfrm>
            <a:off x="8412480" y="2011680"/>
            <a:ext cx="3163824" cy="402336"/>
          </a:xfrm>
          <a:prstGeom prst="rect">
            <a:avLst/>
          </a:prstGeom>
          <a:noFill/>
        </p:spPr>
        <p:txBody>
          <a:bodyPr wrap="square" lIns="0" rIns="0" tIns="0" bIns="0" anchor="t">
            <a:spAutoFit/>
          </a:bodyPr>
          <a:lstStyle/>
          <a:p>
            <a:pPr algn="l"/>
            <a:r>
              <a:rPr sz="1050" b="0">
                <a:solidFill>
                  <a:srgbClr val="241C3A"/>
                </a:solidFill>
                <a:latin typeface="Calibri"/>
              </a:rPr>
              <a:t>Rules cannot tell which reader produced their DataTable.</a:t>
            </a:r>
          </a:p>
        </p:txBody>
      </p:sp>
      <p:sp>
        <p:nvSpPr>
          <p:cNvPr id="18" name="Rounded Rectangle 17"/>
          <p:cNvSpPr/>
          <p:nvPr/>
        </p:nvSpPr>
        <p:spPr>
          <a:xfrm>
            <a:off x="566928" y="2670048"/>
            <a:ext cx="5486400" cy="2157984"/>
          </a:xfrm>
          <a:prstGeom prst="roundRect">
            <a:avLst>
              <a:gd name="adj" fmla="val 4237"/>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2834640"/>
            <a:ext cx="5029200" cy="274320"/>
          </a:xfrm>
          <a:prstGeom prst="rect">
            <a:avLst/>
          </a:prstGeom>
          <a:noFill/>
        </p:spPr>
        <p:txBody>
          <a:bodyPr wrap="square" lIns="0" rIns="0" tIns="0" bIns="0" anchor="t">
            <a:spAutoFit/>
          </a:bodyPr>
          <a:lstStyle/>
          <a:p>
            <a:pPr algn="l"/>
            <a:r>
              <a:rPr sz="1500" b="1">
                <a:solidFill>
                  <a:srgbClr val="2F1D63"/>
                </a:solidFill>
                <a:latin typeface="Calibri"/>
              </a:rPr>
              <a:t>Three feeds, two schemas, one result</a:t>
            </a:r>
          </a:p>
        </p:txBody>
      </p:sp>
      <p:sp>
        <p:nvSpPr>
          <p:cNvPr id="20" name="TextBox 19"/>
          <p:cNvSpPr txBox="1"/>
          <p:nvPr/>
        </p:nvSpPr>
        <p:spPr>
          <a:xfrm>
            <a:off x="786384" y="3218688"/>
            <a:ext cx="1554480" cy="219456"/>
          </a:xfrm>
          <a:prstGeom prst="rect">
            <a:avLst/>
          </a:prstGeom>
          <a:noFill/>
        </p:spPr>
        <p:txBody>
          <a:bodyPr wrap="square" lIns="0" rIns="0" tIns="0" bIns="0" anchor="t">
            <a:spAutoFit/>
          </a:bodyPr>
          <a:lstStyle/>
          <a:p>
            <a:pPr algn="l"/>
            <a:r>
              <a:rPr sz="900" b="1">
                <a:solidFill>
                  <a:srgbClr val="6B6480"/>
                </a:solidFill>
                <a:latin typeface="Calibri"/>
              </a:rPr>
              <a:t>FEED</a:t>
            </a:r>
          </a:p>
        </p:txBody>
      </p:sp>
      <p:sp>
        <p:nvSpPr>
          <p:cNvPr id="21" name="TextBox 20"/>
          <p:cNvSpPr txBox="1"/>
          <p:nvPr/>
        </p:nvSpPr>
        <p:spPr>
          <a:xfrm>
            <a:off x="2395728" y="3218688"/>
            <a:ext cx="1280160" cy="219456"/>
          </a:xfrm>
          <a:prstGeom prst="rect">
            <a:avLst/>
          </a:prstGeom>
          <a:noFill/>
        </p:spPr>
        <p:txBody>
          <a:bodyPr wrap="square" lIns="0" rIns="0" tIns="0" bIns="0" anchor="t">
            <a:spAutoFit/>
          </a:bodyPr>
          <a:lstStyle/>
          <a:p>
            <a:pPr algn="l"/>
            <a:r>
              <a:rPr sz="900" b="1">
                <a:solidFill>
                  <a:srgbClr val="6B6480"/>
                </a:solidFill>
                <a:latin typeface="Calibri"/>
              </a:rPr>
              <a:t>SOURCE</a:t>
            </a:r>
          </a:p>
        </p:txBody>
      </p:sp>
      <p:sp>
        <p:nvSpPr>
          <p:cNvPr id="22" name="TextBox 21"/>
          <p:cNvSpPr txBox="1"/>
          <p:nvPr/>
        </p:nvSpPr>
        <p:spPr>
          <a:xfrm>
            <a:off x="3767328" y="3218688"/>
            <a:ext cx="1005840" cy="219456"/>
          </a:xfrm>
          <a:prstGeom prst="rect">
            <a:avLst/>
          </a:prstGeom>
          <a:noFill/>
        </p:spPr>
        <p:txBody>
          <a:bodyPr wrap="square" lIns="0" rIns="0" tIns="0" bIns="0" anchor="t">
            <a:spAutoFit/>
          </a:bodyPr>
          <a:lstStyle/>
          <a:p>
            <a:pPr algn="l"/>
            <a:r>
              <a:rPr sz="900" b="1">
                <a:solidFill>
                  <a:srgbClr val="6B6480"/>
                </a:solidFill>
                <a:latin typeface="Calibri"/>
              </a:rPr>
              <a:t>SHEET</a:t>
            </a:r>
          </a:p>
        </p:txBody>
      </p:sp>
      <p:sp>
        <p:nvSpPr>
          <p:cNvPr id="23" name="TextBox 22"/>
          <p:cNvSpPr txBox="1"/>
          <p:nvPr/>
        </p:nvSpPr>
        <p:spPr>
          <a:xfrm>
            <a:off x="4773168" y="3218688"/>
            <a:ext cx="1280160" cy="219456"/>
          </a:xfrm>
          <a:prstGeom prst="rect">
            <a:avLst/>
          </a:prstGeom>
          <a:noFill/>
        </p:spPr>
        <p:txBody>
          <a:bodyPr wrap="square" lIns="0" rIns="0" tIns="0" bIns="0" anchor="t">
            <a:spAutoFit/>
          </a:bodyPr>
          <a:lstStyle/>
          <a:p>
            <a:pPr algn="l"/>
            <a:r>
              <a:rPr sz="900" b="1">
                <a:solidFill>
                  <a:srgbClr val="6B6480"/>
                </a:solidFill>
                <a:latin typeface="Calibri"/>
              </a:rPr>
              <a:t>RESULT</a:t>
            </a:r>
          </a:p>
        </p:txBody>
      </p:sp>
      <p:sp>
        <p:nvSpPr>
          <p:cNvPr id="24" name="TextBox 23"/>
          <p:cNvSpPr txBox="1"/>
          <p:nvPr/>
        </p:nvSpPr>
        <p:spPr>
          <a:xfrm>
            <a:off x="786384" y="3493008"/>
            <a:ext cx="1645920" cy="237744"/>
          </a:xfrm>
          <a:prstGeom prst="rect">
            <a:avLst/>
          </a:prstGeom>
          <a:noFill/>
        </p:spPr>
        <p:txBody>
          <a:bodyPr wrap="square" lIns="0" rIns="0" tIns="0" bIns="0" anchor="t">
            <a:spAutoFit/>
          </a:bodyPr>
          <a:lstStyle/>
          <a:p>
            <a:pPr algn="l"/>
            <a:r>
              <a:rPr sz="1100" b="1">
                <a:solidFill>
                  <a:srgbClr val="241C3A"/>
                </a:solidFill>
                <a:latin typeface="Calibri"/>
              </a:rPr>
              <a:t>Ethereum</a:t>
            </a:r>
          </a:p>
        </p:txBody>
      </p:sp>
      <p:sp>
        <p:nvSpPr>
          <p:cNvPr id="25" name="TextBox 24"/>
          <p:cNvSpPr txBox="1"/>
          <p:nvPr/>
        </p:nvSpPr>
        <p:spPr>
          <a:xfrm>
            <a:off x="2395728" y="3493008"/>
            <a:ext cx="1371600" cy="237744"/>
          </a:xfrm>
          <a:prstGeom prst="rect">
            <a:avLst/>
          </a:prstGeom>
          <a:noFill/>
        </p:spPr>
        <p:txBody>
          <a:bodyPr wrap="square" lIns="0" rIns="0" tIns="0" bIns="0" anchor="t">
            <a:spAutoFit/>
          </a:bodyPr>
          <a:lstStyle/>
          <a:p>
            <a:pPr algn="l"/>
            <a:r>
              <a:rPr sz="1050" b="0">
                <a:solidFill>
                  <a:srgbClr val="6B6480"/>
                </a:solidFill>
                <a:latin typeface="Courier New"/>
              </a:rPr>
              <a:t>chainid 1</a:t>
            </a:r>
          </a:p>
        </p:txBody>
      </p:sp>
      <p:sp>
        <p:nvSpPr>
          <p:cNvPr id="26" name="TextBox 25"/>
          <p:cNvSpPr txBox="1"/>
          <p:nvPr/>
        </p:nvSpPr>
        <p:spPr>
          <a:xfrm>
            <a:off x="3767328" y="3493008"/>
            <a:ext cx="1005840" cy="237744"/>
          </a:xfrm>
          <a:prstGeom prst="rect">
            <a:avLst/>
          </a:prstGeom>
          <a:noFill/>
        </p:spPr>
        <p:txBody>
          <a:bodyPr wrap="square" lIns="0" rIns="0" tIns="0" bIns="0" anchor="t">
            <a:spAutoFit/>
          </a:bodyPr>
          <a:lstStyle/>
          <a:p>
            <a:pPr algn="l"/>
            <a:r>
              <a:rPr sz="1050" b="0">
                <a:solidFill>
                  <a:srgbClr val="6B6480"/>
                </a:solidFill>
                <a:latin typeface="Courier New"/>
              </a:rPr>
              <a:t>Etherscan</a:t>
            </a:r>
          </a:p>
        </p:txBody>
      </p:sp>
      <p:sp>
        <p:nvSpPr>
          <p:cNvPr id="27" name="TextBox 26"/>
          <p:cNvSpPr txBox="1"/>
          <p:nvPr/>
        </p:nvSpPr>
        <p:spPr>
          <a:xfrm>
            <a:off x="4773168" y="3493008"/>
            <a:ext cx="1371600" cy="237744"/>
          </a:xfrm>
          <a:prstGeom prst="rect">
            <a:avLst/>
          </a:prstGeom>
          <a:noFill/>
        </p:spPr>
        <p:txBody>
          <a:bodyPr wrap="square" lIns="0" rIns="0" tIns="0" bIns="0" anchor="t">
            <a:spAutoFit/>
          </a:bodyPr>
          <a:lstStyle/>
          <a:p>
            <a:pPr algn="l"/>
            <a:r>
              <a:rPr sz="1100" b="1">
                <a:solidFill>
                  <a:srgbClr val="1A7F4B"/>
                </a:solidFill>
                <a:latin typeface="Calibri"/>
              </a:rPr>
              <a:t>48 / 40 / 1 / 7</a:t>
            </a:r>
          </a:p>
        </p:txBody>
      </p:sp>
      <p:sp>
        <p:nvSpPr>
          <p:cNvPr id="28" name="TextBox 27"/>
          <p:cNvSpPr txBox="1"/>
          <p:nvPr/>
        </p:nvSpPr>
        <p:spPr>
          <a:xfrm>
            <a:off x="786384" y="3803904"/>
            <a:ext cx="1645920" cy="237744"/>
          </a:xfrm>
          <a:prstGeom prst="rect">
            <a:avLst/>
          </a:prstGeom>
          <a:noFill/>
        </p:spPr>
        <p:txBody>
          <a:bodyPr wrap="square" lIns="0" rIns="0" tIns="0" bIns="0" anchor="t">
            <a:spAutoFit/>
          </a:bodyPr>
          <a:lstStyle/>
          <a:p>
            <a:pPr algn="l"/>
            <a:r>
              <a:rPr sz="1100" b="1">
                <a:solidFill>
                  <a:srgbClr val="241C3A"/>
                </a:solidFill>
                <a:latin typeface="Calibri"/>
              </a:rPr>
              <a:t>Polygon</a:t>
            </a:r>
          </a:p>
        </p:txBody>
      </p:sp>
      <p:sp>
        <p:nvSpPr>
          <p:cNvPr id="29" name="TextBox 28"/>
          <p:cNvSpPr txBox="1"/>
          <p:nvPr/>
        </p:nvSpPr>
        <p:spPr>
          <a:xfrm>
            <a:off x="2395728" y="3803904"/>
            <a:ext cx="1371600" cy="237744"/>
          </a:xfrm>
          <a:prstGeom prst="rect">
            <a:avLst/>
          </a:prstGeom>
          <a:noFill/>
        </p:spPr>
        <p:txBody>
          <a:bodyPr wrap="square" lIns="0" rIns="0" tIns="0" bIns="0" anchor="t">
            <a:spAutoFit/>
          </a:bodyPr>
          <a:lstStyle/>
          <a:p>
            <a:pPr algn="l"/>
            <a:r>
              <a:rPr sz="1050" b="0">
                <a:solidFill>
                  <a:srgbClr val="6B6480"/>
                </a:solidFill>
                <a:latin typeface="Courier New"/>
              </a:rPr>
              <a:t>chainid 137</a:t>
            </a:r>
          </a:p>
        </p:txBody>
      </p:sp>
      <p:sp>
        <p:nvSpPr>
          <p:cNvPr id="30" name="TextBox 29"/>
          <p:cNvSpPr txBox="1"/>
          <p:nvPr/>
        </p:nvSpPr>
        <p:spPr>
          <a:xfrm>
            <a:off x="3767328" y="3803904"/>
            <a:ext cx="1005840" cy="237744"/>
          </a:xfrm>
          <a:prstGeom prst="rect">
            <a:avLst/>
          </a:prstGeom>
          <a:noFill/>
        </p:spPr>
        <p:txBody>
          <a:bodyPr wrap="square" lIns="0" rIns="0" tIns="0" bIns="0" anchor="t">
            <a:spAutoFit/>
          </a:bodyPr>
          <a:lstStyle/>
          <a:p>
            <a:pPr algn="l"/>
            <a:r>
              <a:rPr sz="1050" b="0">
                <a:solidFill>
                  <a:srgbClr val="6B6480"/>
                </a:solidFill>
                <a:latin typeface="Courier New"/>
              </a:rPr>
              <a:t>Etherscan</a:t>
            </a:r>
          </a:p>
        </p:txBody>
      </p:sp>
      <p:sp>
        <p:nvSpPr>
          <p:cNvPr id="31" name="TextBox 30"/>
          <p:cNvSpPr txBox="1"/>
          <p:nvPr/>
        </p:nvSpPr>
        <p:spPr>
          <a:xfrm>
            <a:off x="4773168" y="3803904"/>
            <a:ext cx="1371600" cy="237744"/>
          </a:xfrm>
          <a:prstGeom prst="rect">
            <a:avLst/>
          </a:prstGeom>
          <a:noFill/>
        </p:spPr>
        <p:txBody>
          <a:bodyPr wrap="square" lIns="0" rIns="0" tIns="0" bIns="0" anchor="t">
            <a:spAutoFit/>
          </a:bodyPr>
          <a:lstStyle/>
          <a:p>
            <a:pPr algn="l"/>
            <a:r>
              <a:rPr sz="1100" b="1">
                <a:solidFill>
                  <a:srgbClr val="1A7F4B"/>
                </a:solidFill>
                <a:latin typeface="Calibri"/>
              </a:rPr>
              <a:t>48 / 40 / 1 / 7</a:t>
            </a:r>
          </a:p>
        </p:txBody>
      </p:sp>
      <p:sp>
        <p:nvSpPr>
          <p:cNvPr id="32" name="TextBox 31"/>
          <p:cNvSpPr txBox="1"/>
          <p:nvPr/>
        </p:nvSpPr>
        <p:spPr>
          <a:xfrm>
            <a:off x="786384" y="4114800"/>
            <a:ext cx="1645920" cy="237744"/>
          </a:xfrm>
          <a:prstGeom prst="rect">
            <a:avLst/>
          </a:prstGeom>
          <a:noFill/>
        </p:spPr>
        <p:txBody>
          <a:bodyPr wrap="square" lIns="0" rIns="0" tIns="0" bIns="0" anchor="t">
            <a:spAutoFit/>
          </a:bodyPr>
          <a:lstStyle/>
          <a:p>
            <a:pPr algn="l"/>
            <a:r>
              <a:rPr sz="1100" b="1">
                <a:solidFill>
                  <a:srgbClr val="241C3A"/>
                </a:solidFill>
                <a:latin typeface="Calibri"/>
              </a:rPr>
              <a:t>Besu export</a:t>
            </a:r>
          </a:p>
        </p:txBody>
      </p:sp>
      <p:sp>
        <p:nvSpPr>
          <p:cNvPr id="33" name="TextBox 32"/>
          <p:cNvSpPr txBox="1"/>
          <p:nvPr/>
        </p:nvSpPr>
        <p:spPr>
          <a:xfrm>
            <a:off x="2395728" y="4114800"/>
            <a:ext cx="1371600" cy="237744"/>
          </a:xfrm>
          <a:prstGeom prst="rect">
            <a:avLst/>
          </a:prstGeom>
          <a:noFill/>
        </p:spPr>
        <p:txBody>
          <a:bodyPr wrap="square" lIns="0" rIns="0" tIns="0" bIns="0" anchor="t">
            <a:spAutoFit/>
          </a:bodyPr>
          <a:lstStyle/>
          <a:p>
            <a:pPr algn="l"/>
            <a:r>
              <a:rPr sz="1050" b="0">
                <a:solidFill>
                  <a:srgbClr val="6B6480"/>
                </a:solidFill>
                <a:latin typeface="Courier New"/>
              </a:rPr>
              <a:t>ethereum-etl</a:t>
            </a:r>
          </a:p>
        </p:txBody>
      </p:sp>
      <p:sp>
        <p:nvSpPr>
          <p:cNvPr id="34" name="TextBox 33"/>
          <p:cNvSpPr txBox="1"/>
          <p:nvPr/>
        </p:nvSpPr>
        <p:spPr>
          <a:xfrm>
            <a:off x="3767328" y="4114800"/>
            <a:ext cx="1005840" cy="237744"/>
          </a:xfrm>
          <a:prstGeom prst="rect">
            <a:avLst/>
          </a:prstGeom>
          <a:noFill/>
        </p:spPr>
        <p:txBody>
          <a:bodyPr wrap="square" lIns="0" rIns="0" tIns="0" bIns="0" anchor="t">
            <a:spAutoFit/>
          </a:bodyPr>
          <a:lstStyle/>
          <a:p>
            <a:pPr algn="l"/>
            <a:r>
              <a:rPr sz="1050" b="0">
                <a:solidFill>
                  <a:srgbClr val="6B6480"/>
                </a:solidFill>
                <a:latin typeface="Courier New"/>
              </a:rPr>
              <a:t>EvmEtl</a:t>
            </a:r>
          </a:p>
        </p:txBody>
      </p:sp>
      <p:sp>
        <p:nvSpPr>
          <p:cNvPr id="35" name="TextBox 34"/>
          <p:cNvSpPr txBox="1"/>
          <p:nvPr/>
        </p:nvSpPr>
        <p:spPr>
          <a:xfrm>
            <a:off x="4773168" y="4114800"/>
            <a:ext cx="1371600" cy="237744"/>
          </a:xfrm>
          <a:prstGeom prst="rect">
            <a:avLst/>
          </a:prstGeom>
          <a:noFill/>
        </p:spPr>
        <p:txBody>
          <a:bodyPr wrap="square" lIns="0" rIns="0" tIns="0" bIns="0" anchor="t">
            <a:spAutoFit/>
          </a:bodyPr>
          <a:lstStyle/>
          <a:p>
            <a:pPr algn="l"/>
            <a:r>
              <a:rPr sz="1100" b="1">
                <a:solidFill>
                  <a:srgbClr val="1A7F4B"/>
                </a:solidFill>
                <a:latin typeface="Calibri"/>
              </a:rPr>
              <a:t>48 / 40 / 1 / 7</a:t>
            </a:r>
          </a:p>
        </p:txBody>
      </p:sp>
      <p:sp>
        <p:nvSpPr>
          <p:cNvPr id="36" name="TextBox 35"/>
          <p:cNvSpPr txBox="1"/>
          <p:nvPr/>
        </p:nvSpPr>
        <p:spPr>
          <a:xfrm>
            <a:off x="786384" y="4498848"/>
            <a:ext cx="5029200" cy="274320"/>
          </a:xfrm>
          <a:prstGeom prst="rect">
            <a:avLst/>
          </a:prstGeom>
          <a:noFill/>
        </p:spPr>
        <p:txBody>
          <a:bodyPr wrap="square" lIns="0" rIns="0" tIns="0" bIns="0" anchor="t">
            <a:spAutoFit/>
          </a:bodyPr>
          <a:lstStyle/>
          <a:p>
            <a:pPr algn="l"/>
            <a:r>
              <a:rPr sz="1050" b="0">
                <a:solidFill>
                  <a:srgbClr val="6B6480"/>
                </a:solidFill>
                <a:latin typeface="Calibri"/>
              </a:rPr>
              <a:t>Only config cells changed between these runs.</a:t>
            </a:r>
          </a:p>
        </p:txBody>
      </p:sp>
      <p:sp>
        <p:nvSpPr>
          <p:cNvPr id="37" name="Rounded Rectangle 36"/>
          <p:cNvSpPr/>
          <p:nvPr/>
        </p:nvSpPr>
        <p:spPr>
          <a:xfrm>
            <a:off x="6190488" y="2670048"/>
            <a:ext cx="5468112" cy="2157984"/>
          </a:xfrm>
          <a:prstGeom prst="roundRect">
            <a:avLst>
              <a:gd name="adj" fmla="val 4237"/>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9944" y="2834640"/>
            <a:ext cx="5029200" cy="274320"/>
          </a:xfrm>
          <a:prstGeom prst="rect">
            <a:avLst/>
          </a:prstGeom>
          <a:noFill/>
        </p:spPr>
        <p:txBody>
          <a:bodyPr wrap="square" lIns="0" rIns="0" tIns="0" bIns="0" anchor="t">
            <a:spAutoFit/>
          </a:bodyPr>
          <a:lstStyle/>
          <a:p>
            <a:pPr algn="l"/>
            <a:r>
              <a:rPr sz="1500" b="1">
                <a:solidFill>
                  <a:srgbClr val="2F1D63"/>
                </a:solidFill>
                <a:latin typeface="Calibri"/>
              </a:rPr>
              <a:t>Linking a transaction to a shipment</a:t>
            </a:r>
          </a:p>
        </p:txBody>
      </p:sp>
      <p:sp>
        <p:nvSpPr>
          <p:cNvPr id="39" name="Rounded Rectangle 38"/>
          <p:cNvSpPr/>
          <p:nvPr/>
        </p:nvSpPr>
        <p:spPr>
          <a:xfrm>
            <a:off x="6409944" y="3291840"/>
            <a:ext cx="1005840" cy="274320"/>
          </a:xfrm>
          <a:prstGeom prst="roundRect">
            <a:avLst>
              <a:gd name="adj" fmla="val 50000"/>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9944" y="3310128"/>
            <a:ext cx="1005840" cy="237744"/>
          </a:xfrm>
          <a:prstGeom prst="rect">
            <a:avLst/>
          </a:prstGeom>
          <a:noFill/>
        </p:spPr>
        <p:txBody>
          <a:bodyPr wrap="square" lIns="0" rIns="0" tIns="0" bIns="0" anchor="t">
            <a:spAutoFit/>
          </a:bodyPr>
          <a:lstStyle/>
          <a:p>
            <a:pPr algn="ctr"/>
            <a:r>
              <a:rPr sz="950" b="1">
                <a:solidFill>
                  <a:srgbClr val="FFFFFF"/>
                </a:solidFill>
                <a:latin typeface="Calibri"/>
              </a:rPr>
              <a:t>DECODE</a:t>
            </a:r>
          </a:p>
        </p:txBody>
      </p:sp>
      <p:sp>
        <p:nvSpPr>
          <p:cNvPr id="41" name="TextBox 40"/>
          <p:cNvSpPr txBox="1"/>
          <p:nvPr/>
        </p:nvSpPr>
        <p:spPr>
          <a:xfrm>
            <a:off x="7543800" y="3319272"/>
            <a:ext cx="3931920" cy="274320"/>
          </a:xfrm>
          <a:prstGeom prst="rect">
            <a:avLst/>
          </a:prstGeom>
          <a:noFill/>
        </p:spPr>
        <p:txBody>
          <a:bodyPr wrap="square" lIns="0" rIns="0" tIns="0" bIns="0" anchor="t">
            <a:spAutoFit/>
          </a:bodyPr>
          <a:lstStyle/>
          <a:p>
            <a:pPr algn="l"/>
            <a:r>
              <a:rPr sz="1100" b="0">
                <a:solidFill>
                  <a:srgbClr val="241C3A"/>
                </a:solidFill>
                <a:latin typeface="Calibri"/>
              </a:rPr>
              <a:t>The shipment key comes straight from the ABI call data.</a:t>
            </a:r>
          </a:p>
        </p:txBody>
      </p:sp>
      <p:sp>
        <p:nvSpPr>
          <p:cNvPr id="42" name="Rounded Rectangle 41"/>
          <p:cNvSpPr/>
          <p:nvPr/>
        </p:nvSpPr>
        <p:spPr>
          <a:xfrm>
            <a:off x="6409944" y="3822191"/>
            <a:ext cx="1005840" cy="274320"/>
          </a:xfrm>
          <a:prstGeom prst="roundRect">
            <a:avLst>
              <a:gd name="adj" fmla="val 50000"/>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9944" y="3840479"/>
            <a:ext cx="1005840" cy="237744"/>
          </a:xfrm>
          <a:prstGeom prst="rect">
            <a:avLst/>
          </a:prstGeom>
          <a:noFill/>
        </p:spPr>
        <p:txBody>
          <a:bodyPr wrap="square" lIns="0" rIns="0" tIns="0" bIns="0" anchor="t">
            <a:spAutoFit/>
          </a:bodyPr>
          <a:lstStyle/>
          <a:p>
            <a:pPr algn="ctr"/>
            <a:r>
              <a:rPr sz="950" b="1">
                <a:solidFill>
                  <a:srgbClr val="FFFFFF"/>
                </a:solidFill>
                <a:latin typeface="Calibri"/>
              </a:rPr>
              <a:t>LOOKUP</a:t>
            </a:r>
          </a:p>
        </p:txBody>
      </p:sp>
      <p:sp>
        <p:nvSpPr>
          <p:cNvPr id="44" name="TextBox 43"/>
          <p:cNvSpPr txBox="1"/>
          <p:nvPr/>
        </p:nvSpPr>
        <p:spPr>
          <a:xfrm>
            <a:off x="7543800" y="3849624"/>
            <a:ext cx="3931920" cy="274320"/>
          </a:xfrm>
          <a:prstGeom prst="rect">
            <a:avLst/>
          </a:prstGeom>
          <a:noFill/>
        </p:spPr>
        <p:txBody>
          <a:bodyPr wrap="square" lIns="0" rIns="0" tIns="0" bIns="0" anchor="t">
            <a:spAutoFit/>
          </a:bodyPr>
          <a:lstStyle/>
          <a:p>
            <a:pPr algn="l"/>
            <a:r>
              <a:rPr sz="1100" b="0">
                <a:solidFill>
                  <a:srgbClr val="241C3A"/>
                </a:solidFill>
                <a:latin typeface="Calibri"/>
              </a:rPr>
              <a:t>No business key on-chain: a mapping file resolves it.</a:t>
            </a:r>
          </a:p>
        </p:txBody>
      </p:sp>
      <p:sp>
        <p:nvSpPr>
          <p:cNvPr id="45" name="TextBox 44"/>
          <p:cNvSpPr txBox="1"/>
          <p:nvPr/>
        </p:nvSpPr>
        <p:spPr>
          <a:xfrm>
            <a:off x="6409944" y="4443984"/>
            <a:ext cx="5029200" cy="274320"/>
          </a:xfrm>
          <a:prstGeom prst="rect">
            <a:avLst/>
          </a:prstGeom>
          <a:noFill/>
        </p:spPr>
        <p:txBody>
          <a:bodyPr wrap="square" lIns="0" rIns="0" tIns="0" bIns="0" anchor="t">
            <a:spAutoFit/>
          </a:bodyPr>
          <a:lstStyle/>
          <a:p>
            <a:pPr algn="l"/>
            <a:r>
              <a:rPr sz="1050" b="1">
                <a:solidFill>
                  <a:srgbClr val="1A7F4B"/>
                </a:solidFill>
                <a:latin typeface="Calibri"/>
              </a:rPr>
              <a:t>Both modes reach the same 48 joined rows, 0 unmatched.</a:t>
            </a:r>
          </a:p>
        </p:txBody>
      </p:sp>
      <p:sp>
        <p:nvSpPr>
          <p:cNvPr id="46" name="Rounded Rectangle 45"/>
          <p:cNvSpPr/>
          <p:nvPr/>
        </p:nvSpPr>
        <p:spPr>
          <a:xfrm>
            <a:off x="566928" y="4956048"/>
            <a:ext cx="11055096" cy="1298448"/>
          </a:xfrm>
          <a:prstGeom prst="roundRect">
            <a:avLst>
              <a:gd name="adj" fmla="val 3000"/>
            </a:avLst>
          </a:prstGeom>
          <a:solidFill>
            <a:srgbClr val="E4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5120640"/>
            <a:ext cx="10515600" cy="274320"/>
          </a:xfrm>
          <a:prstGeom prst="rect">
            <a:avLst/>
          </a:prstGeom>
          <a:noFill/>
        </p:spPr>
        <p:txBody>
          <a:bodyPr wrap="square" lIns="0" rIns="0" tIns="0" bIns="0" anchor="t">
            <a:spAutoFit/>
          </a:bodyPr>
          <a:lstStyle/>
          <a:p>
            <a:pPr algn="l"/>
            <a:r>
              <a:rPr sz="1300" b="1">
                <a:solidFill>
                  <a:srgbClr val="1A7F4B"/>
                </a:solidFill>
                <a:latin typeface="Calibri"/>
              </a:rPr>
              <a:t>Why this is the strongest version of the claim</a:t>
            </a:r>
          </a:p>
        </p:txBody>
      </p:sp>
      <p:sp>
        <p:nvSpPr>
          <p:cNvPr id="48" name="TextBox 47"/>
          <p:cNvSpPr txBox="1"/>
          <p:nvPr/>
        </p:nvSpPr>
        <p:spPr>
          <a:xfrm>
            <a:off x="804672" y="5449824"/>
            <a:ext cx="10515600" cy="658368"/>
          </a:xfrm>
          <a:prstGeom prst="rect">
            <a:avLst/>
          </a:prstGeom>
          <a:noFill/>
        </p:spPr>
        <p:txBody>
          <a:bodyPr wrap="square" lIns="0" rIns="0" tIns="0" bIns="0" anchor="t">
            <a:spAutoFit/>
          </a:bodyPr>
          <a:lstStyle/>
          <a:p>
            <a:pPr algn="l"/>
            <a:r>
              <a:rPr sz="1150" b="0">
                <a:solidFill>
                  <a:srgbClr val="15663C"/>
                </a:solidFill>
                <a:latin typeface="Calibri"/>
              </a:rPr>
              <a:t>A competitor's "blockchain agnostic" usually means a second reader workflow per chain. Here the readers are dumb and interchangeable, and every schema difference - field names, ABI argument positions, timestamp formats - is declared in a spreadsheet sheet. tools\chain_swap_demo.ps1 proves it on three feeds and two schemas in one command.</a:t>
            </a:r>
          </a:p>
        </p:txBody>
      </p:sp>
      <p:sp>
        <p:nvSpPr>
          <p:cNvPr id="49" name="TextBox 48"/>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SIX RULES, EVERY ONE DRIVEN BY CONFIG.XLSX</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The validation engine</a:t>
            </a:r>
          </a:p>
        </p:txBody>
      </p:sp>
      <p:sp>
        <p:nvSpPr>
          <p:cNvPr id="4" name="TextBox 3"/>
          <p:cNvSpPr txBox="1"/>
          <p:nvPr/>
        </p:nvSpPr>
        <p:spPr>
          <a:xfrm>
            <a:off x="713232" y="1481328"/>
            <a:ext cx="2011679" cy="219456"/>
          </a:xfrm>
          <a:prstGeom prst="rect">
            <a:avLst/>
          </a:prstGeom>
          <a:noFill/>
        </p:spPr>
        <p:txBody>
          <a:bodyPr wrap="square" lIns="0" rIns="0" tIns="0" bIns="0" anchor="t">
            <a:spAutoFit/>
          </a:bodyPr>
          <a:lstStyle/>
          <a:p>
            <a:pPr algn="l"/>
            <a:r>
              <a:rPr sz="900" b="1">
                <a:solidFill>
                  <a:srgbClr val="6B6480"/>
                </a:solidFill>
                <a:latin typeface="Calibri"/>
              </a:rPr>
              <a:t>RULE</a:t>
            </a:r>
          </a:p>
        </p:txBody>
      </p:sp>
      <p:sp>
        <p:nvSpPr>
          <p:cNvPr id="5" name="TextBox 4"/>
          <p:cNvSpPr txBox="1"/>
          <p:nvPr/>
        </p:nvSpPr>
        <p:spPr>
          <a:xfrm>
            <a:off x="2907792" y="1481328"/>
            <a:ext cx="3931920" cy="219456"/>
          </a:xfrm>
          <a:prstGeom prst="rect">
            <a:avLst/>
          </a:prstGeom>
          <a:noFill/>
        </p:spPr>
        <p:txBody>
          <a:bodyPr wrap="square" lIns="0" rIns="0" tIns="0" bIns="0" anchor="t">
            <a:spAutoFit/>
          </a:bodyPr>
          <a:lstStyle/>
          <a:p>
            <a:pPr algn="l"/>
            <a:r>
              <a:rPr sz="900" b="1">
                <a:solidFill>
                  <a:srgbClr val="6B6480"/>
                </a:solidFill>
                <a:latin typeface="Calibri"/>
              </a:rPr>
              <a:t>WHAT IT CHECKS</a:t>
            </a:r>
          </a:p>
        </p:txBody>
      </p:sp>
      <p:sp>
        <p:nvSpPr>
          <p:cNvPr id="6" name="TextBox 5"/>
          <p:cNvSpPr txBox="1"/>
          <p:nvPr/>
        </p:nvSpPr>
        <p:spPr>
          <a:xfrm>
            <a:off x="7022592" y="1481328"/>
            <a:ext cx="2834639" cy="219456"/>
          </a:xfrm>
          <a:prstGeom prst="rect">
            <a:avLst/>
          </a:prstGeom>
          <a:noFill/>
        </p:spPr>
        <p:txBody>
          <a:bodyPr wrap="square" lIns="0" rIns="0" tIns="0" bIns="0" anchor="t">
            <a:spAutoFit/>
          </a:bodyPr>
          <a:lstStyle/>
          <a:p>
            <a:pPr algn="l"/>
            <a:r>
              <a:rPr sz="900" b="1">
                <a:solidFill>
                  <a:srgbClr val="6B6480"/>
                </a:solidFill>
                <a:latin typeface="Calibri"/>
              </a:rPr>
              <a:t>SEEDED FAILURE</a:t>
            </a:r>
          </a:p>
        </p:txBody>
      </p:sp>
      <p:sp>
        <p:nvSpPr>
          <p:cNvPr id="7" name="TextBox 6"/>
          <p:cNvSpPr txBox="1"/>
          <p:nvPr/>
        </p:nvSpPr>
        <p:spPr>
          <a:xfrm>
            <a:off x="10040112" y="1481328"/>
            <a:ext cx="1545336" cy="219456"/>
          </a:xfrm>
          <a:prstGeom prst="rect">
            <a:avLst/>
          </a:prstGeom>
          <a:noFill/>
        </p:spPr>
        <p:txBody>
          <a:bodyPr wrap="square" lIns="0" rIns="0" tIns="0" bIns="0" anchor="t">
            <a:spAutoFit/>
          </a:bodyPr>
          <a:lstStyle/>
          <a:p>
            <a:pPr algn="l"/>
            <a:r>
              <a:rPr sz="900" b="1">
                <a:solidFill>
                  <a:srgbClr val="6B6480"/>
                </a:solidFill>
                <a:latin typeface="Calibri"/>
              </a:rPr>
              <a:t>SEVERITY</a:t>
            </a:r>
          </a:p>
        </p:txBody>
      </p:sp>
      <p:sp>
        <p:nvSpPr>
          <p:cNvPr id="8" name="Rounded Rectangle 7"/>
          <p:cNvSpPr/>
          <p:nvPr/>
        </p:nvSpPr>
        <p:spPr>
          <a:xfrm>
            <a:off x="566928" y="1773936"/>
            <a:ext cx="11055096" cy="475488"/>
          </a:xfrm>
          <a:prstGeom prst="roundRect">
            <a:avLst>
              <a:gd name="adj" fmla="val 19230"/>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01952"/>
            <a:ext cx="1956815" cy="274320"/>
          </a:xfrm>
          <a:prstGeom prst="rect">
            <a:avLst/>
          </a:prstGeom>
          <a:noFill/>
        </p:spPr>
        <p:txBody>
          <a:bodyPr wrap="square" lIns="0" rIns="0" tIns="0" bIns="0" anchor="t">
            <a:spAutoFit/>
          </a:bodyPr>
          <a:lstStyle/>
          <a:p>
            <a:pPr algn="l"/>
            <a:r>
              <a:rPr sz="1100" b="1">
                <a:solidFill>
                  <a:srgbClr val="2F1D63"/>
                </a:solidFill>
                <a:latin typeface="Calibri"/>
              </a:rPr>
              <a:t>R1  Timestamp</a:t>
            </a:r>
          </a:p>
        </p:txBody>
      </p:sp>
      <p:sp>
        <p:nvSpPr>
          <p:cNvPr id="10" name="TextBox 9"/>
          <p:cNvSpPr txBox="1"/>
          <p:nvPr/>
        </p:nvSpPr>
        <p:spPr>
          <a:xfrm>
            <a:off x="2907792" y="1901952"/>
            <a:ext cx="3877056" cy="274320"/>
          </a:xfrm>
          <a:prstGeom prst="rect">
            <a:avLst/>
          </a:prstGeom>
          <a:noFill/>
        </p:spPr>
        <p:txBody>
          <a:bodyPr wrap="square" lIns="0" rIns="0" tIns="0" bIns="0" anchor="t">
            <a:spAutoFit/>
          </a:bodyPr>
          <a:lstStyle/>
          <a:p>
            <a:pPr algn="l"/>
            <a:r>
              <a:rPr sz="1100" b="0">
                <a:solidFill>
                  <a:srgbClr val="241C3A"/>
                </a:solidFill>
                <a:latin typeface="Calibri"/>
              </a:rPr>
              <a:t>On-chain time against the ERP's expected milestone time</a:t>
            </a:r>
          </a:p>
        </p:txBody>
      </p:sp>
      <p:sp>
        <p:nvSpPr>
          <p:cNvPr id="11" name="TextBox 10"/>
          <p:cNvSpPr txBox="1"/>
          <p:nvPr/>
        </p:nvSpPr>
        <p:spPr>
          <a:xfrm>
            <a:off x="7022592" y="1901952"/>
            <a:ext cx="2779776" cy="274320"/>
          </a:xfrm>
          <a:prstGeom prst="rect">
            <a:avLst/>
          </a:prstGeom>
          <a:noFill/>
        </p:spPr>
        <p:txBody>
          <a:bodyPr wrap="square" lIns="0" rIns="0" tIns="0" bIns="0" anchor="t">
            <a:spAutoFit/>
          </a:bodyPr>
          <a:lstStyle/>
          <a:p>
            <a:pPr algn="l"/>
            <a:r>
              <a:rPr sz="1100" b="0">
                <a:solidFill>
                  <a:srgbClr val="241C3A"/>
                </a:solidFill>
                <a:latin typeface="Calibri"/>
              </a:rPr>
              <a:t>SHP-1002 warns, SHP-1003 fails</a:t>
            </a:r>
          </a:p>
        </p:txBody>
      </p:sp>
      <p:sp>
        <p:nvSpPr>
          <p:cNvPr id="12" name="TextBox 11"/>
          <p:cNvSpPr txBox="1"/>
          <p:nvPr/>
        </p:nvSpPr>
        <p:spPr>
          <a:xfrm>
            <a:off x="10040112" y="1901952"/>
            <a:ext cx="1490472" cy="274320"/>
          </a:xfrm>
          <a:prstGeom prst="rect">
            <a:avLst/>
          </a:prstGeom>
          <a:noFill/>
        </p:spPr>
        <p:txBody>
          <a:bodyPr wrap="square" lIns="0" rIns="0" tIns="0" bIns="0" anchor="t">
            <a:spAutoFit/>
          </a:bodyPr>
          <a:lstStyle/>
          <a:p>
            <a:pPr algn="l"/>
            <a:r>
              <a:rPr sz="950" b="1">
                <a:solidFill>
                  <a:srgbClr val="8A6100"/>
                </a:solidFill>
                <a:latin typeface="Calibri"/>
              </a:rPr>
              <a:t>HIGH</a:t>
            </a:r>
          </a:p>
        </p:txBody>
      </p:sp>
      <p:sp>
        <p:nvSpPr>
          <p:cNvPr id="13" name="Rounded Rectangle 12"/>
          <p:cNvSpPr/>
          <p:nvPr/>
        </p:nvSpPr>
        <p:spPr>
          <a:xfrm>
            <a:off x="566928" y="2304288"/>
            <a:ext cx="11055096" cy="475488"/>
          </a:xfrm>
          <a:prstGeom prst="roundRect">
            <a:avLst>
              <a:gd name="adj" fmla="val 19230"/>
            </a:avLst>
          </a:prstGeom>
          <a:solidFill>
            <a:srgbClr val="FCFBFE"/>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432304"/>
            <a:ext cx="1956815" cy="274320"/>
          </a:xfrm>
          <a:prstGeom prst="rect">
            <a:avLst/>
          </a:prstGeom>
          <a:noFill/>
        </p:spPr>
        <p:txBody>
          <a:bodyPr wrap="square" lIns="0" rIns="0" tIns="0" bIns="0" anchor="t">
            <a:spAutoFit/>
          </a:bodyPr>
          <a:lstStyle/>
          <a:p>
            <a:pPr algn="l"/>
            <a:r>
              <a:rPr sz="1100" b="1">
                <a:solidFill>
                  <a:srgbClr val="2F1D63"/>
                </a:solidFill>
                <a:latin typeface="Calibri"/>
              </a:rPr>
              <a:t>R2  Quantity</a:t>
            </a:r>
          </a:p>
        </p:txBody>
      </p:sp>
      <p:sp>
        <p:nvSpPr>
          <p:cNvPr id="15" name="TextBox 14"/>
          <p:cNvSpPr txBox="1"/>
          <p:nvPr/>
        </p:nvSpPr>
        <p:spPr>
          <a:xfrm>
            <a:off x="2907792" y="2432304"/>
            <a:ext cx="3877056" cy="274320"/>
          </a:xfrm>
          <a:prstGeom prst="rect">
            <a:avLst/>
          </a:prstGeom>
          <a:noFill/>
        </p:spPr>
        <p:txBody>
          <a:bodyPr wrap="square" lIns="0" rIns="0" tIns="0" bIns="0" anchor="t">
            <a:spAutoFit/>
          </a:bodyPr>
          <a:lstStyle/>
          <a:p>
            <a:pPr algn="l"/>
            <a:r>
              <a:rPr sz="1100" b="0">
                <a:solidFill>
                  <a:srgbClr val="241C3A"/>
                </a:solidFill>
                <a:latin typeface="Calibri"/>
              </a:rPr>
              <a:t>Decoded on-chain quantity against the purchase order</a:t>
            </a:r>
          </a:p>
        </p:txBody>
      </p:sp>
      <p:sp>
        <p:nvSpPr>
          <p:cNvPr id="16" name="TextBox 15"/>
          <p:cNvSpPr txBox="1"/>
          <p:nvPr/>
        </p:nvSpPr>
        <p:spPr>
          <a:xfrm>
            <a:off x="7022592" y="2432304"/>
            <a:ext cx="2779776" cy="274320"/>
          </a:xfrm>
          <a:prstGeom prst="rect">
            <a:avLst/>
          </a:prstGeom>
          <a:noFill/>
        </p:spPr>
        <p:txBody>
          <a:bodyPr wrap="square" lIns="0" rIns="0" tIns="0" bIns="0" anchor="t">
            <a:spAutoFit/>
          </a:bodyPr>
          <a:lstStyle/>
          <a:p>
            <a:pPr algn="l"/>
            <a:r>
              <a:rPr sz="1100" b="0">
                <a:solidFill>
                  <a:srgbClr val="241C3A"/>
                </a:solidFill>
                <a:latin typeface="Calibri"/>
              </a:rPr>
              <a:t>SHP-1005 short by 20 units</a:t>
            </a:r>
          </a:p>
        </p:txBody>
      </p:sp>
      <p:sp>
        <p:nvSpPr>
          <p:cNvPr id="17" name="TextBox 16"/>
          <p:cNvSpPr txBox="1"/>
          <p:nvPr/>
        </p:nvSpPr>
        <p:spPr>
          <a:xfrm>
            <a:off x="10040112" y="2432304"/>
            <a:ext cx="1490472" cy="274320"/>
          </a:xfrm>
          <a:prstGeom prst="rect">
            <a:avLst/>
          </a:prstGeom>
          <a:noFill/>
        </p:spPr>
        <p:txBody>
          <a:bodyPr wrap="square" lIns="0" rIns="0" tIns="0" bIns="0" anchor="t">
            <a:spAutoFit/>
          </a:bodyPr>
          <a:lstStyle/>
          <a:p>
            <a:pPr algn="l"/>
            <a:r>
              <a:rPr sz="950" b="1">
                <a:solidFill>
                  <a:srgbClr val="8A6100"/>
                </a:solidFill>
                <a:latin typeface="Calibri"/>
              </a:rPr>
              <a:t>HIGH</a:t>
            </a:r>
          </a:p>
        </p:txBody>
      </p:sp>
      <p:sp>
        <p:nvSpPr>
          <p:cNvPr id="18" name="Rounded Rectangle 17"/>
          <p:cNvSpPr/>
          <p:nvPr/>
        </p:nvSpPr>
        <p:spPr>
          <a:xfrm>
            <a:off x="566928" y="2834640"/>
            <a:ext cx="11055096" cy="475488"/>
          </a:xfrm>
          <a:prstGeom prst="roundRect">
            <a:avLst>
              <a:gd name="adj" fmla="val 19230"/>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2962656"/>
            <a:ext cx="1956815" cy="274320"/>
          </a:xfrm>
          <a:prstGeom prst="rect">
            <a:avLst/>
          </a:prstGeom>
          <a:noFill/>
        </p:spPr>
        <p:txBody>
          <a:bodyPr wrap="square" lIns="0" rIns="0" tIns="0" bIns="0" anchor="t">
            <a:spAutoFit/>
          </a:bodyPr>
          <a:lstStyle/>
          <a:p>
            <a:pPr algn="l"/>
            <a:r>
              <a:rPr sz="1100" b="1">
                <a:solidFill>
                  <a:srgbClr val="2F1D63"/>
                </a:solidFill>
                <a:latin typeface="Calibri"/>
              </a:rPr>
              <a:t>R3  Whitelist</a:t>
            </a:r>
          </a:p>
        </p:txBody>
      </p:sp>
      <p:sp>
        <p:nvSpPr>
          <p:cNvPr id="20" name="TextBox 19"/>
          <p:cNvSpPr txBox="1"/>
          <p:nvPr/>
        </p:nvSpPr>
        <p:spPr>
          <a:xfrm>
            <a:off x="2907792" y="2962656"/>
            <a:ext cx="3877056" cy="274320"/>
          </a:xfrm>
          <a:prstGeom prst="rect">
            <a:avLst/>
          </a:prstGeom>
          <a:noFill/>
        </p:spPr>
        <p:txBody>
          <a:bodyPr wrap="square" lIns="0" rIns="0" tIns="0" bIns="0" anchor="t">
            <a:spAutoFit/>
          </a:bodyPr>
          <a:lstStyle/>
          <a:p>
            <a:pPr algn="l"/>
            <a:r>
              <a:rPr sz="1100" b="0">
                <a:solidFill>
                  <a:srgbClr val="241C3A"/>
                </a:solidFill>
                <a:latin typeface="Calibri"/>
              </a:rPr>
              <a:t>Sender is an approved partner wallet</a:t>
            </a:r>
          </a:p>
        </p:txBody>
      </p:sp>
      <p:sp>
        <p:nvSpPr>
          <p:cNvPr id="21" name="TextBox 20"/>
          <p:cNvSpPr txBox="1"/>
          <p:nvPr/>
        </p:nvSpPr>
        <p:spPr>
          <a:xfrm>
            <a:off x="7022592" y="2962656"/>
            <a:ext cx="2779776" cy="274320"/>
          </a:xfrm>
          <a:prstGeom prst="rect">
            <a:avLst/>
          </a:prstGeom>
          <a:noFill/>
        </p:spPr>
        <p:txBody>
          <a:bodyPr wrap="square" lIns="0" rIns="0" tIns="0" bIns="0" anchor="t">
            <a:spAutoFit/>
          </a:bodyPr>
          <a:lstStyle/>
          <a:p>
            <a:pPr algn="l"/>
            <a:r>
              <a:rPr sz="1100" b="0">
                <a:solidFill>
                  <a:srgbClr val="241C3A"/>
                </a:solidFill>
                <a:latin typeface="Calibri"/>
              </a:rPr>
              <a:t>SHP-1007 signed by an unknown wallet</a:t>
            </a:r>
          </a:p>
        </p:txBody>
      </p:sp>
      <p:sp>
        <p:nvSpPr>
          <p:cNvPr id="22" name="TextBox 21"/>
          <p:cNvSpPr txBox="1"/>
          <p:nvPr/>
        </p:nvSpPr>
        <p:spPr>
          <a:xfrm>
            <a:off x="10040112" y="2962656"/>
            <a:ext cx="1490472" cy="274320"/>
          </a:xfrm>
          <a:prstGeom prst="rect">
            <a:avLst/>
          </a:prstGeom>
          <a:noFill/>
        </p:spPr>
        <p:txBody>
          <a:bodyPr wrap="square" lIns="0" rIns="0" tIns="0" bIns="0" anchor="t">
            <a:spAutoFit/>
          </a:bodyPr>
          <a:lstStyle/>
          <a:p>
            <a:pPr algn="l"/>
            <a:r>
              <a:rPr sz="950" b="1">
                <a:solidFill>
                  <a:srgbClr val="B3261E"/>
                </a:solidFill>
                <a:latin typeface="Calibri"/>
              </a:rPr>
              <a:t>CRITICAL</a:t>
            </a:r>
          </a:p>
        </p:txBody>
      </p:sp>
      <p:sp>
        <p:nvSpPr>
          <p:cNvPr id="23" name="Rounded Rectangle 22"/>
          <p:cNvSpPr/>
          <p:nvPr/>
        </p:nvSpPr>
        <p:spPr>
          <a:xfrm>
            <a:off x="566928" y="3364992"/>
            <a:ext cx="11055096" cy="475488"/>
          </a:xfrm>
          <a:prstGeom prst="roundRect">
            <a:avLst>
              <a:gd name="adj" fmla="val 19230"/>
            </a:avLst>
          </a:prstGeom>
          <a:solidFill>
            <a:srgbClr val="FCFBFE"/>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493008"/>
            <a:ext cx="1956815" cy="274320"/>
          </a:xfrm>
          <a:prstGeom prst="rect">
            <a:avLst/>
          </a:prstGeom>
          <a:noFill/>
        </p:spPr>
        <p:txBody>
          <a:bodyPr wrap="square" lIns="0" rIns="0" tIns="0" bIns="0" anchor="t">
            <a:spAutoFit/>
          </a:bodyPr>
          <a:lstStyle/>
          <a:p>
            <a:pPr algn="l"/>
            <a:r>
              <a:rPr sz="1100" b="1">
                <a:solidFill>
                  <a:srgbClr val="2F1D63"/>
                </a:solidFill>
                <a:latin typeface="Calibri"/>
              </a:rPr>
              <a:t>R4  Duplicate</a:t>
            </a:r>
          </a:p>
        </p:txBody>
      </p:sp>
      <p:sp>
        <p:nvSpPr>
          <p:cNvPr id="25" name="TextBox 24"/>
          <p:cNvSpPr txBox="1"/>
          <p:nvPr/>
        </p:nvSpPr>
        <p:spPr>
          <a:xfrm>
            <a:off x="2907792" y="3493008"/>
            <a:ext cx="3877056" cy="274320"/>
          </a:xfrm>
          <a:prstGeom prst="rect">
            <a:avLst/>
          </a:prstGeom>
          <a:noFill/>
        </p:spPr>
        <p:txBody>
          <a:bodyPr wrap="square" lIns="0" rIns="0" tIns="0" bIns="0" anchor="t">
            <a:spAutoFit/>
          </a:bodyPr>
          <a:lstStyle/>
          <a:p>
            <a:pPr algn="l"/>
            <a:r>
              <a:rPr sz="1100" b="0">
                <a:solidFill>
                  <a:srgbClr val="241C3A"/>
                </a:solidFill>
                <a:latin typeface="Calibri"/>
              </a:rPr>
              <a:t>No transaction hash recorded twice per shipment</a:t>
            </a:r>
          </a:p>
        </p:txBody>
      </p:sp>
      <p:sp>
        <p:nvSpPr>
          <p:cNvPr id="26" name="TextBox 25"/>
          <p:cNvSpPr txBox="1"/>
          <p:nvPr/>
        </p:nvSpPr>
        <p:spPr>
          <a:xfrm>
            <a:off x="7022592" y="3493008"/>
            <a:ext cx="2779776" cy="274320"/>
          </a:xfrm>
          <a:prstGeom prst="rect">
            <a:avLst/>
          </a:prstGeom>
          <a:noFill/>
        </p:spPr>
        <p:txBody>
          <a:bodyPr wrap="square" lIns="0" rIns="0" tIns="0" bIns="0" anchor="t">
            <a:spAutoFit/>
          </a:bodyPr>
          <a:lstStyle/>
          <a:p>
            <a:pPr algn="l"/>
            <a:r>
              <a:rPr sz="1100" b="0">
                <a:solidFill>
                  <a:srgbClr val="241C3A"/>
                </a:solidFill>
                <a:latin typeface="Calibri"/>
              </a:rPr>
              <a:t>SHP-1009 delivery replayed</a:t>
            </a:r>
          </a:p>
        </p:txBody>
      </p:sp>
      <p:sp>
        <p:nvSpPr>
          <p:cNvPr id="27" name="TextBox 26"/>
          <p:cNvSpPr txBox="1"/>
          <p:nvPr/>
        </p:nvSpPr>
        <p:spPr>
          <a:xfrm>
            <a:off x="10040112" y="3493008"/>
            <a:ext cx="1490472" cy="274320"/>
          </a:xfrm>
          <a:prstGeom prst="rect">
            <a:avLst/>
          </a:prstGeom>
          <a:noFill/>
        </p:spPr>
        <p:txBody>
          <a:bodyPr wrap="square" lIns="0" rIns="0" tIns="0" bIns="0" anchor="t">
            <a:spAutoFit/>
          </a:bodyPr>
          <a:lstStyle/>
          <a:p>
            <a:pPr algn="l"/>
            <a:r>
              <a:rPr sz="950" b="1">
                <a:solidFill>
                  <a:srgbClr val="6B6480"/>
                </a:solidFill>
                <a:latin typeface="Calibri"/>
              </a:rPr>
              <a:t>MEDIUM</a:t>
            </a:r>
          </a:p>
        </p:txBody>
      </p:sp>
      <p:sp>
        <p:nvSpPr>
          <p:cNvPr id="28" name="Rounded Rectangle 27"/>
          <p:cNvSpPr/>
          <p:nvPr/>
        </p:nvSpPr>
        <p:spPr>
          <a:xfrm>
            <a:off x="566928" y="3895344"/>
            <a:ext cx="11055096" cy="475488"/>
          </a:xfrm>
          <a:prstGeom prst="roundRect">
            <a:avLst>
              <a:gd name="adj" fmla="val 19230"/>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023359"/>
            <a:ext cx="1956815" cy="274320"/>
          </a:xfrm>
          <a:prstGeom prst="rect">
            <a:avLst/>
          </a:prstGeom>
          <a:noFill/>
        </p:spPr>
        <p:txBody>
          <a:bodyPr wrap="square" lIns="0" rIns="0" tIns="0" bIns="0" anchor="t">
            <a:spAutoFit/>
          </a:bodyPr>
          <a:lstStyle/>
          <a:p>
            <a:pPr algn="l"/>
            <a:r>
              <a:rPr sz="1100" b="1">
                <a:solidFill>
                  <a:srgbClr val="2F1D63"/>
                </a:solidFill>
                <a:latin typeface="Calibri"/>
              </a:rPr>
              <a:t>R5  Sequence</a:t>
            </a:r>
          </a:p>
        </p:txBody>
      </p:sp>
      <p:sp>
        <p:nvSpPr>
          <p:cNvPr id="30" name="TextBox 29"/>
          <p:cNvSpPr txBox="1"/>
          <p:nvPr/>
        </p:nvSpPr>
        <p:spPr>
          <a:xfrm>
            <a:off x="2907792" y="4023359"/>
            <a:ext cx="3877056" cy="274320"/>
          </a:xfrm>
          <a:prstGeom prst="rect">
            <a:avLst/>
          </a:prstGeom>
          <a:noFill/>
        </p:spPr>
        <p:txBody>
          <a:bodyPr wrap="square" lIns="0" rIns="0" tIns="0" bIns="0" anchor="t">
            <a:spAutoFit/>
          </a:bodyPr>
          <a:lstStyle/>
          <a:p>
            <a:pPr algn="l"/>
            <a:r>
              <a:rPr sz="1100" b="0">
                <a:solidFill>
                  <a:srgbClr val="241C3A"/>
                </a:solidFill>
                <a:latin typeface="Calibri"/>
              </a:rPr>
              <a:t>Milestones occur in the configured order</a:t>
            </a:r>
          </a:p>
        </p:txBody>
      </p:sp>
      <p:sp>
        <p:nvSpPr>
          <p:cNvPr id="31" name="TextBox 30"/>
          <p:cNvSpPr txBox="1"/>
          <p:nvPr/>
        </p:nvSpPr>
        <p:spPr>
          <a:xfrm>
            <a:off x="7022592" y="4023359"/>
            <a:ext cx="2779776" cy="274320"/>
          </a:xfrm>
          <a:prstGeom prst="rect">
            <a:avLst/>
          </a:prstGeom>
          <a:noFill/>
        </p:spPr>
        <p:txBody>
          <a:bodyPr wrap="square" lIns="0" rIns="0" tIns="0" bIns="0" anchor="t">
            <a:spAutoFit/>
          </a:bodyPr>
          <a:lstStyle/>
          <a:p>
            <a:pPr algn="l"/>
            <a:r>
              <a:rPr sz="1100" b="0">
                <a:solidFill>
                  <a:srgbClr val="241C3A"/>
                </a:solidFill>
                <a:latin typeface="Calibri"/>
              </a:rPr>
              <a:t>SHP-1011 delivered before in-transit</a:t>
            </a:r>
          </a:p>
        </p:txBody>
      </p:sp>
      <p:sp>
        <p:nvSpPr>
          <p:cNvPr id="32" name="TextBox 31"/>
          <p:cNvSpPr txBox="1"/>
          <p:nvPr/>
        </p:nvSpPr>
        <p:spPr>
          <a:xfrm>
            <a:off x="10040112" y="4023359"/>
            <a:ext cx="1490472" cy="274320"/>
          </a:xfrm>
          <a:prstGeom prst="rect">
            <a:avLst/>
          </a:prstGeom>
          <a:noFill/>
        </p:spPr>
        <p:txBody>
          <a:bodyPr wrap="square" lIns="0" rIns="0" tIns="0" bIns="0" anchor="t">
            <a:spAutoFit/>
          </a:bodyPr>
          <a:lstStyle/>
          <a:p>
            <a:pPr algn="l"/>
            <a:r>
              <a:rPr sz="950" b="1">
                <a:solidFill>
                  <a:srgbClr val="8A6100"/>
                </a:solidFill>
                <a:latin typeface="Calibri"/>
              </a:rPr>
              <a:t>HIGH</a:t>
            </a:r>
          </a:p>
        </p:txBody>
      </p:sp>
      <p:sp>
        <p:nvSpPr>
          <p:cNvPr id="33" name="Rounded Rectangle 32"/>
          <p:cNvSpPr/>
          <p:nvPr/>
        </p:nvSpPr>
        <p:spPr>
          <a:xfrm>
            <a:off x="566928" y="4425696"/>
            <a:ext cx="11055096" cy="475488"/>
          </a:xfrm>
          <a:prstGeom prst="roundRect">
            <a:avLst>
              <a:gd name="adj" fmla="val 19230"/>
            </a:avLst>
          </a:prstGeom>
          <a:solidFill>
            <a:srgbClr val="FCFBFE"/>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553712"/>
            <a:ext cx="1956815" cy="274320"/>
          </a:xfrm>
          <a:prstGeom prst="rect">
            <a:avLst/>
          </a:prstGeom>
          <a:noFill/>
        </p:spPr>
        <p:txBody>
          <a:bodyPr wrap="square" lIns="0" rIns="0" tIns="0" bIns="0" anchor="t">
            <a:spAutoFit/>
          </a:bodyPr>
          <a:lstStyle/>
          <a:p>
            <a:pPr algn="l"/>
            <a:r>
              <a:rPr sz="1100" b="1">
                <a:solidFill>
                  <a:srgbClr val="2F1D63"/>
                </a:solidFill>
                <a:latin typeface="Calibri"/>
              </a:rPr>
              <a:t>R6  Contract event</a:t>
            </a:r>
          </a:p>
        </p:txBody>
      </p:sp>
      <p:sp>
        <p:nvSpPr>
          <p:cNvPr id="35" name="TextBox 34"/>
          <p:cNvSpPr txBox="1"/>
          <p:nvPr/>
        </p:nvSpPr>
        <p:spPr>
          <a:xfrm>
            <a:off x="2907792" y="4553712"/>
            <a:ext cx="3877056" cy="274320"/>
          </a:xfrm>
          <a:prstGeom prst="rect">
            <a:avLst/>
          </a:prstGeom>
          <a:noFill/>
        </p:spPr>
        <p:txBody>
          <a:bodyPr wrap="square" lIns="0" rIns="0" tIns="0" bIns="0" anchor="t">
            <a:spAutoFit/>
          </a:bodyPr>
          <a:lstStyle/>
          <a:p>
            <a:pPr algn="l"/>
            <a:r>
              <a:rPr sz="1100" b="0">
                <a:solidFill>
                  <a:srgbClr val="241C3A"/>
                </a:solidFill>
                <a:latin typeface="Calibri"/>
              </a:rPr>
              <a:t>Every shipment emits the required event</a:t>
            </a:r>
          </a:p>
        </p:txBody>
      </p:sp>
      <p:sp>
        <p:nvSpPr>
          <p:cNvPr id="36" name="TextBox 35"/>
          <p:cNvSpPr txBox="1"/>
          <p:nvPr/>
        </p:nvSpPr>
        <p:spPr>
          <a:xfrm>
            <a:off x="7022592" y="4553712"/>
            <a:ext cx="2779776" cy="274320"/>
          </a:xfrm>
          <a:prstGeom prst="rect">
            <a:avLst/>
          </a:prstGeom>
          <a:noFill/>
        </p:spPr>
        <p:txBody>
          <a:bodyPr wrap="square" lIns="0" rIns="0" tIns="0" bIns="0" anchor="t">
            <a:spAutoFit/>
          </a:bodyPr>
          <a:lstStyle/>
          <a:p>
            <a:pPr algn="l"/>
            <a:r>
              <a:rPr sz="1100" b="0">
                <a:solidFill>
                  <a:srgbClr val="241C3A"/>
                </a:solidFill>
                <a:latin typeface="Calibri"/>
              </a:rPr>
              <a:t>SHP-1012 never confirms receipt</a:t>
            </a:r>
          </a:p>
        </p:txBody>
      </p:sp>
      <p:sp>
        <p:nvSpPr>
          <p:cNvPr id="37" name="TextBox 36"/>
          <p:cNvSpPr txBox="1"/>
          <p:nvPr/>
        </p:nvSpPr>
        <p:spPr>
          <a:xfrm>
            <a:off x="10040112" y="4553712"/>
            <a:ext cx="1490472" cy="274320"/>
          </a:xfrm>
          <a:prstGeom prst="rect">
            <a:avLst/>
          </a:prstGeom>
          <a:noFill/>
        </p:spPr>
        <p:txBody>
          <a:bodyPr wrap="square" lIns="0" rIns="0" tIns="0" bIns="0" anchor="t">
            <a:spAutoFit/>
          </a:bodyPr>
          <a:lstStyle/>
          <a:p>
            <a:pPr algn="l"/>
            <a:r>
              <a:rPr sz="950" b="1">
                <a:solidFill>
                  <a:srgbClr val="8A6100"/>
                </a:solidFill>
                <a:latin typeface="Calibri"/>
              </a:rPr>
              <a:t>HIGH</a:t>
            </a:r>
          </a:p>
        </p:txBody>
      </p:sp>
      <p:sp>
        <p:nvSpPr>
          <p:cNvPr id="38" name="Rounded Rectangle 37"/>
          <p:cNvSpPr/>
          <p:nvPr/>
        </p:nvSpPr>
        <p:spPr>
          <a:xfrm>
            <a:off x="566928" y="4992624"/>
            <a:ext cx="5431536" cy="1188720"/>
          </a:xfrm>
          <a:prstGeom prst="roundRect">
            <a:avLst>
              <a:gd name="adj" fmla="val 769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157216"/>
            <a:ext cx="5029200" cy="274320"/>
          </a:xfrm>
          <a:prstGeom prst="rect">
            <a:avLst/>
          </a:prstGeom>
          <a:noFill/>
        </p:spPr>
        <p:txBody>
          <a:bodyPr wrap="square" lIns="0" rIns="0" tIns="0" bIns="0" anchor="t">
            <a:spAutoFit/>
          </a:bodyPr>
          <a:lstStyle/>
          <a:p>
            <a:pPr algn="l"/>
            <a:r>
              <a:rPr sz="1350" b="1">
                <a:solidFill>
                  <a:srgbClr val="2F1D63"/>
                </a:solidFill>
                <a:latin typeface="Calibri"/>
              </a:rPr>
              <a:t>Set-based, not row-by-row</a:t>
            </a:r>
          </a:p>
        </p:txBody>
      </p:sp>
      <p:sp>
        <p:nvSpPr>
          <p:cNvPr id="40" name="TextBox 39"/>
          <p:cNvSpPr txBox="1"/>
          <p:nvPr/>
        </p:nvSpPr>
        <p:spPr>
          <a:xfrm>
            <a:off x="786384" y="5468112"/>
            <a:ext cx="5029200" cy="603504"/>
          </a:xfrm>
          <a:prstGeom prst="rect">
            <a:avLst/>
          </a:prstGeom>
          <a:noFill/>
        </p:spPr>
        <p:txBody>
          <a:bodyPr wrap="square" lIns="0" rIns="0" tIns="0" bIns="0" anchor="t">
            <a:spAutoFit/>
          </a:bodyPr>
          <a:lstStyle/>
          <a:p>
            <a:pPr algn="l"/>
            <a:r>
              <a:rPr sz="1150" b="0">
                <a:solidFill>
                  <a:srgbClr val="241C3A"/>
                </a:solidFill>
                <a:latin typeface="Calibri"/>
              </a:rPr>
              <a:t>R4, R5 and R6 compare rows against one another, so each rule receives the whole table - 6 workflow invocations per run, not 288.</a:t>
            </a:r>
          </a:p>
        </p:txBody>
      </p:sp>
      <p:sp>
        <p:nvSpPr>
          <p:cNvPr id="41" name="Rounded Rectangle 40"/>
          <p:cNvSpPr/>
          <p:nvPr/>
        </p:nvSpPr>
        <p:spPr>
          <a:xfrm>
            <a:off x="6190488" y="4992624"/>
            <a:ext cx="5431536" cy="1188720"/>
          </a:xfrm>
          <a:prstGeom prst="roundRect">
            <a:avLst>
              <a:gd name="adj" fmla="val 769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9944" y="5157216"/>
            <a:ext cx="5029200" cy="274320"/>
          </a:xfrm>
          <a:prstGeom prst="rect">
            <a:avLst/>
          </a:prstGeom>
          <a:noFill/>
        </p:spPr>
        <p:txBody>
          <a:bodyPr wrap="square" lIns="0" rIns="0" tIns="0" bIns="0" anchor="t">
            <a:spAutoFit/>
          </a:bodyPr>
          <a:lstStyle/>
          <a:p>
            <a:pPr algn="l"/>
            <a:r>
              <a:rPr sz="1350" b="1">
                <a:solidFill>
                  <a:srgbClr val="2F1D63"/>
                </a:solidFill>
                <a:latin typeface="Calibri"/>
              </a:rPr>
              <a:t>Rules are configuration, not code</a:t>
            </a:r>
          </a:p>
        </p:txBody>
      </p:sp>
      <p:sp>
        <p:nvSpPr>
          <p:cNvPr id="43" name="TextBox 42"/>
          <p:cNvSpPr txBox="1"/>
          <p:nvPr/>
        </p:nvSpPr>
        <p:spPr>
          <a:xfrm>
            <a:off x="6409944" y="5468112"/>
            <a:ext cx="5029200" cy="603504"/>
          </a:xfrm>
          <a:prstGeom prst="rect">
            <a:avLst/>
          </a:prstGeom>
          <a:noFill/>
        </p:spPr>
        <p:txBody>
          <a:bodyPr wrap="square" lIns="0" rIns="0" tIns="0" bIns="0" anchor="t">
            <a:spAutoFit/>
          </a:bodyPr>
          <a:lstStyle/>
          <a:p>
            <a:pPr algn="l"/>
            <a:r>
              <a:rPr sz="1150" b="0">
                <a:solidFill>
                  <a:srgbClr val="241C3A"/>
                </a:solidFill>
                <a:latin typeface="Calibri"/>
              </a:rPr>
              <a:t>Whether a rule runs, its severity, its thresholds and its fail action all live in a spreadsheet a logistics manager can edit.</a:t>
            </a:r>
          </a:p>
        </p:txBody>
      </p:sp>
      <p:sp>
        <p:nvSpPr>
          <p:cNvPr id="44" name="TextBox 43"/>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48 TRANSACTIONS · 12 SHIPMENTS · 21 SECONDS</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Results from a real run</a:t>
            </a:r>
          </a:p>
        </p:txBody>
      </p:sp>
      <p:sp>
        <p:nvSpPr>
          <p:cNvPr id="4" name="Rounded Rectangle 3"/>
          <p:cNvSpPr/>
          <p:nvPr/>
        </p:nvSpPr>
        <p:spPr>
          <a:xfrm>
            <a:off x="566928" y="1517904"/>
            <a:ext cx="2615184" cy="1481328"/>
          </a:xfrm>
          <a:prstGeom prst="roundRect">
            <a:avLst>
              <a:gd name="adj" fmla="val 617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36776"/>
            <a:ext cx="2286000" cy="566928"/>
          </a:xfrm>
          <a:prstGeom prst="rect">
            <a:avLst/>
          </a:prstGeom>
          <a:noFill/>
        </p:spPr>
        <p:txBody>
          <a:bodyPr wrap="square" lIns="0" rIns="0" tIns="0" bIns="0" anchor="t">
            <a:spAutoFit/>
          </a:bodyPr>
          <a:lstStyle/>
          <a:p>
            <a:pPr algn="l"/>
            <a:r>
              <a:rPr sz="3400" b="1">
                <a:solidFill>
                  <a:srgbClr val="2F1D63"/>
                </a:solidFill>
                <a:latin typeface="Calibri"/>
              </a:rPr>
              <a:t>48</a:t>
            </a:r>
          </a:p>
        </p:txBody>
      </p:sp>
      <p:sp>
        <p:nvSpPr>
          <p:cNvPr id="6" name="TextBox 5"/>
          <p:cNvSpPr txBox="1"/>
          <p:nvPr/>
        </p:nvSpPr>
        <p:spPr>
          <a:xfrm>
            <a:off x="731520" y="2212848"/>
            <a:ext cx="2286000" cy="274320"/>
          </a:xfrm>
          <a:prstGeom prst="rect">
            <a:avLst/>
          </a:prstGeom>
          <a:noFill/>
        </p:spPr>
        <p:txBody>
          <a:bodyPr wrap="square" lIns="0" rIns="0" tIns="0" bIns="0" anchor="t">
            <a:spAutoFit/>
          </a:bodyPr>
          <a:lstStyle/>
          <a:p>
            <a:pPr algn="l"/>
            <a:r>
              <a:rPr sz="1150" b="0">
                <a:solidFill>
                  <a:srgbClr val="241C3A"/>
                </a:solidFill>
                <a:latin typeface="Calibri"/>
              </a:rPr>
              <a:t>Transactions validated</a:t>
            </a:r>
          </a:p>
        </p:txBody>
      </p:sp>
      <p:sp>
        <p:nvSpPr>
          <p:cNvPr id="7" name="TextBox 6"/>
          <p:cNvSpPr txBox="1"/>
          <p:nvPr/>
        </p:nvSpPr>
        <p:spPr>
          <a:xfrm>
            <a:off x="731520" y="2487168"/>
            <a:ext cx="2286000" cy="402336"/>
          </a:xfrm>
          <a:prstGeom prst="rect">
            <a:avLst/>
          </a:prstGeom>
          <a:noFill/>
        </p:spPr>
        <p:txBody>
          <a:bodyPr wrap="square" lIns="0" rIns="0" tIns="0" bIns="0" anchor="t">
            <a:spAutoFit/>
          </a:bodyPr>
          <a:lstStyle/>
          <a:p>
            <a:pPr algn="l"/>
            <a:r>
              <a:rPr sz="1000" b="0">
                <a:solidFill>
                  <a:srgbClr val="6B6480"/>
                </a:solidFill>
                <a:latin typeface="Calibri"/>
              </a:rPr>
              <a:t>288 rule evaluations</a:t>
            </a:r>
          </a:p>
        </p:txBody>
      </p:sp>
      <p:sp>
        <p:nvSpPr>
          <p:cNvPr id="8" name="Rounded Rectangle 7"/>
          <p:cNvSpPr/>
          <p:nvPr/>
        </p:nvSpPr>
        <p:spPr>
          <a:xfrm>
            <a:off x="3310128" y="1517904"/>
            <a:ext cx="2615184" cy="1481328"/>
          </a:xfrm>
          <a:prstGeom prst="roundRect">
            <a:avLst>
              <a:gd name="adj" fmla="val 617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636776"/>
            <a:ext cx="2286000" cy="566928"/>
          </a:xfrm>
          <a:prstGeom prst="rect">
            <a:avLst/>
          </a:prstGeom>
          <a:noFill/>
        </p:spPr>
        <p:txBody>
          <a:bodyPr wrap="square" lIns="0" rIns="0" tIns="0" bIns="0" anchor="t">
            <a:spAutoFit/>
          </a:bodyPr>
          <a:lstStyle/>
          <a:p>
            <a:pPr algn="l"/>
            <a:r>
              <a:rPr sz="3400" b="1">
                <a:solidFill>
                  <a:srgbClr val="2F1D63"/>
                </a:solidFill>
                <a:latin typeface="Calibri"/>
              </a:rPr>
              <a:t>40</a:t>
            </a:r>
          </a:p>
        </p:txBody>
      </p:sp>
      <p:sp>
        <p:nvSpPr>
          <p:cNvPr id="10" name="TextBox 9"/>
          <p:cNvSpPr txBox="1"/>
          <p:nvPr/>
        </p:nvSpPr>
        <p:spPr>
          <a:xfrm>
            <a:off x="3474720" y="2212848"/>
            <a:ext cx="2286000" cy="274320"/>
          </a:xfrm>
          <a:prstGeom prst="rect">
            <a:avLst/>
          </a:prstGeom>
          <a:noFill/>
        </p:spPr>
        <p:txBody>
          <a:bodyPr wrap="square" lIns="0" rIns="0" tIns="0" bIns="0" anchor="t">
            <a:spAutoFit/>
          </a:bodyPr>
          <a:lstStyle/>
          <a:p>
            <a:pPr algn="l"/>
            <a:r>
              <a:rPr sz="1150" b="0">
                <a:solidFill>
                  <a:srgbClr val="241C3A"/>
                </a:solidFill>
                <a:latin typeface="Calibri"/>
              </a:rPr>
              <a:t>Passed all six rules</a:t>
            </a:r>
          </a:p>
        </p:txBody>
      </p:sp>
      <p:sp>
        <p:nvSpPr>
          <p:cNvPr id="11" name="TextBox 10"/>
          <p:cNvSpPr txBox="1"/>
          <p:nvPr/>
        </p:nvSpPr>
        <p:spPr>
          <a:xfrm>
            <a:off x="3474720" y="2487168"/>
            <a:ext cx="2286000" cy="402336"/>
          </a:xfrm>
          <a:prstGeom prst="rect">
            <a:avLst/>
          </a:prstGeom>
          <a:noFill/>
        </p:spPr>
        <p:txBody>
          <a:bodyPr wrap="square" lIns="0" rIns="0" tIns="0" bIns="0" anchor="t">
            <a:spAutoFit/>
          </a:bodyPr>
          <a:lstStyle/>
          <a:p>
            <a:pPr algn="l"/>
            <a:r>
              <a:rPr sz="1000" b="0">
                <a:solidFill>
                  <a:srgbClr val="6B6480"/>
                </a:solidFill>
                <a:latin typeface="Calibri"/>
              </a:rPr>
              <a:t>83.3% pass rate</a:t>
            </a:r>
          </a:p>
        </p:txBody>
      </p:sp>
      <p:sp>
        <p:nvSpPr>
          <p:cNvPr id="12" name="Rounded Rectangle 11"/>
          <p:cNvSpPr/>
          <p:nvPr/>
        </p:nvSpPr>
        <p:spPr>
          <a:xfrm>
            <a:off x="6053328" y="1517904"/>
            <a:ext cx="2615184" cy="1481328"/>
          </a:xfrm>
          <a:prstGeom prst="roundRect">
            <a:avLst>
              <a:gd name="adj" fmla="val 617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636776"/>
            <a:ext cx="2286000" cy="566928"/>
          </a:xfrm>
          <a:prstGeom prst="rect">
            <a:avLst/>
          </a:prstGeom>
          <a:noFill/>
        </p:spPr>
        <p:txBody>
          <a:bodyPr wrap="square" lIns="0" rIns="0" tIns="0" bIns="0" anchor="t">
            <a:spAutoFit/>
          </a:bodyPr>
          <a:lstStyle/>
          <a:p>
            <a:pPr algn="l"/>
            <a:r>
              <a:rPr sz="3400" b="1">
                <a:solidFill>
                  <a:srgbClr val="2F1D63"/>
                </a:solidFill>
                <a:latin typeface="Calibri"/>
              </a:rPr>
              <a:t>8</a:t>
            </a:r>
          </a:p>
        </p:txBody>
      </p:sp>
      <p:sp>
        <p:nvSpPr>
          <p:cNvPr id="14" name="TextBox 13"/>
          <p:cNvSpPr txBox="1"/>
          <p:nvPr/>
        </p:nvSpPr>
        <p:spPr>
          <a:xfrm>
            <a:off x="6217920" y="2212848"/>
            <a:ext cx="2286000" cy="274320"/>
          </a:xfrm>
          <a:prstGeom prst="rect">
            <a:avLst/>
          </a:prstGeom>
          <a:noFill/>
        </p:spPr>
        <p:txBody>
          <a:bodyPr wrap="square" lIns="0" rIns="0" tIns="0" bIns="0" anchor="t">
            <a:spAutoFit/>
          </a:bodyPr>
          <a:lstStyle/>
          <a:p>
            <a:pPr algn="l"/>
            <a:r>
              <a:rPr sz="1150" b="0">
                <a:solidFill>
                  <a:srgbClr val="241C3A"/>
                </a:solidFill>
                <a:latin typeface="Calibri"/>
              </a:rPr>
              <a:t>Flagged</a:t>
            </a:r>
          </a:p>
        </p:txBody>
      </p:sp>
      <p:sp>
        <p:nvSpPr>
          <p:cNvPr id="15" name="TextBox 14"/>
          <p:cNvSpPr txBox="1"/>
          <p:nvPr/>
        </p:nvSpPr>
        <p:spPr>
          <a:xfrm>
            <a:off x="6217920" y="2487168"/>
            <a:ext cx="2286000" cy="402336"/>
          </a:xfrm>
          <a:prstGeom prst="rect">
            <a:avLst/>
          </a:prstGeom>
          <a:noFill/>
        </p:spPr>
        <p:txBody>
          <a:bodyPr wrap="square" lIns="0" rIns="0" tIns="0" bIns="0" anchor="t">
            <a:spAutoFit/>
          </a:bodyPr>
          <a:lstStyle/>
          <a:p>
            <a:pPr algn="l"/>
            <a:r>
              <a:rPr sz="1000" b="0">
                <a:solidFill>
                  <a:srgbClr val="6B6480"/>
                </a:solidFill>
                <a:latin typeface="Calibri"/>
              </a:rPr>
              <a:t>7 failed · 1 warning</a:t>
            </a:r>
          </a:p>
        </p:txBody>
      </p:sp>
      <p:sp>
        <p:nvSpPr>
          <p:cNvPr id="16" name="Rounded Rectangle 15"/>
          <p:cNvSpPr/>
          <p:nvPr/>
        </p:nvSpPr>
        <p:spPr>
          <a:xfrm>
            <a:off x="8796528" y="1517904"/>
            <a:ext cx="2615184" cy="1481328"/>
          </a:xfrm>
          <a:prstGeom prst="roundRect">
            <a:avLst>
              <a:gd name="adj" fmla="val 617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19" y="1636776"/>
            <a:ext cx="2286000" cy="566928"/>
          </a:xfrm>
          <a:prstGeom prst="rect">
            <a:avLst/>
          </a:prstGeom>
          <a:noFill/>
        </p:spPr>
        <p:txBody>
          <a:bodyPr wrap="square" lIns="0" rIns="0" tIns="0" bIns="0" anchor="t">
            <a:spAutoFit/>
          </a:bodyPr>
          <a:lstStyle/>
          <a:p>
            <a:pPr algn="l"/>
            <a:r>
              <a:rPr sz="3400" b="1">
                <a:solidFill>
                  <a:srgbClr val="2F1D63"/>
                </a:solidFill>
                <a:latin typeface="Calibri"/>
              </a:rPr>
              <a:t>1</a:t>
            </a:r>
          </a:p>
        </p:txBody>
      </p:sp>
      <p:sp>
        <p:nvSpPr>
          <p:cNvPr id="18" name="TextBox 17"/>
          <p:cNvSpPr txBox="1"/>
          <p:nvPr/>
        </p:nvSpPr>
        <p:spPr>
          <a:xfrm>
            <a:off x="8961119" y="2212848"/>
            <a:ext cx="2286000" cy="274320"/>
          </a:xfrm>
          <a:prstGeom prst="rect">
            <a:avLst/>
          </a:prstGeom>
          <a:noFill/>
        </p:spPr>
        <p:txBody>
          <a:bodyPr wrap="square" lIns="0" rIns="0" tIns="0" bIns="0" anchor="t">
            <a:spAutoFit/>
          </a:bodyPr>
          <a:lstStyle/>
          <a:p>
            <a:pPr algn="l"/>
            <a:r>
              <a:rPr sz="1150" b="0">
                <a:solidFill>
                  <a:srgbClr val="241C3A"/>
                </a:solidFill>
                <a:latin typeface="Calibri"/>
              </a:rPr>
              <a:t>Escalated to a human</a:t>
            </a:r>
          </a:p>
        </p:txBody>
      </p:sp>
      <p:sp>
        <p:nvSpPr>
          <p:cNvPr id="19" name="TextBox 18"/>
          <p:cNvSpPr txBox="1"/>
          <p:nvPr/>
        </p:nvSpPr>
        <p:spPr>
          <a:xfrm>
            <a:off x="8961119" y="2487168"/>
            <a:ext cx="2286000" cy="402336"/>
          </a:xfrm>
          <a:prstGeom prst="rect">
            <a:avLst/>
          </a:prstGeom>
          <a:noFill/>
        </p:spPr>
        <p:txBody>
          <a:bodyPr wrap="square" lIns="0" rIns="0" tIns="0" bIns="0" anchor="t">
            <a:spAutoFit/>
          </a:bodyPr>
          <a:lstStyle/>
          <a:p>
            <a:pPr algn="l"/>
            <a:r>
              <a:rPr sz="1000" b="0">
                <a:solidFill>
                  <a:srgbClr val="6B6480"/>
                </a:solidFill>
                <a:latin typeface="Calibri"/>
              </a:rPr>
              <a:t>Unapproved wallet</a:t>
            </a:r>
          </a:p>
        </p:txBody>
      </p:sp>
      <p:graphicFrame>
        <p:nvGraphicFramePr>
          <p:cNvPr id="20" name="Chart 19"/>
          <p:cNvGraphicFramePr>
            <a:graphicFrameLocks noGrp="1"/>
          </p:cNvGraphicFramePr>
          <p:nvPr/>
        </p:nvGraphicFramePr>
        <p:xfrm>
          <a:off x="566928" y="3218688"/>
          <a:ext cx="4846320" cy="2926080"/>
        </p:xfrm>
        <a:graphic>
          <a:graphicData uri="http://schemas.openxmlformats.org/drawingml/2006/chart">
            <c:chart xmlns:c="http://schemas.openxmlformats.org/drawingml/2006/chart" r:id="rId2"/>
          </a:graphicData>
        </a:graphic>
      </p:graphicFrame>
      <p:sp>
        <p:nvSpPr>
          <p:cNvPr id="21" name="Rounded Rectangle 20"/>
          <p:cNvSpPr/>
          <p:nvPr/>
        </p:nvSpPr>
        <p:spPr>
          <a:xfrm>
            <a:off x="5705856" y="3218688"/>
            <a:ext cx="5952744" cy="2926080"/>
          </a:xfrm>
          <a:prstGeom prst="roundRect">
            <a:avLst>
              <a:gd name="adj" fmla="val 3125"/>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0" y="3401568"/>
            <a:ext cx="5486400" cy="292608"/>
          </a:xfrm>
          <a:prstGeom prst="rect">
            <a:avLst/>
          </a:prstGeom>
          <a:noFill/>
        </p:spPr>
        <p:txBody>
          <a:bodyPr wrap="square" lIns="0" rIns="0" tIns="0" bIns="0" anchor="t">
            <a:spAutoFit/>
          </a:bodyPr>
          <a:lstStyle/>
          <a:p>
            <a:pPr algn="l"/>
            <a:r>
              <a:rPr sz="1450" b="1">
                <a:solidFill>
                  <a:srgbClr val="2F1D63"/>
                </a:solidFill>
                <a:latin typeface="Calibri"/>
              </a:rPr>
              <a:t>What the numbers mean</a:t>
            </a:r>
          </a:p>
        </p:txBody>
      </p:sp>
      <p:sp>
        <p:nvSpPr>
          <p:cNvPr id="23" name="TextBox 22"/>
          <p:cNvSpPr txBox="1"/>
          <p:nvPr/>
        </p:nvSpPr>
        <p:spPr>
          <a:xfrm>
            <a:off x="5943600" y="3767328"/>
            <a:ext cx="5486400" cy="2194560"/>
          </a:xfrm>
          <a:prstGeom prst="rect">
            <a:avLst/>
          </a:prstGeom>
          <a:noFill/>
        </p:spPr>
        <p:txBody>
          <a:bodyPr wrap="square" lIns="0" rIns="0" tIns="0" bIns="0" anchor="t">
            <a:spAutoFit/>
          </a:bodyPr>
          <a:lstStyle/>
          <a:p>
            <a:pPr algn="l">
              <a:spcAft>
                <a:spcPts val="700"/>
              </a:spcAft>
            </a:pPr>
            <a:r>
              <a:rPr sz="1150" b="1">
                <a:solidFill>
                  <a:srgbClr val="241C3A"/>
                </a:solidFill>
                <a:latin typeface="Calibri"/>
              </a:rPr>
              <a:t>7 of 7 seeded anomalies detected, with zero false positives.</a:t>
            </a:r>
          </a:p>
          <a:p>
            <a:pPr algn="l">
              <a:spcAft>
                <a:spcPts val="700"/>
              </a:spcAft>
            </a:pPr>
            <a:r>
              <a:rPr sz="1150" b="0">
                <a:solidFill>
                  <a:srgbClr val="241C3A"/>
                </a:solidFill>
                <a:latin typeface="Calibri"/>
              </a:rPr>
              <a:t>The five clean shipments passed all six rules on every event.</a:t>
            </a:r>
          </a:p>
          <a:p>
            <a:pPr algn="l">
              <a:spcAft>
                <a:spcPts val="700"/>
              </a:spcAft>
            </a:pPr>
            <a:r>
              <a:rPr sz="1150" b="0">
                <a:solidFill>
                  <a:srgbClr val="241C3A"/>
                </a:solidFill>
                <a:latin typeface="Calibri"/>
              </a:rPr>
              <a:t>R4 reports two rows for one anomaly by design - from the ledger alone there is no way to tell which copy of a duplicated transaction was legitimate, so both are flagged.</a:t>
            </a:r>
          </a:p>
          <a:p>
            <a:pPr algn="l">
              <a:spcAft>
                <a:spcPts val="700"/>
              </a:spcAft>
            </a:pPr>
            <a:r>
              <a:rPr sz="1150" b="0">
                <a:solidFill>
                  <a:srgbClr val="241C3A"/>
                </a:solidFill>
                <a:latin typeface="Calibri"/>
              </a:rPr>
              <a:t>Deterministic: the same 48 transactions give the same verdict on every run, which is what makes the acceptance suite possible.</a:t>
            </a:r>
          </a:p>
          <a:p>
            <a:pPr algn="l">
              <a:spcAft>
                <a:spcPts val="700"/>
              </a:spcAft>
            </a:pPr>
            <a:r>
              <a:rPr sz="1100" b="0">
                <a:solidFill>
                  <a:srgbClr val="6B6480"/>
                </a:solidFill>
                <a:latin typeface="Calibri"/>
              </a:rPr>
              <a:t>Roughly 12 of the 21 seconds are Excel COM starting up; the validation engine itself is about 4 seconds, or ~8,000 transactions/hour on one robot.</a:t>
            </a:r>
          </a:p>
        </p:txBody>
      </p:sp>
      <p:sp>
        <p:nvSpPr>
          <p:cNvPr id="24" name="TextBox 23"/>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FINDINGS PER RULE, FROM ONE RUN</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Every rule earns its place</a:t>
            </a:r>
          </a:p>
        </p:txBody>
      </p:sp>
      <p:graphicFrame>
        <p:nvGraphicFramePr>
          <p:cNvPr id="4" name="Chart 3"/>
          <p:cNvGraphicFramePr>
            <a:graphicFrameLocks noGrp="1"/>
          </p:cNvGraphicFramePr>
          <p:nvPr/>
        </p:nvGraphicFramePr>
        <p:xfrm>
          <a:off x="566928" y="1572768"/>
          <a:ext cx="6492240" cy="3657600"/>
        </p:xfrm>
        <a:graphic>
          <a:graphicData uri="http://schemas.openxmlformats.org/drawingml/2006/chart">
            <c:chart xmlns:c="http://schemas.openxmlformats.org/drawingml/2006/chart" r:id="rId2"/>
          </a:graphicData>
        </a:graphic>
      </p:graphicFrame>
      <p:sp>
        <p:nvSpPr>
          <p:cNvPr id="5" name="Rounded Rectangle 4"/>
          <p:cNvSpPr/>
          <p:nvPr/>
        </p:nvSpPr>
        <p:spPr>
          <a:xfrm>
            <a:off x="7351775" y="1572768"/>
            <a:ext cx="4306824" cy="1700784"/>
          </a:xfrm>
          <a:prstGeom prst="roundRect">
            <a:avLst>
              <a:gd name="adj" fmla="val 3000"/>
            </a:avLst>
          </a:prstGeom>
          <a:solidFill>
            <a:srgbClr val="E4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71231" y="1737360"/>
            <a:ext cx="3840480" cy="566928"/>
          </a:xfrm>
          <a:prstGeom prst="rect">
            <a:avLst/>
          </a:prstGeom>
          <a:noFill/>
        </p:spPr>
        <p:txBody>
          <a:bodyPr wrap="square" lIns="0" rIns="0" tIns="0" bIns="0" anchor="t">
            <a:spAutoFit/>
          </a:bodyPr>
          <a:lstStyle/>
          <a:p>
            <a:pPr algn="l"/>
            <a:r>
              <a:rPr sz="3400" b="1">
                <a:solidFill>
                  <a:srgbClr val="1A7F4B"/>
                </a:solidFill>
                <a:latin typeface="Calibri"/>
              </a:rPr>
              <a:t>7/7</a:t>
            </a:r>
          </a:p>
        </p:txBody>
      </p:sp>
      <p:sp>
        <p:nvSpPr>
          <p:cNvPr id="7" name="TextBox 6"/>
          <p:cNvSpPr txBox="1"/>
          <p:nvPr/>
        </p:nvSpPr>
        <p:spPr>
          <a:xfrm>
            <a:off x="7571231" y="2322576"/>
            <a:ext cx="3840480" cy="256032"/>
          </a:xfrm>
          <a:prstGeom prst="rect">
            <a:avLst/>
          </a:prstGeom>
          <a:noFill/>
        </p:spPr>
        <p:txBody>
          <a:bodyPr wrap="square" lIns="0" rIns="0" tIns="0" bIns="0" anchor="t">
            <a:spAutoFit/>
          </a:bodyPr>
          <a:lstStyle/>
          <a:p>
            <a:pPr algn="l"/>
            <a:r>
              <a:rPr sz="1200" b="0">
                <a:solidFill>
                  <a:srgbClr val="15663C"/>
                </a:solidFill>
                <a:latin typeface="Calibri"/>
              </a:rPr>
              <a:t>seeded anomalies detected</a:t>
            </a:r>
          </a:p>
        </p:txBody>
      </p:sp>
      <p:sp>
        <p:nvSpPr>
          <p:cNvPr id="8" name="TextBox 7"/>
          <p:cNvSpPr txBox="1"/>
          <p:nvPr/>
        </p:nvSpPr>
        <p:spPr>
          <a:xfrm>
            <a:off x="7571231" y="2615184"/>
            <a:ext cx="3840480" cy="548640"/>
          </a:xfrm>
          <a:prstGeom prst="rect">
            <a:avLst/>
          </a:prstGeom>
          <a:noFill/>
        </p:spPr>
        <p:txBody>
          <a:bodyPr wrap="square" lIns="0" rIns="0" tIns="0" bIns="0" anchor="t">
            <a:spAutoFit/>
          </a:bodyPr>
          <a:lstStyle/>
          <a:p>
            <a:pPr algn="l"/>
            <a:r>
              <a:rPr sz="1100" b="0">
                <a:solidFill>
                  <a:srgbClr val="15663C"/>
                </a:solidFill>
                <a:latin typeface="Calibri"/>
              </a:rPr>
              <a:t>No rule fires on a clean shipment, and no anomaly goes unreported.</a:t>
            </a:r>
          </a:p>
        </p:txBody>
      </p:sp>
      <p:sp>
        <p:nvSpPr>
          <p:cNvPr id="9" name="Rounded Rectangle 8"/>
          <p:cNvSpPr/>
          <p:nvPr/>
        </p:nvSpPr>
        <p:spPr>
          <a:xfrm>
            <a:off x="7351775" y="3419856"/>
            <a:ext cx="4306824" cy="1810512"/>
          </a:xfrm>
          <a:prstGeom prst="roundRect">
            <a:avLst>
              <a:gd name="adj" fmla="val 5050"/>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71231" y="3584448"/>
            <a:ext cx="3840480" cy="274320"/>
          </a:xfrm>
          <a:prstGeom prst="rect">
            <a:avLst/>
          </a:prstGeom>
          <a:noFill/>
        </p:spPr>
        <p:txBody>
          <a:bodyPr wrap="square" lIns="0" rIns="0" tIns="0" bIns="0" anchor="t">
            <a:spAutoFit/>
          </a:bodyPr>
          <a:lstStyle/>
          <a:p>
            <a:pPr algn="l"/>
            <a:r>
              <a:rPr sz="1350" b="1">
                <a:solidFill>
                  <a:srgbClr val="2F1D63"/>
                </a:solidFill>
                <a:latin typeface="Calibri"/>
              </a:rPr>
              <a:t>Why the counts differ</a:t>
            </a:r>
          </a:p>
        </p:txBody>
      </p:sp>
      <p:sp>
        <p:nvSpPr>
          <p:cNvPr id="11" name="TextBox 10"/>
          <p:cNvSpPr txBox="1"/>
          <p:nvPr/>
        </p:nvSpPr>
        <p:spPr>
          <a:xfrm>
            <a:off x="7571231" y="3913632"/>
            <a:ext cx="3840480" cy="1188720"/>
          </a:xfrm>
          <a:prstGeom prst="rect">
            <a:avLst/>
          </a:prstGeom>
          <a:noFill/>
        </p:spPr>
        <p:txBody>
          <a:bodyPr wrap="square" lIns="0" rIns="0" tIns="0" bIns="0" anchor="t">
            <a:spAutoFit/>
          </a:bodyPr>
          <a:lstStyle/>
          <a:p>
            <a:pPr algn="l">
              <a:spcAft>
                <a:spcPts val="600"/>
              </a:spcAft>
            </a:pPr>
            <a:r>
              <a:rPr sz="1100" b="0">
                <a:solidFill>
                  <a:srgbClr val="241C3A"/>
                </a:solidFill>
                <a:latin typeface="Calibri"/>
              </a:rPr>
              <a:t>R1 shows 2 - one warning and one failure, proving the three-band logic.</a:t>
            </a:r>
          </a:p>
          <a:p>
            <a:pPr algn="l">
              <a:spcAft>
                <a:spcPts val="600"/>
              </a:spcAft>
            </a:pPr>
            <a:r>
              <a:rPr sz="1100" b="0">
                <a:solidFill>
                  <a:srgbClr val="241C3A"/>
                </a:solidFill>
                <a:latin typeface="Calibri"/>
              </a:rPr>
              <a:t>R4 shows 2 for a single replayed delivery, because both copies are flagged.</a:t>
            </a:r>
          </a:p>
          <a:p>
            <a:pPr algn="l">
              <a:spcAft>
                <a:spcPts val="600"/>
              </a:spcAft>
            </a:pPr>
            <a:r>
              <a:rPr sz="1100" b="0">
                <a:solidFill>
                  <a:srgbClr val="241C3A"/>
                </a:solidFill>
                <a:latin typeface="Calibri"/>
              </a:rPr>
              <a:t>The other four fire exactly once each.</a:t>
            </a:r>
          </a:p>
        </p:txBody>
      </p:sp>
      <p:sp>
        <p:nvSpPr>
          <p:cNvPr id="12" name="Rounded Rectangle 11"/>
          <p:cNvSpPr/>
          <p:nvPr/>
        </p:nvSpPr>
        <p:spPr>
          <a:xfrm>
            <a:off x="566928" y="5413248"/>
            <a:ext cx="11055096" cy="804672"/>
          </a:xfrm>
          <a:prstGeom prst="roundRect">
            <a:avLst>
              <a:gd name="adj" fmla="val 11363"/>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5559552"/>
            <a:ext cx="10515600" cy="548640"/>
          </a:xfrm>
          <a:prstGeom prst="rect">
            <a:avLst/>
          </a:prstGeom>
          <a:noFill/>
        </p:spPr>
        <p:txBody>
          <a:bodyPr wrap="square" lIns="0" rIns="0" tIns="0" bIns="0" anchor="t">
            <a:spAutoFit/>
          </a:bodyPr>
          <a:lstStyle/>
          <a:p>
            <a:pPr algn="l"/>
            <a:r>
              <a:rPr sz="1200" b="1">
                <a:solidFill>
                  <a:srgbClr val="2F1D63"/>
                </a:solidFill>
                <a:latin typeface="Calibri"/>
              </a:rPr>
              <a:t>Verified against an independent oracle.</a:t>
            </a:r>
          </a:p>
          <a:p>
            <a:pPr algn="l"/>
            <a:r>
              <a:rPr sz="1150" b="0">
                <a:solidFill>
                  <a:srgbClr val="241C3A"/>
                </a:solidFill>
                <a:latin typeface="Calibri"/>
              </a:rPr>
              <a:t>tools\verify_seeded_data.py re-derives the expected outcome for all 48 transactions from the raw JSON and the ERP workbook. If the bot and the oracle ever disagree, one of them is wrong and the run is not signed off.</a:t>
            </a:r>
          </a:p>
        </p:txBody>
      </p:sp>
      <p:sp>
        <p:nvSpPr>
          <p:cNvPr id="14" name="TextBox 13"/>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NO-CODE RULES · BLOCKCHAIN AGNOSTIC</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Novelty 1 and 3 - configuration is the product</a:t>
            </a:r>
          </a:p>
        </p:txBody>
      </p:sp>
      <p:sp>
        <p:nvSpPr>
          <p:cNvPr id="4" name="Rounded Rectangle 3"/>
          <p:cNvSpPr/>
          <p:nvPr/>
        </p:nvSpPr>
        <p:spPr>
          <a:xfrm>
            <a:off x="566928" y="1463040"/>
            <a:ext cx="5431536" cy="2286000"/>
          </a:xfrm>
          <a:prstGeom prst="roundRect">
            <a:avLst>
              <a:gd name="adj" fmla="val 4000"/>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86384" y="1645920"/>
            <a:ext cx="310896" cy="310896"/>
          </a:xfrm>
          <a:prstGeom prst="ellipse">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682496"/>
            <a:ext cx="310896" cy="237744"/>
          </a:xfrm>
          <a:prstGeom prst="rect">
            <a:avLst/>
          </a:prstGeom>
          <a:noFill/>
        </p:spPr>
        <p:txBody>
          <a:bodyPr wrap="square" lIns="0" rIns="0" tIns="0" bIns="0" anchor="t">
            <a:spAutoFit/>
          </a:bodyPr>
          <a:lstStyle/>
          <a:p>
            <a:pPr algn="ctr"/>
            <a:r>
              <a:rPr sz="1250" b="1">
                <a:solidFill>
                  <a:srgbClr val="FFFFFF"/>
                </a:solidFill>
                <a:latin typeface="Calibri"/>
              </a:rPr>
              <a:t>1</a:t>
            </a:r>
          </a:p>
        </p:txBody>
      </p:sp>
      <p:sp>
        <p:nvSpPr>
          <p:cNvPr id="7" name="TextBox 6"/>
          <p:cNvSpPr txBox="1"/>
          <p:nvPr/>
        </p:nvSpPr>
        <p:spPr>
          <a:xfrm>
            <a:off x="1243584" y="1682496"/>
            <a:ext cx="4389120" cy="274320"/>
          </a:xfrm>
          <a:prstGeom prst="rect">
            <a:avLst/>
          </a:prstGeom>
          <a:noFill/>
        </p:spPr>
        <p:txBody>
          <a:bodyPr wrap="square" lIns="0" rIns="0" tIns="0" bIns="0" anchor="t">
            <a:spAutoFit/>
          </a:bodyPr>
          <a:lstStyle/>
          <a:p>
            <a:pPr algn="l"/>
            <a:r>
              <a:rPr sz="1500" b="1">
                <a:solidFill>
                  <a:srgbClr val="2F1D63"/>
                </a:solidFill>
                <a:latin typeface="Calibri"/>
              </a:rPr>
              <a:t>Rules without code</a:t>
            </a:r>
          </a:p>
        </p:txBody>
      </p:sp>
      <p:sp>
        <p:nvSpPr>
          <p:cNvPr id="8" name="TextBox 7"/>
          <p:cNvSpPr txBox="1"/>
          <p:nvPr/>
        </p:nvSpPr>
        <p:spPr>
          <a:xfrm>
            <a:off x="786384" y="2103120"/>
            <a:ext cx="5029200" cy="237744"/>
          </a:xfrm>
          <a:prstGeom prst="rect">
            <a:avLst/>
          </a:prstGeom>
          <a:noFill/>
        </p:spPr>
        <p:txBody>
          <a:bodyPr wrap="square" lIns="0" rIns="0" tIns="0" bIns="0" anchor="t">
            <a:spAutoFit/>
          </a:bodyPr>
          <a:lstStyle/>
          <a:p>
            <a:pPr algn="l"/>
            <a:r>
              <a:rPr sz="1150" b="0">
                <a:solidFill>
                  <a:srgbClr val="241C3A"/>
                </a:solidFill>
                <a:latin typeface="Calibri"/>
              </a:rPr>
              <a:t>Disable R4 in the spreadsheet, save, re-run:</a:t>
            </a:r>
          </a:p>
        </p:txBody>
      </p:sp>
      <p:sp>
        <p:nvSpPr>
          <p:cNvPr id="9" name="Rounded Rectangle 8"/>
          <p:cNvSpPr/>
          <p:nvPr/>
        </p:nvSpPr>
        <p:spPr>
          <a:xfrm>
            <a:off x="786384" y="2395728"/>
            <a:ext cx="5029200" cy="640080"/>
          </a:xfrm>
          <a:prstGeom prst="roundRect">
            <a:avLst>
              <a:gd name="adj" fmla="val 4000"/>
            </a:avLst>
          </a:prstGeom>
          <a:solidFill>
            <a:srgbClr val="1A1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523744"/>
            <a:ext cx="4663440" cy="219456"/>
          </a:xfrm>
          <a:prstGeom prst="rect">
            <a:avLst/>
          </a:prstGeom>
          <a:noFill/>
        </p:spPr>
        <p:txBody>
          <a:bodyPr wrap="square" lIns="0" rIns="0" tIns="0" bIns="0" anchor="t">
            <a:spAutoFit/>
          </a:bodyPr>
          <a:lstStyle/>
          <a:p>
            <a:pPr algn="l"/>
            <a:r>
              <a:rPr sz="1050" b="0">
                <a:solidFill>
                  <a:srgbClr val="9FE3BC"/>
                </a:solidFill>
                <a:latin typeface="Courier New"/>
              </a:rPr>
              <a:t>[VALIDATE] R4 is disabled in Config.xlsx - skipped</a:t>
            </a:r>
          </a:p>
        </p:txBody>
      </p:sp>
      <p:sp>
        <p:nvSpPr>
          <p:cNvPr id="11" name="TextBox 10"/>
          <p:cNvSpPr txBox="1"/>
          <p:nvPr/>
        </p:nvSpPr>
        <p:spPr>
          <a:xfrm>
            <a:off x="969264" y="2743200"/>
            <a:ext cx="4663440" cy="219456"/>
          </a:xfrm>
          <a:prstGeom prst="rect">
            <a:avLst/>
          </a:prstGeom>
          <a:noFill/>
        </p:spPr>
        <p:txBody>
          <a:bodyPr wrap="square" lIns="0" rIns="0" tIns="0" bIns="0" anchor="t">
            <a:spAutoFit/>
          </a:bodyPr>
          <a:lstStyle/>
          <a:p>
            <a:pPr algn="l"/>
            <a:r>
              <a:rPr sz="1050" b="0">
                <a:solidFill>
                  <a:srgbClr val="9FE3BC"/>
                </a:solidFill>
                <a:latin typeface="Courier New"/>
              </a:rPr>
              <a:t>[VALIDATE] total=48 pass=42 warn=1 fail=5</a:t>
            </a:r>
          </a:p>
        </p:txBody>
      </p:sp>
      <p:sp>
        <p:nvSpPr>
          <p:cNvPr id="12" name="TextBox 11"/>
          <p:cNvSpPr txBox="1"/>
          <p:nvPr/>
        </p:nvSpPr>
        <p:spPr>
          <a:xfrm>
            <a:off x="786384" y="3255264"/>
            <a:ext cx="5029200" cy="402336"/>
          </a:xfrm>
          <a:prstGeom prst="rect">
            <a:avLst/>
          </a:prstGeom>
          <a:noFill/>
        </p:spPr>
        <p:txBody>
          <a:bodyPr wrap="square" lIns="0" rIns="0" tIns="0" bIns="0" anchor="t">
            <a:spAutoFit/>
          </a:bodyPr>
          <a:lstStyle/>
          <a:p>
            <a:pPr algn="l"/>
            <a:r>
              <a:rPr sz="1100" b="0">
                <a:solidFill>
                  <a:srgbClr val="6B6480"/>
                </a:solidFill>
                <a:latin typeface="Calibri"/>
              </a:rPr>
              <a:t>Failures drop from 7 to 5. No workflow was opened and nothing was republished.</a:t>
            </a:r>
          </a:p>
        </p:txBody>
      </p:sp>
      <p:sp>
        <p:nvSpPr>
          <p:cNvPr id="13" name="Rounded Rectangle 12"/>
          <p:cNvSpPr/>
          <p:nvPr/>
        </p:nvSpPr>
        <p:spPr>
          <a:xfrm>
            <a:off x="6190488" y="1463040"/>
            <a:ext cx="5468112" cy="2286000"/>
          </a:xfrm>
          <a:prstGeom prst="roundRect">
            <a:avLst>
              <a:gd name="adj" fmla="val 4000"/>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645920"/>
            <a:ext cx="310896" cy="310896"/>
          </a:xfrm>
          <a:prstGeom prst="ellipse">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682496"/>
            <a:ext cx="310896" cy="237744"/>
          </a:xfrm>
          <a:prstGeom prst="rect">
            <a:avLst/>
          </a:prstGeom>
          <a:noFill/>
        </p:spPr>
        <p:txBody>
          <a:bodyPr wrap="square" lIns="0" rIns="0" tIns="0" bIns="0" anchor="t">
            <a:spAutoFit/>
          </a:bodyPr>
          <a:lstStyle/>
          <a:p>
            <a:pPr algn="ctr"/>
            <a:r>
              <a:rPr sz="1250" b="1">
                <a:solidFill>
                  <a:srgbClr val="FFFFFF"/>
                </a:solidFill>
                <a:latin typeface="Calibri"/>
              </a:rPr>
              <a:t>3</a:t>
            </a:r>
          </a:p>
        </p:txBody>
      </p:sp>
      <p:sp>
        <p:nvSpPr>
          <p:cNvPr id="16" name="TextBox 15"/>
          <p:cNvSpPr txBox="1"/>
          <p:nvPr/>
        </p:nvSpPr>
        <p:spPr>
          <a:xfrm>
            <a:off x="6867144" y="1682496"/>
            <a:ext cx="4389120" cy="274320"/>
          </a:xfrm>
          <a:prstGeom prst="rect">
            <a:avLst/>
          </a:prstGeom>
          <a:noFill/>
        </p:spPr>
        <p:txBody>
          <a:bodyPr wrap="square" lIns="0" rIns="0" tIns="0" bIns="0" anchor="t">
            <a:spAutoFit/>
          </a:bodyPr>
          <a:lstStyle/>
          <a:p>
            <a:pPr algn="l"/>
            <a:r>
              <a:rPr sz="1500" b="1">
                <a:solidFill>
                  <a:srgbClr val="2F1D63"/>
                </a:solidFill>
                <a:latin typeface="Calibri"/>
              </a:rPr>
              <a:t>Any blockchain</a:t>
            </a:r>
          </a:p>
        </p:txBody>
      </p:sp>
      <p:sp>
        <p:nvSpPr>
          <p:cNvPr id="17" name="TextBox 16"/>
          <p:cNvSpPr txBox="1"/>
          <p:nvPr/>
        </p:nvSpPr>
        <p:spPr>
          <a:xfrm>
            <a:off x="6409944" y="2121408"/>
            <a:ext cx="2011680" cy="219456"/>
          </a:xfrm>
          <a:prstGeom prst="rect">
            <a:avLst/>
          </a:prstGeom>
          <a:noFill/>
        </p:spPr>
        <p:txBody>
          <a:bodyPr wrap="square" lIns="0" rIns="0" tIns="0" bIns="0" anchor="t">
            <a:spAutoFit/>
          </a:bodyPr>
          <a:lstStyle/>
          <a:p>
            <a:pPr algn="l"/>
            <a:r>
              <a:rPr sz="900" b="1">
                <a:solidFill>
                  <a:srgbClr val="6B6480"/>
                </a:solidFill>
                <a:latin typeface="Calibri"/>
              </a:rPr>
              <a:t>NETWORK</a:t>
            </a:r>
          </a:p>
        </p:txBody>
      </p:sp>
      <p:sp>
        <p:nvSpPr>
          <p:cNvPr id="18" name="TextBox 17"/>
          <p:cNvSpPr txBox="1"/>
          <p:nvPr/>
        </p:nvSpPr>
        <p:spPr>
          <a:xfrm>
            <a:off x="8503920" y="2121408"/>
            <a:ext cx="2011680" cy="219456"/>
          </a:xfrm>
          <a:prstGeom prst="rect">
            <a:avLst/>
          </a:prstGeom>
          <a:noFill/>
        </p:spPr>
        <p:txBody>
          <a:bodyPr wrap="square" lIns="0" rIns="0" tIns="0" bIns="0" anchor="t">
            <a:spAutoFit/>
          </a:bodyPr>
          <a:lstStyle/>
          <a:p>
            <a:pPr algn="l"/>
            <a:r>
              <a:rPr sz="900" b="1">
                <a:solidFill>
                  <a:srgbClr val="6B6480"/>
                </a:solidFill>
                <a:latin typeface="Calibri"/>
              </a:rPr>
              <a:t>SOURCE</a:t>
            </a:r>
          </a:p>
        </p:txBody>
      </p:sp>
      <p:sp>
        <p:nvSpPr>
          <p:cNvPr id="19" name="TextBox 18"/>
          <p:cNvSpPr txBox="1"/>
          <p:nvPr/>
        </p:nvSpPr>
        <p:spPr>
          <a:xfrm>
            <a:off x="10058400" y="2121408"/>
            <a:ext cx="2011680" cy="219456"/>
          </a:xfrm>
          <a:prstGeom prst="rect">
            <a:avLst/>
          </a:prstGeom>
          <a:noFill/>
        </p:spPr>
        <p:txBody>
          <a:bodyPr wrap="square" lIns="0" rIns="0" tIns="0" bIns="0" anchor="t">
            <a:spAutoFit/>
          </a:bodyPr>
          <a:lstStyle/>
          <a:p>
            <a:pPr algn="l"/>
            <a:r>
              <a:rPr sz="900" b="1">
                <a:solidFill>
                  <a:srgbClr val="6B6480"/>
                </a:solidFill>
                <a:latin typeface="Calibri"/>
              </a:rPr>
              <a:t>RESULT</a:t>
            </a:r>
          </a:p>
        </p:txBody>
      </p:sp>
      <p:sp>
        <p:nvSpPr>
          <p:cNvPr id="20" name="TextBox 19"/>
          <p:cNvSpPr txBox="1"/>
          <p:nvPr/>
        </p:nvSpPr>
        <p:spPr>
          <a:xfrm>
            <a:off x="6409944" y="2395728"/>
            <a:ext cx="2103120" cy="237744"/>
          </a:xfrm>
          <a:prstGeom prst="rect">
            <a:avLst/>
          </a:prstGeom>
          <a:noFill/>
        </p:spPr>
        <p:txBody>
          <a:bodyPr wrap="square" lIns="0" rIns="0" tIns="0" bIns="0" anchor="t">
            <a:spAutoFit/>
          </a:bodyPr>
          <a:lstStyle/>
          <a:p>
            <a:pPr algn="l"/>
            <a:r>
              <a:rPr sz="1100" b="0">
                <a:solidFill>
                  <a:srgbClr val="241C3A"/>
                </a:solidFill>
                <a:latin typeface="Calibri"/>
              </a:rPr>
              <a:t>Ethereum</a:t>
            </a:r>
          </a:p>
        </p:txBody>
      </p:sp>
      <p:sp>
        <p:nvSpPr>
          <p:cNvPr id="21" name="TextBox 20"/>
          <p:cNvSpPr txBox="1"/>
          <p:nvPr/>
        </p:nvSpPr>
        <p:spPr>
          <a:xfrm>
            <a:off x="8503920" y="2395728"/>
            <a:ext cx="2103120" cy="237744"/>
          </a:xfrm>
          <a:prstGeom prst="rect">
            <a:avLst/>
          </a:prstGeom>
          <a:noFill/>
        </p:spPr>
        <p:txBody>
          <a:bodyPr wrap="square" lIns="0" rIns="0" tIns="0" bIns="0" anchor="t">
            <a:spAutoFit/>
          </a:bodyPr>
          <a:lstStyle/>
          <a:p>
            <a:pPr algn="l"/>
            <a:r>
              <a:rPr sz="1100" b="0">
                <a:solidFill>
                  <a:srgbClr val="241C3A"/>
                </a:solidFill>
                <a:latin typeface="Calibri"/>
              </a:rPr>
              <a:t>Etherscan V2</a:t>
            </a:r>
          </a:p>
        </p:txBody>
      </p:sp>
      <p:sp>
        <p:nvSpPr>
          <p:cNvPr id="22" name="TextBox 21"/>
          <p:cNvSpPr txBox="1"/>
          <p:nvPr/>
        </p:nvSpPr>
        <p:spPr>
          <a:xfrm>
            <a:off x="10058400" y="2395728"/>
            <a:ext cx="2103120" cy="237744"/>
          </a:xfrm>
          <a:prstGeom prst="rect">
            <a:avLst/>
          </a:prstGeom>
          <a:noFill/>
        </p:spPr>
        <p:txBody>
          <a:bodyPr wrap="square" lIns="0" rIns="0" tIns="0" bIns="0" anchor="t">
            <a:spAutoFit/>
          </a:bodyPr>
          <a:lstStyle/>
          <a:p>
            <a:pPr algn="l"/>
            <a:r>
              <a:rPr sz="1100" b="1">
                <a:solidFill>
                  <a:srgbClr val="1A7F4B"/>
                </a:solidFill>
                <a:latin typeface="Calibri"/>
              </a:rPr>
              <a:t>48 / 40 / 1 / 7</a:t>
            </a:r>
          </a:p>
        </p:txBody>
      </p:sp>
      <p:sp>
        <p:nvSpPr>
          <p:cNvPr id="23" name="TextBox 22"/>
          <p:cNvSpPr txBox="1"/>
          <p:nvPr/>
        </p:nvSpPr>
        <p:spPr>
          <a:xfrm>
            <a:off x="6409944" y="2724912"/>
            <a:ext cx="2103120" cy="237744"/>
          </a:xfrm>
          <a:prstGeom prst="rect">
            <a:avLst/>
          </a:prstGeom>
          <a:noFill/>
        </p:spPr>
        <p:txBody>
          <a:bodyPr wrap="square" lIns="0" rIns="0" tIns="0" bIns="0" anchor="t">
            <a:spAutoFit/>
          </a:bodyPr>
          <a:lstStyle/>
          <a:p>
            <a:pPr algn="l"/>
            <a:r>
              <a:rPr sz="1100" b="0">
                <a:solidFill>
                  <a:srgbClr val="241C3A"/>
                </a:solidFill>
                <a:latin typeface="Calibri"/>
              </a:rPr>
              <a:t>Polygon</a:t>
            </a:r>
          </a:p>
        </p:txBody>
      </p:sp>
      <p:sp>
        <p:nvSpPr>
          <p:cNvPr id="24" name="TextBox 23"/>
          <p:cNvSpPr txBox="1"/>
          <p:nvPr/>
        </p:nvSpPr>
        <p:spPr>
          <a:xfrm>
            <a:off x="8503920" y="2724912"/>
            <a:ext cx="2103120" cy="237744"/>
          </a:xfrm>
          <a:prstGeom prst="rect">
            <a:avLst/>
          </a:prstGeom>
          <a:noFill/>
        </p:spPr>
        <p:txBody>
          <a:bodyPr wrap="square" lIns="0" rIns="0" tIns="0" bIns="0" anchor="t">
            <a:spAutoFit/>
          </a:bodyPr>
          <a:lstStyle/>
          <a:p>
            <a:pPr algn="l"/>
            <a:r>
              <a:rPr sz="1100" b="0">
                <a:solidFill>
                  <a:srgbClr val="241C3A"/>
                </a:solidFill>
                <a:latin typeface="Calibri"/>
              </a:rPr>
              <a:t>Etherscan V2</a:t>
            </a:r>
          </a:p>
        </p:txBody>
      </p:sp>
      <p:sp>
        <p:nvSpPr>
          <p:cNvPr id="25" name="TextBox 24"/>
          <p:cNvSpPr txBox="1"/>
          <p:nvPr/>
        </p:nvSpPr>
        <p:spPr>
          <a:xfrm>
            <a:off x="10058400" y="2724912"/>
            <a:ext cx="2103120" cy="237744"/>
          </a:xfrm>
          <a:prstGeom prst="rect">
            <a:avLst/>
          </a:prstGeom>
          <a:noFill/>
        </p:spPr>
        <p:txBody>
          <a:bodyPr wrap="square" lIns="0" rIns="0" tIns="0" bIns="0" anchor="t">
            <a:spAutoFit/>
          </a:bodyPr>
          <a:lstStyle/>
          <a:p>
            <a:pPr algn="l"/>
            <a:r>
              <a:rPr sz="1100" b="1">
                <a:solidFill>
                  <a:srgbClr val="1A7F4B"/>
                </a:solidFill>
                <a:latin typeface="Calibri"/>
              </a:rPr>
              <a:t>48 / 40 / 1 / 7</a:t>
            </a:r>
          </a:p>
        </p:txBody>
      </p:sp>
      <p:sp>
        <p:nvSpPr>
          <p:cNvPr id="26" name="TextBox 25"/>
          <p:cNvSpPr txBox="1"/>
          <p:nvPr/>
        </p:nvSpPr>
        <p:spPr>
          <a:xfrm>
            <a:off x="6409944" y="3054096"/>
            <a:ext cx="2103120" cy="237744"/>
          </a:xfrm>
          <a:prstGeom prst="rect">
            <a:avLst/>
          </a:prstGeom>
          <a:noFill/>
        </p:spPr>
        <p:txBody>
          <a:bodyPr wrap="square" lIns="0" rIns="0" tIns="0" bIns="0" anchor="t">
            <a:spAutoFit/>
          </a:bodyPr>
          <a:lstStyle/>
          <a:p>
            <a:pPr algn="l"/>
            <a:r>
              <a:rPr sz="1100" b="0">
                <a:solidFill>
                  <a:srgbClr val="241C3A"/>
                </a:solidFill>
                <a:latin typeface="Calibri"/>
              </a:rPr>
              <a:t>Besu</a:t>
            </a:r>
          </a:p>
        </p:txBody>
      </p:sp>
      <p:sp>
        <p:nvSpPr>
          <p:cNvPr id="27" name="TextBox 26"/>
          <p:cNvSpPr txBox="1"/>
          <p:nvPr/>
        </p:nvSpPr>
        <p:spPr>
          <a:xfrm>
            <a:off x="8503920" y="3054096"/>
            <a:ext cx="2103120" cy="237744"/>
          </a:xfrm>
          <a:prstGeom prst="rect">
            <a:avLst/>
          </a:prstGeom>
          <a:noFill/>
        </p:spPr>
        <p:txBody>
          <a:bodyPr wrap="square" lIns="0" rIns="0" tIns="0" bIns="0" anchor="t">
            <a:spAutoFit/>
          </a:bodyPr>
          <a:lstStyle/>
          <a:p>
            <a:pPr algn="l"/>
            <a:r>
              <a:rPr sz="1100" b="0">
                <a:solidFill>
                  <a:srgbClr val="241C3A"/>
                </a:solidFill>
                <a:latin typeface="Calibri"/>
              </a:rPr>
              <a:t>ethereum-etl</a:t>
            </a:r>
          </a:p>
        </p:txBody>
      </p:sp>
      <p:sp>
        <p:nvSpPr>
          <p:cNvPr id="28" name="TextBox 27"/>
          <p:cNvSpPr txBox="1"/>
          <p:nvPr/>
        </p:nvSpPr>
        <p:spPr>
          <a:xfrm>
            <a:off x="10058400" y="3054096"/>
            <a:ext cx="2103120" cy="237744"/>
          </a:xfrm>
          <a:prstGeom prst="rect">
            <a:avLst/>
          </a:prstGeom>
          <a:noFill/>
        </p:spPr>
        <p:txBody>
          <a:bodyPr wrap="square" lIns="0" rIns="0" tIns="0" bIns="0" anchor="t">
            <a:spAutoFit/>
          </a:bodyPr>
          <a:lstStyle/>
          <a:p>
            <a:pPr algn="l"/>
            <a:r>
              <a:rPr sz="1100" b="1">
                <a:solidFill>
                  <a:srgbClr val="1A7F4B"/>
                </a:solidFill>
                <a:latin typeface="Calibri"/>
              </a:rPr>
              <a:t>48 / 40 / 1 / 7</a:t>
            </a:r>
          </a:p>
        </p:txBody>
      </p:sp>
      <p:sp>
        <p:nvSpPr>
          <p:cNvPr id="29" name="TextBox 28"/>
          <p:cNvSpPr txBox="1"/>
          <p:nvPr/>
        </p:nvSpPr>
        <p:spPr>
          <a:xfrm>
            <a:off x="6409944" y="3438144"/>
            <a:ext cx="5029200" cy="274320"/>
          </a:xfrm>
          <a:prstGeom prst="rect">
            <a:avLst/>
          </a:prstGeom>
          <a:noFill/>
        </p:spPr>
        <p:txBody>
          <a:bodyPr wrap="square" lIns="0" rIns="0" tIns="0" bIns="0" anchor="t">
            <a:spAutoFit/>
          </a:bodyPr>
          <a:lstStyle/>
          <a:p>
            <a:pPr algn="l"/>
            <a:r>
              <a:rPr sz="1100" b="0">
                <a:solidFill>
                  <a:srgbClr val="6B6480"/>
                </a:solidFill>
                <a:latin typeface="Calibri"/>
              </a:rPr>
              <a:t>Identical outcomes, with only config changed between runs.</a:t>
            </a:r>
          </a:p>
        </p:txBody>
      </p:sp>
      <p:sp>
        <p:nvSpPr>
          <p:cNvPr id="30" name="Rounded Rectangle 29"/>
          <p:cNvSpPr/>
          <p:nvPr/>
        </p:nvSpPr>
        <p:spPr>
          <a:xfrm>
            <a:off x="566928" y="3895344"/>
            <a:ext cx="11055096" cy="2322576"/>
          </a:xfrm>
          <a:prstGeom prst="roundRect">
            <a:avLst>
              <a:gd name="adj" fmla="val 3937"/>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059936"/>
            <a:ext cx="10515600" cy="274320"/>
          </a:xfrm>
          <a:prstGeom prst="rect">
            <a:avLst/>
          </a:prstGeom>
          <a:noFill/>
        </p:spPr>
        <p:txBody>
          <a:bodyPr wrap="square" lIns="0" rIns="0" tIns="0" bIns="0" anchor="t">
            <a:spAutoFit/>
          </a:bodyPr>
          <a:lstStyle/>
          <a:p>
            <a:pPr algn="l"/>
            <a:r>
              <a:rPr sz="1500" b="1">
                <a:solidFill>
                  <a:srgbClr val="2F1D63"/>
                </a:solidFill>
                <a:latin typeface="Calibri"/>
              </a:rPr>
              <a:t>Config.xlsx - the control panel</a:t>
            </a:r>
          </a:p>
        </p:txBody>
      </p:sp>
      <p:sp>
        <p:nvSpPr>
          <p:cNvPr id="32" name="TextBox 31"/>
          <p:cNvSpPr txBox="1"/>
          <p:nvPr/>
        </p:nvSpPr>
        <p:spPr>
          <a:xfrm>
            <a:off x="804672" y="4370832"/>
            <a:ext cx="10515600" cy="274320"/>
          </a:xfrm>
          <a:prstGeom prst="rect">
            <a:avLst/>
          </a:prstGeom>
          <a:noFill/>
        </p:spPr>
        <p:txBody>
          <a:bodyPr wrap="square" lIns="0" rIns="0" tIns="0" bIns="0" anchor="t">
            <a:spAutoFit/>
          </a:bodyPr>
          <a:lstStyle/>
          <a:p>
            <a:pPr algn="l"/>
            <a:r>
              <a:rPr sz="1150" b="0">
                <a:solidFill>
                  <a:srgbClr val="241C3A"/>
                </a:solidFill>
                <a:latin typeface="Calibri"/>
              </a:rPr>
              <a:t>Seven sheets and sixty settings. Everything operational lives here, so the bot adapts without a developer.</a:t>
            </a:r>
          </a:p>
        </p:txBody>
      </p:sp>
      <p:sp>
        <p:nvSpPr>
          <p:cNvPr id="33" name="TextBox 32"/>
          <p:cNvSpPr txBox="1"/>
          <p:nvPr/>
        </p:nvSpPr>
        <p:spPr>
          <a:xfrm>
            <a:off x="804672" y="4754880"/>
            <a:ext cx="1737360" cy="237744"/>
          </a:xfrm>
          <a:prstGeom prst="rect">
            <a:avLst/>
          </a:prstGeom>
          <a:noFill/>
        </p:spPr>
        <p:txBody>
          <a:bodyPr wrap="square" lIns="0" rIns="0" tIns="0" bIns="0" anchor="t">
            <a:spAutoFit/>
          </a:bodyPr>
          <a:lstStyle/>
          <a:p>
            <a:pPr algn="l"/>
            <a:r>
              <a:rPr sz="1100" b="1">
                <a:solidFill>
                  <a:srgbClr val="FF8AAF"/>
                </a:solidFill>
                <a:latin typeface="Courier New"/>
              </a:rPr>
              <a:t>Settings</a:t>
            </a:r>
          </a:p>
        </p:txBody>
      </p:sp>
      <p:sp>
        <p:nvSpPr>
          <p:cNvPr id="34" name="TextBox 33"/>
          <p:cNvSpPr txBox="1"/>
          <p:nvPr/>
        </p:nvSpPr>
        <p:spPr>
          <a:xfrm>
            <a:off x="2633472" y="4754880"/>
            <a:ext cx="3474720" cy="237744"/>
          </a:xfrm>
          <a:prstGeom prst="rect">
            <a:avLst/>
          </a:prstGeom>
          <a:noFill/>
        </p:spPr>
        <p:txBody>
          <a:bodyPr wrap="square" lIns="0" rIns="0" tIns="0" bIns="0" anchor="t">
            <a:spAutoFit/>
          </a:bodyPr>
          <a:lstStyle/>
          <a:p>
            <a:pPr algn="l"/>
            <a:r>
              <a:rPr sz="1000" b="0">
                <a:solidFill>
                  <a:srgbClr val="6B6480"/>
                </a:solidFill>
                <a:latin typeface="Calibri"/>
              </a:rPr>
              <a:t>Sources, mapping, escalation, alerts, dashboard, queue, output</a:t>
            </a:r>
          </a:p>
        </p:txBody>
      </p:sp>
      <p:sp>
        <p:nvSpPr>
          <p:cNvPr id="35" name="TextBox 34"/>
          <p:cNvSpPr txBox="1"/>
          <p:nvPr/>
        </p:nvSpPr>
        <p:spPr>
          <a:xfrm>
            <a:off x="6245352" y="4754880"/>
            <a:ext cx="1737360" cy="237744"/>
          </a:xfrm>
          <a:prstGeom prst="rect">
            <a:avLst/>
          </a:prstGeom>
          <a:noFill/>
        </p:spPr>
        <p:txBody>
          <a:bodyPr wrap="square" lIns="0" rIns="0" tIns="0" bIns="0" anchor="t">
            <a:spAutoFit/>
          </a:bodyPr>
          <a:lstStyle/>
          <a:p>
            <a:pPr algn="l"/>
            <a:r>
              <a:rPr sz="1100" b="1">
                <a:solidFill>
                  <a:srgbClr val="FF8AAF"/>
                </a:solidFill>
                <a:latin typeface="Courier New"/>
              </a:rPr>
              <a:t>ValidationRules</a:t>
            </a:r>
          </a:p>
        </p:txBody>
      </p:sp>
      <p:sp>
        <p:nvSpPr>
          <p:cNvPr id="36" name="TextBox 35"/>
          <p:cNvSpPr txBox="1"/>
          <p:nvPr/>
        </p:nvSpPr>
        <p:spPr>
          <a:xfrm>
            <a:off x="8074152" y="4754880"/>
            <a:ext cx="3474720" cy="237744"/>
          </a:xfrm>
          <a:prstGeom prst="rect">
            <a:avLst/>
          </a:prstGeom>
          <a:noFill/>
        </p:spPr>
        <p:txBody>
          <a:bodyPr wrap="square" lIns="0" rIns="0" tIns="0" bIns="0" anchor="t">
            <a:spAutoFit/>
          </a:bodyPr>
          <a:lstStyle/>
          <a:p>
            <a:pPr algn="l"/>
            <a:r>
              <a:rPr sz="1000" b="0">
                <a:solidFill>
                  <a:srgbClr val="6B6480"/>
                </a:solidFill>
                <a:latin typeface="Calibri"/>
              </a:rPr>
              <a:t>Which rules run, severity, thresholds, fail action</a:t>
            </a:r>
          </a:p>
        </p:txBody>
      </p:sp>
      <p:sp>
        <p:nvSpPr>
          <p:cNvPr id="37" name="TextBox 36"/>
          <p:cNvSpPr txBox="1"/>
          <p:nvPr/>
        </p:nvSpPr>
        <p:spPr>
          <a:xfrm>
            <a:off x="804672" y="5120640"/>
            <a:ext cx="1737360" cy="237744"/>
          </a:xfrm>
          <a:prstGeom prst="rect">
            <a:avLst/>
          </a:prstGeom>
          <a:noFill/>
        </p:spPr>
        <p:txBody>
          <a:bodyPr wrap="square" lIns="0" rIns="0" tIns="0" bIns="0" anchor="t">
            <a:spAutoFit/>
          </a:bodyPr>
          <a:lstStyle/>
          <a:p>
            <a:pPr algn="l"/>
            <a:r>
              <a:rPr sz="1100" b="1">
                <a:solidFill>
                  <a:srgbClr val="FF8AAF"/>
                </a:solidFill>
                <a:latin typeface="Courier New"/>
              </a:rPr>
              <a:t>ApprovedWallets</a:t>
            </a:r>
          </a:p>
        </p:txBody>
      </p:sp>
      <p:sp>
        <p:nvSpPr>
          <p:cNvPr id="38" name="TextBox 37"/>
          <p:cNvSpPr txBox="1"/>
          <p:nvPr/>
        </p:nvSpPr>
        <p:spPr>
          <a:xfrm>
            <a:off x="2633472" y="5120640"/>
            <a:ext cx="3474720" cy="237744"/>
          </a:xfrm>
          <a:prstGeom prst="rect">
            <a:avLst/>
          </a:prstGeom>
          <a:noFill/>
        </p:spPr>
        <p:txBody>
          <a:bodyPr wrap="square" lIns="0" rIns="0" tIns="0" bIns="0" anchor="t">
            <a:spAutoFit/>
          </a:bodyPr>
          <a:lstStyle/>
          <a:p>
            <a:pPr algn="l"/>
            <a:r>
              <a:rPr sz="1000" b="0">
                <a:solidFill>
                  <a:srgbClr val="6B6480"/>
                </a:solidFill>
                <a:latin typeface="Calibri"/>
              </a:rPr>
              <a:t>The partner whitelist R3 checks against</a:t>
            </a:r>
          </a:p>
        </p:txBody>
      </p:sp>
      <p:sp>
        <p:nvSpPr>
          <p:cNvPr id="39" name="TextBox 38"/>
          <p:cNvSpPr txBox="1"/>
          <p:nvPr/>
        </p:nvSpPr>
        <p:spPr>
          <a:xfrm>
            <a:off x="6245352" y="5120640"/>
            <a:ext cx="1737360" cy="237744"/>
          </a:xfrm>
          <a:prstGeom prst="rect">
            <a:avLst/>
          </a:prstGeom>
          <a:noFill/>
        </p:spPr>
        <p:txBody>
          <a:bodyPr wrap="square" lIns="0" rIns="0" tIns="0" bIns="0" anchor="t">
            <a:spAutoFit/>
          </a:bodyPr>
          <a:lstStyle/>
          <a:p>
            <a:pPr algn="l"/>
            <a:r>
              <a:rPr sz="1100" b="1">
                <a:solidFill>
                  <a:srgbClr val="FF8AAF"/>
                </a:solidFill>
                <a:latin typeface="Courier New"/>
              </a:rPr>
              <a:t>FieldMapping</a:t>
            </a:r>
          </a:p>
        </p:txBody>
      </p:sp>
      <p:sp>
        <p:nvSpPr>
          <p:cNvPr id="40" name="TextBox 39"/>
          <p:cNvSpPr txBox="1"/>
          <p:nvPr/>
        </p:nvSpPr>
        <p:spPr>
          <a:xfrm>
            <a:off x="8074152" y="5120640"/>
            <a:ext cx="3474720" cy="237744"/>
          </a:xfrm>
          <a:prstGeom prst="rect">
            <a:avLst/>
          </a:prstGeom>
          <a:noFill/>
        </p:spPr>
        <p:txBody>
          <a:bodyPr wrap="square" lIns="0" rIns="0" tIns="0" bIns="0" anchor="t">
            <a:spAutoFit/>
          </a:bodyPr>
          <a:lstStyle/>
          <a:p>
            <a:pPr algn="l"/>
            <a:r>
              <a:rPr sz="1000" b="0">
                <a:solidFill>
                  <a:srgbClr val="6B6480"/>
                </a:solidFill>
                <a:latin typeface="Calibri"/>
              </a:rPr>
              <a:t>Etherscan record field to canonical field, with transform</a:t>
            </a:r>
          </a:p>
        </p:txBody>
      </p:sp>
      <p:sp>
        <p:nvSpPr>
          <p:cNvPr id="41" name="TextBox 40"/>
          <p:cNvSpPr txBox="1"/>
          <p:nvPr/>
        </p:nvSpPr>
        <p:spPr>
          <a:xfrm>
            <a:off x="804672" y="5486400"/>
            <a:ext cx="1737360" cy="237744"/>
          </a:xfrm>
          <a:prstGeom prst="rect">
            <a:avLst/>
          </a:prstGeom>
          <a:noFill/>
        </p:spPr>
        <p:txBody>
          <a:bodyPr wrap="square" lIns="0" rIns="0" tIns="0" bIns="0" anchor="t">
            <a:spAutoFit/>
          </a:bodyPr>
          <a:lstStyle/>
          <a:p>
            <a:pPr algn="l"/>
            <a:r>
              <a:rPr sz="1100" b="1">
                <a:solidFill>
                  <a:srgbClr val="FF8AAF"/>
                </a:solidFill>
                <a:latin typeface="Courier New"/>
              </a:rPr>
              <a:t>FieldMapping_EvmEtl</a:t>
            </a:r>
          </a:p>
        </p:txBody>
      </p:sp>
      <p:sp>
        <p:nvSpPr>
          <p:cNvPr id="42" name="TextBox 41"/>
          <p:cNvSpPr txBox="1"/>
          <p:nvPr/>
        </p:nvSpPr>
        <p:spPr>
          <a:xfrm>
            <a:off x="2633472" y="5486400"/>
            <a:ext cx="3474720" cy="237744"/>
          </a:xfrm>
          <a:prstGeom prst="rect">
            <a:avLst/>
          </a:prstGeom>
          <a:noFill/>
        </p:spPr>
        <p:txBody>
          <a:bodyPr wrap="square" lIns="0" rIns="0" tIns="0" bIns="0" anchor="t">
            <a:spAutoFit/>
          </a:bodyPr>
          <a:lstStyle/>
          <a:p>
            <a:pPr algn="l"/>
            <a:r>
              <a:rPr sz="1000" b="0">
                <a:solidFill>
                  <a:srgbClr val="6B6480"/>
                </a:solidFill>
                <a:latin typeface="Calibri"/>
              </a:rPr>
              <a:t>The same, for an ethereum-etl ledger export</a:t>
            </a:r>
          </a:p>
        </p:txBody>
      </p:sp>
      <p:sp>
        <p:nvSpPr>
          <p:cNvPr id="43" name="TextBox 42"/>
          <p:cNvSpPr txBox="1"/>
          <p:nvPr/>
        </p:nvSpPr>
        <p:spPr>
          <a:xfrm>
            <a:off x="6245352" y="5486400"/>
            <a:ext cx="1737360" cy="237744"/>
          </a:xfrm>
          <a:prstGeom prst="rect">
            <a:avLst/>
          </a:prstGeom>
          <a:noFill/>
        </p:spPr>
        <p:txBody>
          <a:bodyPr wrap="square" lIns="0" rIns="0" tIns="0" bIns="0" anchor="t">
            <a:spAutoFit/>
          </a:bodyPr>
          <a:lstStyle/>
          <a:p>
            <a:pPr algn="l"/>
            <a:r>
              <a:rPr sz="1100" b="1">
                <a:solidFill>
                  <a:srgbClr val="FF8AAF"/>
                </a:solidFill>
                <a:latin typeface="Courier New"/>
              </a:rPr>
              <a:t>EventSequence</a:t>
            </a:r>
          </a:p>
        </p:txBody>
      </p:sp>
      <p:sp>
        <p:nvSpPr>
          <p:cNvPr id="44" name="TextBox 43"/>
          <p:cNvSpPr txBox="1"/>
          <p:nvPr/>
        </p:nvSpPr>
        <p:spPr>
          <a:xfrm>
            <a:off x="8074152" y="5486400"/>
            <a:ext cx="3474720" cy="237744"/>
          </a:xfrm>
          <a:prstGeom prst="rect">
            <a:avLst/>
          </a:prstGeom>
          <a:noFill/>
        </p:spPr>
        <p:txBody>
          <a:bodyPr wrap="square" lIns="0" rIns="0" tIns="0" bIns="0" anchor="t">
            <a:spAutoFit/>
          </a:bodyPr>
          <a:lstStyle/>
          <a:p>
            <a:pPr algn="l"/>
            <a:r>
              <a:rPr sz="1000" b="0">
                <a:solidFill>
                  <a:srgbClr val="6B6480"/>
                </a:solidFill>
                <a:latin typeface="Calibri"/>
              </a:rPr>
              <a:t>The milestone order R5 enforces, and each selector</a:t>
            </a:r>
          </a:p>
        </p:txBody>
      </p:sp>
      <p:sp>
        <p:nvSpPr>
          <p:cNvPr id="45" name="TextBox 44"/>
          <p:cNvSpPr txBox="1"/>
          <p:nvPr/>
        </p:nvSpPr>
        <p:spPr>
          <a:xfrm>
            <a:off x="804672" y="5852160"/>
            <a:ext cx="1737360" cy="237744"/>
          </a:xfrm>
          <a:prstGeom prst="rect">
            <a:avLst/>
          </a:prstGeom>
          <a:noFill/>
        </p:spPr>
        <p:txBody>
          <a:bodyPr wrap="square" lIns="0" rIns="0" tIns="0" bIns="0" anchor="t">
            <a:spAutoFit/>
          </a:bodyPr>
          <a:lstStyle/>
          <a:p>
            <a:pPr algn="l"/>
            <a:r>
              <a:rPr sz="1100" b="1">
                <a:solidFill>
                  <a:srgbClr val="FF8AAF"/>
                </a:solidFill>
                <a:latin typeface="Courier New"/>
              </a:rPr>
              <a:t>EventSignatures</a:t>
            </a:r>
          </a:p>
        </p:txBody>
      </p:sp>
      <p:sp>
        <p:nvSpPr>
          <p:cNvPr id="46" name="TextBox 45"/>
          <p:cNvSpPr txBox="1"/>
          <p:nvPr/>
        </p:nvSpPr>
        <p:spPr>
          <a:xfrm>
            <a:off x="2633472" y="5852160"/>
            <a:ext cx="3474720" cy="237744"/>
          </a:xfrm>
          <a:prstGeom prst="rect">
            <a:avLst/>
          </a:prstGeom>
          <a:noFill/>
        </p:spPr>
        <p:txBody>
          <a:bodyPr wrap="square" lIns="0" rIns="0" tIns="0" bIns="0" anchor="t">
            <a:spAutoFit/>
          </a:bodyPr>
          <a:lstStyle/>
          <a:p>
            <a:pPr algn="l"/>
            <a:r>
              <a:rPr sz="1000" b="0">
                <a:solidFill>
                  <a:srgbClr val="6B6480"/>
                </a:solidFill>
                <a:latin typeface="Calibri"/>
              </a:rPr>
              <a:t>Function signatures, selectors and event topic hashes</a:t>
            </a:r>
          </a:p>
        </p:txBody>
      </p:sp>
      <p:sp>
        <p:nvSpPr>
          <p:cNvPr id="47" name="TextBox 46"/>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CRITICAL ANOMALIES GO TO A PERSON, NOT A LOG FILE</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Novelty 2 - the bot knows when to stop</a:t>
            </a:r>
          </a:p>
        </p:txBody>
      </p:sp>
      <p:sp>
        <p:nvSpPr>
          <p:cNvPr id="4" name="Rounded Rectangle 3"/>
          <p:cNvSpPr/>
          <p:nvPr/>
        </p:nvSpPr>
        <p:spPr>
          <a:xfrm>
            <a:off x="566928" y="1463040"/>
            <a:ext cx="2615184" cy="1572768"/>
          </a:xfrm>
          <a:prstGeom prst="roundRect">
            <a:avLst>
              <a:gd name="adj" fmla="val 5813"/>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9808" y="1627632"/>
            <a:ext cx="310896" cy="310896"/>
          </a:xfrm>
          <a:prstGeom prst="ellipse">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64208"/>
            <a:ext cx="310896" cy="237744"/>
          </a:xfrm>
          <a:prstGeom prst="rect">
            <a:avLst/>
          </a:prstGeom>
          <a:noFill/>
        </p:spPr>
        <p:txBody>
          <a:bodyPr wrap="square" lIns="0" rIns="0" tIns="0" bIns="0" anchor="t">
            <a:spAutoFit/>
          </a:bodyPr>
          <a:lstStyle/>
          <a:p>
            <a:pPr algn="ctr"/>
            <a:r>
              <a:rPr sz="1250" b="1">
                <a:solidFill>
                  <a:srgbClr val="FFFFFF"/>
                </a:solidFill>
                <a:latin typeface="Calibri"/>
              </a:rPr>
              <a:t>1</a:t>
            </a:r>
          </a:p>
        </p:txBody>
      </p:sp>
      <p:sp>
        <p:nvSpPr>
          <p:cNvPr id="7" name="TextBox 6"/>
          <p:cNvSpPr txBox="1"/>
          <p:nvPr/>
        </p:nvSpPr>
        <p:spPr>
          <a:xfrm>
            <a:off x="749808" y="2048256"/>
            <a:ext cx="2286000" cy="274320"/>
          </a:xfrm>
          <a:prstGeom prst="rect">
            <a:avLst/>
          </a:prstGeom>
          <a:noFill/>
        </p:spPr>
        <p:txBody>
          <a:bodyPr wrap="square" lIns="0" rIns="0" tIns="0" bIns="0" anchor="t">
            <a:spAutoFit/>
          </a:bodyPr>
          <a:lstStyle/>
          <a:p>
            <a:pPr algn="l"/>
            <a:r>
              <a:rPr sz="1450" b="1">
                <a:solidFill>
                  <a:srgbClr val="2F1D63"/>
                </a:solidFill>
                <a:latin typeface="Calibri"/>
              </a:rPr>
              <a:t>Detect</a:t>
            </a:r>
          </a:p>
        </p:txBody>
      </p:sp>
      <p:sp>
        <p:nvSpPr>
          <p:cNvPr id="8" name="TextBox 7"/>
          <p:cNvSpPr txBox="1"/>
          <p:nvPr/>
        </p:nvSpPr>
        <p:spPr>
          <a:xfrm>
            <a:off x="749808" y="2359152"/>
            <a:ext cx="2286000" cy="585216"/>
          </a:xfrm>
          <a:prstGeom prst="rect">
            <a:avLst/>
          </a:prstGeom>
          <a:noFill/>
        </p:spPr>
        <p:txBody>
          <a:bodyPr wrap="square" lIns="0" rIns="0" tIns="0" bIns="0" anchor="t">
            <a:spAutoFit/>
          </a:bodyPr>
          <a:lstStyle/>
          <a:p>
            <a:pPr algn="l"/>
            <a:r>
              <a:rPr sz="1100" b="0">
                <a:solidFill>
                  <a:srgbClr val="241C3A"/>
                </a:solidFill>
                <a:latin typeface="Calibri"/>
              </a:rPr>
              <a:t>R3 finds a delivery signed by a wallet that is not on the approved-partner list.</a:t>
            </a:r>
          </a:p>
        </p:txBody>
      </p:sp>
      <p:sp>
        <p:nvSpPr>
          <p:cNvPr id="9" name="TextBox 8"/>
          <p:cNvSpPr txBox="1"/>
          <p:nvPr/>
        </p:nvSpPr>
        <p:spPr>
          <a:xfrm>
            <a:off x="3163824" y="2066543"/>
            <a:ext cx="219456" cy="365760"/>
          </a:xfrm>
          <a:prstGeom prst="rect">
            <a:avLst/>
          </a:prstGeom>
          <a:noFill/>
        </p:spPr>
        <p:txBody>
          <a:bodyPr wrap="square" lIns="0" rIns="0" tIns="0" bIns="0" anchor="t">
            <a:spAutoFit/>
          </a:bodyPr>
          <a:lstStyle/>
          <a:p>
            <a:pPr algn="l"/>
            <a:r>
              <a:rPr sz="2600" b="1">
                <a:solidFill>
                  <a:srgbClr val="9A81DF"/>
                </a:solidFill>
                <a:latin typeface="Calibri"/>
              </a:rPr>
              <a:t>›</a:t>
            </a:r>
          </a:p>
        </p:txBody>
      </p:sp>
      <p:sp>
        <p:nvSpPr>
          <p:cNvPr id="10" name="Rounded Rectangle 9"/>
          <p:cNvSpPr/>
          <p:nvPr/>
        </p:nvSpPr>
        <p:spPr>
          <a:xfrm>
            <a:off x="3310128" y="1463040"/>
            <a:ext cx="2615184" cy="1572768"/>
          </a:xfrm>
          <a:prstGeom prst="roundRect">
            <a:avLst>
              <a:gd name="adj" fmla="val 5813"/>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493008" y="1627632"/>
            <a:ext cx="310896" cy="310896"/>
          </a:xfrm>
          <a:prstGeom prst="ellipse">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3008" y="1664208"/>
            <a:ext cx="310896" cy="237744"/>
          </a:xfrm>
          <a:prstGeom prst="rect">
            <a:avLst/>
          </a:prstGeom>
          <a:noFill/>
        </p:spPr>
        <p:txBody>
          <a:bodyPr wrap="square" lIns="0" rIns="0" tIns="0" bIns="0" anchor="t">
            <a:spAutoFit/>
          </a:bodyPr>
          <a:lstStyle/>
          <a:p>
            <a:pPr algn="ctr"/>
            <a:r>
              <a:rPr sz="1250" b="1">
                <a:solidFill>
                  <a:srgbClr val="FFFFFF"/>
                </a:solidFill>
                <a:latin typeface="Calibri"/>
              </a:rPr>
              <a:t>2</a:t>
            </a:r>
          </a:p>
        </p:txBody>
      </p:sp>
      <p:sp>
        <p:nvSpPr>
          <p:cNvPr id="13" name="TextBox 12"/>
          <p:cNvSpPr txBox="1"/>
          <p:nvPr/>
        </p:nvSpPr>
        <p:spPr>
          <a:xfrm>
            <a:off x="3493008" y="2048256"/>
            <a:ext cx="2286000" cy="274320"/>
          </a:xfrm>
          <a:prstGeom prst="rect">
            <a:avLst/>
          </a:prstGeom>
          <a:noFill/>
        </p:spPr>
        <p:txBody>
          <a:bodyPr wrap="square" lIns="0" rIns="0" tIns="0" bIns="0" anchor="t">
            <a:spAutoFit/>
          </a:bodyPr>
          <a:lstStyle/>
          <a:p>
            <a:pPr algn="l"/>
            <a:r>
              <a:rPr sz="1450" b="1">
                <a:solidFill>
                  <a:srgbClr val="2F1D63"/>
                </a:solidFill>
                <a:latin typeface="Calibri"/>
              </a:rPr>
              <a:t>Classify</a:t>
            </a:r>
          </a:p>
        </p:txBody>
      </p:sp>
      <p:sp>
        <p:nvSpPr>
          <p:cNvPr id="14" name="TextBox 13"/>
          <p:cNvSpPr txBox="1"/>
          <p:nvPr/>
        </p:nvSpPr>
        <p:spPr>
          <a:xfrm>
            <a:off x="3493008" y="2359152"/>
            <a:ext cx="2286000" cy="585216"/>
          </a:xfrm>
          <a:prstGeom prst="rect">
            <a:avLst/>
          </a:prstGeom>
          <a:noFill/>
        </p:spPr>
        <p:txBody>
          <a:bodyPr wrap="square" lIns="0" rIns="0" tIns="0" bIns="0" anchor="t">
            <a:spAutoFit/>
          </a:bodyPr>
          <a:lstStyle/>
          <a:p>
            <a:pPr algn="l"/>
            <a:r>
              <a:rPr sz="1100" b="0">
                <a:solidFill>
                  <a:srgbClr val="241C3A"/>
                </a:solidFill>
                <a:latin typeface="Calibri"/>
              </a:rPr>
              <a:t>The rule is marked CRITICAL in Config.xlsx, with fail action ESCALATE.</a:t>
            </a:r>
          </a:p>
        </p:txBody>
      </p:sp>
      <p:sp>
        <p:nvSpPr>
          <p:cNvPr id="15" name="TextBox 14"/>
          <p:cNvSpPr txBox="1"/>
          <p:nvPr/>
        </p:nvSpPr>
        <p:spPr>
          <a:xfrm>
            <a:off x="5907024" y="2066543"/>
            <a:ext cx="219456" cy="365760"/>
          </a:xfrm>
          <a:prstGeom prst="rect">
            <a:avLst/>
          </a:prstGeom>
          <a:noFill/>
        </p:spPr>
        <p:txBody>
          <a:bodyPr wrap="square" lIns="0" rIns="0" tIns="0" bIns="0" anchor="t">
            <a:spAutoFit/>
          </a:bodyPr>
          <a:lstStyle/>
          <a:p>
            <a:pPr algn="l"/>
            <a:r>
              <a:rPr sz="2600" b="1">
                <a:solidFill>
                  <a:srgbClr val="9A81DF"/>
                </a:solidFill>
                <a:latin typeface="Calibri"/>
              </a:rPr>
              <a:t>›</a:t>
            </a:r>
          </a:p>
        </p:txBody>
      </p:sp>
      <p:sp>
        <p:nvSpPr>
          <p:cNvPr id="16" name="Rounded Rectangle 15"/>
          <p:cNvSpPr/>
          <p:nvPr/>
        </p:nvSpPr>
        <p:spPr>
          <a:xfrm>
            <a:off x="6053328" y="1463040"/>
            <a:ext cx="2615184" cy="1572768"/>
          </a:xfrm>
          <a:prstGeom prst="roundRect">
            <a:avLst>
              <a:gd name="adj" fmla="val 5813"/>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36208" y="1627632"/>
            <a:ext cx="310896" cy="310896"/>
          </a:xfrm>
          <a:prstGeom prst="ellipse">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6208" y="1664208"/>
            <a:ext cx="310896" cy="237744"/>
          </a:xfrm>
          <a:prstGeom prst="rect">
            <a:avLst/>
          </a:prstGeom>
          <a:noFill/>
        </p:spPr>
        <p:txBody>
          <a:bodyPr wrap="square" lIns="0" rIns="0" tIns="0" bIns="0" anchor="t">
            <a:spAutoFit/>
          </a:bodyPr>
          <a:lstStyle/>
          <a:p>
            <a:pPr algn="ctr"/>
            <a:r>
              <a:rPr sz="1250" b="1">
                <a:solidFill>
                  <a:srgbClr val="FFFFFF"/>
                </a:solidFill>
                <a:latin typeface="Calibri"/>
              </a:rPr>
              <a:t>3</a:t>
            </a:r>
          </a:p>
        </p:txBody>
      </p:sp>
      <p:sp>
        <p:nvSpPr>
          <p:cNvPr id="19" name="TextBox 18"/>
          <p:cNvSpPr txBox="1"/>
          <p:nvPr/>
        </p:nvSpPr>
        <p:spPr>
          <a:xfrm>
            <a:off x="6236208" y="2048256"/>
            <a:ext cx="2286000" cy="274320"/>
          </a:xfrm>
          <a:prstGeom prst="rect">
            <a:avLst/>
          </a:prstGeom>
          <a:noFill/>
        </p:spPr>
        <p:txBody>
          <a:bodyPr wrap="square" lIns="0" rIns="0" tIns="0" bIns="0" anchor="t">
            <a:spAutoFit/>
          </a:bodyPr>
          <a:lstStyle/>
          <a:p>
            <a:pPr algn="l"/>
            <a:r>
              <a:rPr sz="1450" b="1">
                <a:solidFill>
                  <a:srgbClr val="2F1D63"/>
                </a:solidFill>
                <a:latin typeface="Calibri"/>
              </a:rPr>
              <a:t>Pause</a:t>
            </a:r>
          </a:p>
        </p:txBody>
      </p:sp>
      <p:sp>
        <p:nvSpPr>
          <p:cNvPr id="20" name="TextBox 19"/>
          <p:cNvSpPr txBox="1"/>
          <p:nvPr/>
        </p:nvSpPr>
        <p:spPr>
          <a:xfrm>
            <a:off x="6236208" y="2359152"/>
            <a:ext cx="2286000" cy="585216"/>
          </a:xfrm>
          <a:prstGeom prst="rect">
            <a:avLst/>
          </a:prstGeom>
          <a:noFill/>
        </p:spPr>
        <p:txBody>
          <a:bodyPr wrap="square" lIns="0" rIns="0" tIns="0" bIns="0" anchor="t">
            <a:spAutoFit/>
          </a:bodyPr>
          <a:lstStyle/>
          <a:p>
            <a:pPr algn="l"/>
            <a:r>
              <a:rPr sz="1100" b="0">
                <a:solidFill>
                  <a:srgbClr val="241C3A"/>
                </a:solidFill>
                <a:latin typeface="Calibri"/>
              </a:rPr>
              <a:t>The review form shows the shipment, the wallet, the hash and the finding.</a:t>
            </a:r>
          </a:p>
        </p:txBody>
      </p:sp>
      <p:sp>
        <p:nvSpPr>
          <p:cNvPr id="21" name="TextBox 20"/>
          <p:cNvSpPr txBox="1"/>
          <p:nvPr/>
        </p:nvSpPr>
        <p:spPr>
          <a:xfrm>
            <a:off x="8650224" y="2066543"/>
            <a:ext cx="219456" cy="365760"/>
          </a:xfrm>
          <a:prstGeom prst="rect">
            <a:avLst/>
          </a:prstGeom>
          <a:noFill/>
        </p:spPr>
        <p:txBody>
          <a:bodyPr wrap="square" lIns="0" rIns="0" tIns="0" bIns="0" anchor="t">
            <a:spAutoFit/>
          </a:bodyPr>
          <a:lstStyle/>
          <a:p>
            <a:pPr algn="l"/>
            <a:r>
              <a:rPr sz="2600" b="1">
                <a:solidFill>
                  <a:srgbClr val="9A81DF"/>
                </a:solidFill>
                <a:latin typeface="Calibri"/>
              </a:rPr>
              <a:t>›</a:t>
            </a:r>
          </a:p>
        </p:txBody>
      </p:sp>
      <p:sp>
        <p:nvSpPr>
          <p:cNvPr id="22" name="Rounded Rectangle 21"/>
          <p:cNvSpPr/>
          <p:nvPr/>
        </p:nvSpPr>
        <p:spPr>
          <a:xfrm>
            <a:off x="8796528" y="1463040"/>
            <a:ext cx="2615184" cy="1572768"/>
          </a:xfrm>
          <a:prstGeom prst="roundRect">
            <a:avLst>
              <a:gd name="adj" fmla="val 5813"/>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979407" y="1627632"/>
            <a:ext cx="310896" cy="310896"/>
          </a:xfrm>
          <a:prstGeom prst="ellipse">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79407" y="1664208"/>
            <a:ext cx="310896" cy="237744"/>
          </a:xfrm>
          <a:prstGeom prst="rect">
            <a:avLst/>
          </a:prstGeom>
          <a:noFill/>
        </p:spPr>
        <p:txBody>
          <a:bodyPr wrap="square" lIns="0" rIns="0" tIns="0" bIns="0" anchor="t">
            <a:spAutoFit/>
          </a:bodyPr>
          <a:lstStyle/>
          <a:p>
            <a:pPr algn="ctr"/>
            <a:r>
              <a:rPr sz="1250" b="1">
                <a:solidFill>
                  <a:srgbClr val="FFFFFF"/>
                </a:solidFill>
                <a:latin typeface="Calibri"/>
              </a:rPr>
              <a:t>4</a:t>
            </a:r>
          </a:p>
        </p:txBody>
      </p:sp>
      <p:sp>
        <p:nvSpPr>
          <p:cNvPr id="25" name="TextBox 24"/>
          <p:cNvSpPr txBox="1"/>
          <p:nvPr/>
        </p:nvSpPr>
        <p:spPr>
          <a:xfrm>
            <a:off x="8979407" y="2048256"/>
            <a:ext cx="2286000" cy="274320"/>
          </a:xfrm>
          <a:prstGeom prst="rect">
            <a:avLst/>
          </a:prstGeom>
          <a:noFill/>
        </p:spPr>
        <p:txBody>
          <a:bodyPr wrap="square" lIns="0" rIns="0" tIns="0" bIns="0" anchor="t">
            <a:spAutoFit/>
          </a:bodyPr>
          <a:lstStyle/>
          <a:p>
            <a:pPr algn="l"/>
            <a:r>
              <a:rPr sz="1450" b="1">
                <a:solidFill>
                  <a:srgbClr val="2F1D63"/>
                </a:solidFill>
                <a:latin typeface="Calibri"/>
              </a:rPr>
              <a:t>Record</a:t>
            </a:r>
          </a:p>
        </p:txBody>
      </p:sp>
      <p:sp>
        <p:nvSpPr>
          <p:cNvPr id="26" name="TextBox 25"/>
          <p:cNvSpPr txBox="1"/>
          <p:nvPr/>
        </p:nvSpPr>
        <p:spPr>
          <a:xfrm>
            <a:off x="8979407" y="2359152"/>
            <a:ext cx="2286000" cy="585216"/>
          </a:xfrm>
          <a:prstGeom prst="rect">
            <a:avLst/>
          </a:prstGeom>
          <a:noFill/>
        </p:spPr>
        <p:txBody>
          <a:bodyPr wrap="square" lIns="0" rIns="0" tIns="0" bIns="0" anchor="t">
            <a:spAutoFit/>
          </a:bodyPr>
          <a:lstStyle/>
          <a:p>
            <a:pPr algn="l"/>
            <a:r>
              <a:rPr sz="1100" b="0">
                <a:solidFill>
                  <a:srgbClr val="241C3A"/>
                </a:solidFill>
                <a:latin typeface="Calibri"/>
              </a:rPr>
              <a:t>The decision, the reviewer's name and their note go into the results.</a:t>
            </a:r>
          </a:p>
        </p:txBody>
      </p:sp>
      <p:sp>
        <p:nvSpPr>
          <p:cNvPr id="27" name="Rounded Rectangle 26"/>
          <p:cNvSpPr/>
          <p:nvPr/>
        </p:nvSpPr>
        <p:spPr>
          <a:xfrm>
            <a:off x="566928" y="3182112"/>
            <a:ext cx="5486400" cy="1737360"/>
          </a:xfrm>
          <a:prstGeom prst="roundRect">
            <a:avLst>
              <a:gd name="adj" fmla="val 3000"/>
            </a:avLst>
          </a:prstGeom>
          <a:solidFill>
            <a:srgbClr val="E4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346704"/>
            <a:ext cx="5029200" cy="292608"/>
          </a:xfrm>
          <a:prstGeom prst="rect">
            <a:avLst/>
          </a:prstGeom>
          <a:noFill/>
        </p:spPr>
        <p:txBody>
          <a:bodyPr wrap="square" lIns="0" rIns="0" tIns="0" bIns="0" anchor="t">
            <a:spAutoFit/>
          </a:bodyPr>
          <a:lstStyle/>
          <a:p>
            <a:pPr algn="l"/>
            <a:r>
              <a:rPr sz="1400" b="1">
                <a:solidFill>
                  <a:srgbClr val="1A7F4B"/>
                </a:solidFill>
                <a:latin typeface="Calibri"/>
              </a:rPr>
              <a:t>Why this matters</a:t>
            </a:r>
          </a:p>
        </p:txBody>
      </p:sp>
      <p:sp>
        <p:nvSpPr>
          <p:cNvPr id="29" name="TextBox 28"/>
          <p:cNvSpPr txBox="1"/>
          <p:nvPr/>
        </p:nvSpPr>
        <p:spPr>
          <a:xfrm>
            <a:off x="804672" y="3694176"/>
            <a:ext cx="5029200" cy="1097280"/>
          </a:xfrm>
          <a:prstGeom prst="rect">
            <a:avLst/>
          </a:prstGeom>
          <a:noFill/>
        </p:spPr>
        <p:txBody>
          <a:bodyPr wrap="square" lIns="0" rIns="0" tIns="0" bIns="0" anchor="t">
            <a:spAutoFit/>
          </a:bodyPr>
          <a:lstStyle/>
          <a:p>
            <a:pPr algn="l"/>
            <a:r>
              <a:rPr sz="1200" b="0">
                <a:solidFill>
                  <a:srgbClr val="15663C"/>
                </a:solidFill>
                <a:latin typeface="Calibri"/>
              </a:rPr>
              <a:t>The reviewer's decision is hashed into the audit chain alongside the machine's verdict. A human judgement becomes evidence, with the same tamper-evidence as everything the bot concluded on its own - not a note in a side system.</a:t>
            </a:r>
          </a:p>
        </p:txBody>
      </p:sp>
      <p:sp>
        <p:nvSpPr>
          <p:cNvPr id="30" name="Rounded Rectangle 29"/>
          <p:cNvSpPr/>
          <p:nvPr/>
        </p:nvSpPr>
        <p:spPr>
          <a:xfrm>
            <a:off x="6190488" y="3182112"/>
            <a:ext cx="5468112" cy="1737360"/>
          </a:xfrm>
          <a:prstGeom prst="roundRect">
            <a:avLst>
              <a:gd name="adj" fmla="val 3000"/>
            </a:avLst>
          </a:prstGeom>
          <a:solidFill>
            <a:srgbClr val="FDF2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3346704"/>
            <a:ext cx="5029200" cy="292608"/>
          </a:xfrm>
          <a:prstGeom prst="rect">
            <a:avLst/>
          </a:prstGeom>
          <a:noFill/>
        </p:spPr>
        <p:txBody>
          <a:bodyPr wrap="square" lIns="0" rIns="0" tIns="0" bIns="0" anchor="t">
            <a:spAutoFit/>
          </a:bodyPr>
          <a:lstStyle/>
          <a:p>
            <a:pPr algn="l"/>
            <a:r>
              <a:rPr sz="1400" b="1">
                <a:solidFill>
                  <a:srgbClr val="8A6100"/>
                </a:solidFill>
                <a:latin typeface="Calibri"/>
              </a:rPr>
              <a:t>Safe when nobody is watching</a:t>
            </a:r>
          </a:p>
        </p:txBody>
      </p:sp>
      <p:sp>
        <p:nvSpPr>
          <p:cNvPr id="32" name="TextBox 31"/>
          <p:cNvSpPr txBox="1"/>
          <p:nvPr/>
        </p:nvSpPr>
        <p:spPr>
          <a:xfrm>
            <a:off x="6409944" y="3694176"/>
            <a:ext cx="5029200" cy="1097280"/>
          </a:xfrm>
          <a:prstGeom prst="rect">
            <a:avLst/>
          </a:prstGeom>
          <a:noFill/>
        </p:spPr>
        <p:txBody>
          <a:bodyPr wrap="square" lIns="0" rIns="0" tIns="0" bIns="0" anchor="t">
            <a:spAutoFit/>
          </a:bodyPr>
          <a:lstStyle/>
          <a:p>
            <a:pPr algn="l"/>
            <a:r>
              <a:rPr sz="1200" b="0">
                <a:solidFill>
                  <a:srgbClr val="6B4B00"/>
                </a:solidFill>
                <a:latin typeface="Calibri"/>
              </a:rPr>
              <a:t>An unattended robot has no one to answer a dialog. The bot detects that and downgrades PROMPT to AUTO_LOG, recording the anomaly as DEFERRED and continuing, so a scheduled job can never hang on a prompt nobody will see.</a:t>
            </a:r>
          </a:p>
        </p:txBody>
      </p:sp>
      <p:sp>
        <p:nvSpPr>
          <p:cNvPr id="33" name="Rounded Rectangle 32"/>
          <p:cNvSpPr/>
          <p:nvPr/>
        </p:nvSpPr>
        <p:spPr>
          <a:xfrm>
            <a:off x="566928" y="5065776"/>
            <a:ext cx="11055096" cy="1152144"/>
          </a:xfrm>
          <a:prstGeom prst="roundRect">
            <a:avLst>
              <a:gd name="adj" fmla="val 7936"/>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5230368"/>
            <a:ext cx="10515600" cy="274320"/>
          </a:xfrm>
          <a:prstGeom prst="rect">
            <a:avLst/>
          </a:prstGeom>
          <a:noFill/>
        </p:spPr>
        <p:txBody>
          <a:bodyPr wrap="square" lIns="0" rIns="0" tIns="0" bIns="0" anchor="t">
            <a:spAutoFit/>
          </a:bodyPr>
          <a:lstStyle/>
          <a:p>
            <a:pPr algn="l"/>
            <a:r>
              <a:rPr sz="1350" b="1">
                <a:solidFill>
                  <a:srgbClr val="2F1D63"/>
                </a:solidFill>
                <a:latin typeface="Calibri"/>
              </a:rPr>
              <a:t>Four escalation modes, one config cell</a:t>
            </a:r>
          </a:p>
        </p:txBody>
      </p:sp>
      <p:sp>
        <p:nvSpPr>
          <p:cNvPr id="35" name="TextBox 34"/>
          <p:cNvSpPr txBox="1"/>
          <p:nvPr/>
        </p:nvSpPr>
        <p:spPr>
          <a:xfrm>
            <a:off x="804672" y="5559552"/>
            <a:ext cx="1188720" cy="237744"/>
          </a:xfrm>
          <a:prstGeom prst="rect">
            <a:avLst/>
          </a:prstGeom>
          <a:noFill/>
        </p:spPr>
        <p:txBody>
          <a:bodyPr wrap="square" lIns="0" rIns="0" tIns="0" bIns="0" anchor="t">
            <a:spAutoFit/>
          </a:bodyPr>
          <a:lstStyle/>
          <a:p>
            <a:pPr algn="l"/>
            <a:r>
              <a:rPr sz="1050" b="1">
                <a:solidFill>
                  <a:srgbClr val="FF8AAF"/>
                </a:solidFill>
                <a:latin typeface="Courier New"/>
              </a:rPr>
              <a:t>PROMPT</a:t>
            </a:r>
          </a:p>
        </p:txBody>
      </p:sp>
      <p:sp>
        <p:nvSpPr>
          <p:cNvPr id="36" name="TextBox 35"/>
          <p:cNvSpPr txBox="1"/>
          <p:nvPr/>
        </p:nvSpPr>
        <p:spPr>
          <a:xfrm>
            <a:off x="804672" y="5815584"/>
            <a:ext cx="2468880" cy="365760"/>
          </a:xfrm>
          <a:prstGeom prst="rect">
            <a:avLst/>
          </a:prstGeom>
          <a:noFill/>
        </p:spPr>
        <p:txBody>
          <a:bodyPr wrap="square" lIns="0" rIns="0" tIns="0" bIns="0" anchor="t">
            <a:spAutoFit/>
          </a:bodyPr>
          <a:lstStyle/>
          <a:p>
            <a:pPr algn="l"/>
            <a:r>
              <a:rPr sz="1000" b="0">
                <a:solidFill>
                  <a:srgbClr val="6B6480"/>
                </a:solidFill>
                <a:latin typeface="Calibri"/>
              </a:rPr>
              <a:t>Shows the review form. Attended only.</a:t>
            </a:r>
          </a:p>
        </p:txBody>
      </p:sp>
      <p:sp>
        <p:nvSpPr>
          <p:cNvPr id="37" name="TextBox 36"/>
          <p:cNvSpPr txBox="1"/>
          <p:nvPr/>
        </p:nvSpPr>
        <p:spPr>
          <a:xfrm>
            <a:off x="3502152" y="5559552"/>
            <a:ext cx="1188720" cy="237744"/>
          </a:xfrm>
          <a:prstGeom prst="rect">
            <a:avLst/>
          </a:prstGeom>
          <a:noFill/>
        </p:spPr>
        <p:txBody>
          <a:bodyPr wrap="square" lIns="0" rIns="0" tIns="0" bIns="0" anchor="t">
            <a:spAutoFit/>
          </a:bodyPr>
          <a:lstStyle/>
          <a:p>
            <a:pPr algn="l"/>
            <a:r>
              <a:rPr sz="1050" b="1">
                <a:solidFill>
                  <a:srgbClr val="FF8AAF"/>
                </a:solidFill>
                <a:latin typeface="Courier New"/>
              </a:rPr>
              <a:t>SIMULATE</a:t>
            </a:r>
          </a:p>
        </p:txBody>
      </p:sp>
      <p:sp>
        <p:nvSpPr>
          <p:cNvPr id="38" name="TextBox 37"/>
          <p:cNvSpPr txBox="1"/>
          <p:nvPr/>
        </p:nvSpPr>
        <p:spPr>
          <a:xfrm>
            <a:off x="3502152" y="5815584"/>
            <a:ext cx="2468880" cy="365760"/>
          </a:xfrm>
          <a:prstGeom prst="rect">
            <a:avLst/>
          </a:prstGeom>
          <a:noFill/>
        </p:spPr>
        <p:txBody>
          <a:bodyPr wrap="square" lIns="0" rIns="0" tIns="0" bIns="0" anchor="t">
            <a:spAutoFit/>
          </a:bodyPr>
          <a:lstStyle/>
          <a:p>
            <a:pPr algn="l"/>
            <a:r>
              <a:rPr sz="1000" b="0">
                <a:solidFill>
                  <a:srgbClr val="6B6480"/>
                </a:solidFill>
                <a:latin typeface="Calibri"/>
              </a:rPr>
              <a:t>Applies a preset decision, for tests and demos.</a:t>
            </a:r>
          </a:p>
        </p:txBody>
      </p:sp>
      <p:sp>
        <p:nvSpPr>
          <p:cNvPr id="39" name="TextBox 38"/>
          <p:cNvSpPr txBox="1"/>
          <p:nvPr/>
        </p:nvSpPr>
        <p:spPr>
          <a:xfrm>
            <a:off x="6199632" y="5559552"/>
            <a:ext cx="1188720" cy="237744"/>
          </a:xfrm>
          <a:prstGeom prst="rect">
            <a:avLst/>
          </a:prstGeom>
          <a:noFill/>
        </p:spPr>
        <p:txBody>
          <a:bodyPr wrap="square" lIns="0" rIns="0" tIns="0" bIns="0" anchor="t">
            <a:spAutoFit/>
          </a:bodyPr>
          <a:lstStyle/>
          <a:p>
            <a:pPr algn="l"/>
            <a:r>
              <a:rPr sz="1050" b="1">
                <a:solidFill>
                  <a:srgbClr val="FF8AAF"/>
                </a:solidFill>
                <a:latin typeface="Courier New"/>
              </a:rPr>
              <a:t>AUTO_LOG</a:t>
            </a:r>
          </a:p>
        </p:txBody>
      </p:sp>
      <p:sp>
        <p:nvSpPr>
          <p:cNvPr id="40" name="TextBox 39"/>
          <p:cNvSpPr txBox="1"/>
          <p:nvPr/>
        </p:nvSpPr>
        <p:spPr>
          <a:xfrm>
            <a:off x="6199632" y="5815584"/>
            <a:ext cx="2468880" cy="365760"/>
          </a:xfrm>
          <a:prstGeom prst="rect">
            <a:avLst/>
          </a:prstGeom>
          <a:noFill/>
        </p:spPr>
        <p:txBody>
          <a:bodyPr wrap="square" lIns="0" rIns="0" tIns="0" bIns="0" anchor="t">
            <a:spAutoFit/>
          </a:bodyPr>
          <a:lstStyle/>
          <a:p>
            <a:pPr algn="l"/>
            <a:r>
              <a:rPr sz="1000" b="0">
                <a:solidFill>
                  <a:srgbClr val="6B6480"/>
                </a:solidFill>
                <a:latin typeface="Calibri"/>
              </a:rPr>
              <a:t>Defers and records, for unattended runs.</a:t>
            </a:r>
          </a:p>
        </p:txBody>
      </p:sp>
      <p:sp>
        <p:nvSpPr>
          <p:cNvPr id="41" name="TextBox 40"/>
          <p:cNvSpPr txBox="1"/>
          <p:nvPr/>
        </p:nvSpPr>
        <p:spPr>
          <a:xfrm>
            <a:off x="8897112" y="5559552"/>
            <a:ext cx="1188720" cy="237744"/>
          </a:xfrm>
          <a:prstGeom prst="rect">
            <a:avLst/>
          </a:prstGeom>
          <a:noFill/>
        </p:spPr>
        <p:txBody>
          <a:bodyPr wrap="square" lIns="0" rIns="0" tIns="0" bIns="0" anchor="t">
            <a:spAutoFit/>
          </a:bodyPr>
          <a:lstStyle/>
          <a:p>
            <a:pPr algn="l"/>
            <a:r>
              <a:rPr sz="1050" b="1">
                <a:solidFill>
                  <a:srgbClr val="FF8AAF"/>
                </a:solidFill>
                <a:latin typeface="Courier New"/>
              </a:rPr>
              <a:t>ReviewUi</a:t>
            </a:r>
          </a:p>
        </p:txBody>
      </p:sp>
      <p:sp>
        <p:nvSpPr>
          <p:cNvPr id="42" name="TextBox 41"/>
          <p:cNvSpPr txBox="1"/>
          <p:nvPr/>
        </p:nvSpPr>
        <p:spPr>
          <a:xfrm>
            <a:off x="8897112" y="5815584"/>
            <a:ext cx="2468880" cy="365760"/>
          </a:xfrm>
          <a:prstGeom prst="rect">
            <a:avLst/>
          </a:prstGeom>
          <a:noFill/>
        </p:spPr>
        <p:txBody>
          <a:bodyPr wrap="square" lIns="0" rIns="0" tIns="0" bIns="0" anchor="t">
            <a:spAutoFit/>
          </a:bodyPr>
          <a:lstStyle/>
          <a:p>
            <a:pPr algn="l"/>
            <a:r>
              <a:rPr sz="1000" b="0">
                <a:solidFill>
                  <a:srgbClr val="6B6480"/>
                </a:solidFill>
                <a:latin typeface="Calibri"/>
              </a:rPr>
              <a:t>FORM or DIALOG, if no form runtime is present.</a:t>
            </a:r>
          </a:p>
        </p:txBody>
      </p:sp>
      <p:sp>
        <p:nvSpPr>
          <p:cNvPr id="43" name="TextBox 42"/>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0625"/>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FF8AAF"/>
                </a:solidFill>
                <a:latin typeface="Calibri"/>
              </a:rPr>
              <a:t>THE STRONGEST CLAIM IN THE PROJECT</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FFFFFF"/>
                </a:solidFill>
                <a:latin typeface="Calibri"/>
              </a:rPr>
              <a:t>Novelty 4 - an audit trail that proves itself</a:t>
            </a:r>
          </a:p>
        </p:txBody>
      </p:sp>
      <p:sp>
        <p:nvSpPr>
          <p:cNvPr id="4" name="TextBox 3"/>
          <p:cNvSpPr txBox="1"/>
          <p:nvPr/>
        </p:nvSpPr>
        <p:spPr>
          <a:xfrm>
            <a:off x="566928" y="1316736"/>
            <a:ext cx="11055096" cy="548640"/>
          </a:xfrm>
          <a:prstGeom prst="rect">
            <a:avLst/>
          </a:prstGeom>
          <a:noFill/>
        </p:spPr>
        <p:txBody>
          <a:bodyPr wrap="square" lIns="0" rIns="0" tIns="0" bIns="0" anchor="t">
            <a:spAutoFit/>
          </a:bodyPr>
          <a:lstStyle/>
          <a:p>
            <a:pPr algn="l"/>
            <a:r>
              <a:rPr sz="1400" b="0">
                <a:solidFill>
                  <a:srgbClr val="CFC7E4"/>
                </a:solidFill>
                <a:latin typeface="Calibri"/>
              </a:rPr>
              <a:t>Every entry carries the hash of the entry before it - the same idea as the blockchain we are auditing, applied to the audit itself.</a:t>
            </a:r>
          </a:p>
        </p:txBody>
      </p:sp>
      <p:sp>
        <p:nvSpPr>
          <p:cNvPr id="5" name="Rounded Rectangle 4"/>
          <p:cNvSpPr/>
          <p:nvPr/>
        </p:nvSpPr>
        <p:spPr>
          <a:xfrm>
            <a:off x="566928" y="1956816"/>
            <a:ext cx="3291840" cy="841248"/>
          </a:xfrm>
          <a:prstGeom prst="roundRect">
            <a:avLst>
              <a:gd name="adj" fmla="val 10869"/>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103120"/>
            <a:ext cx="2834640" cy="274320"/>
          </a:xfrm>
          <a:prstGeom prst="rect">
            <a:avLst/>
          </a:prstGeom>
          <a:noFill/>
        </p:spPr>
        <p:txBody>
          <a:bodyPr wrap="square" lIns="0" rIns="0" tIns="0" bIns="0" anchor="t">
            <a:spAutoFit/>
          </a:bodyPr>
          <a:lstStyle/>
          <a:p>
            <a:pPr algn="l"/>
            <a:r>
              <a:rPr sz="1250" b="1">
                <a:solidFill>
                  <a:srgbClr val="FF8AAF"/>
                </a:solidFill>
                <a:latin typeface="Courier New"/>
              </a:rPr>
              <a:t>RecordHash</a:t>
            </a:r>
          </a:p>
        </p:txBody>
      </p:sp>
      <p:sp>
        <p:nvSpPr>
          <p:cNvPr id="7" name="TextBox 6"/>
          <p:cNvSpPr txBox="1"/>
          <p:nvPr/>
        </p:nvSpPr>
        <p:spPr>
          <a:xfrm>
            <a:off x="786384" y="2395728"/>
            <a:ext cx="2834640" cy="274320"/>
          </a:xfrm>
          <a:prstGeom prst="rect">
            <a:avLst/>
          </a:prstGeom>
          <a:noFill/>
        </p:spPr>
        <p:txBody>
          <a:bodyPr wrap="square" lIns="0" rIns="0" tIns="0" bIns="0" anchor="t">
            <a:spAutoFit/>
          </a:bodyPr>
          <a:lstStyle/>
          <a:p>
            <a:pPr algn="l"/>
            <a:r>
              <a:rPr sz="1100" b="0">
                <a:solidFill>
                  <a:srgbClr val="CFC7E4"/>
                </a:solidFill>
                <a:latin typeface="Calibri"/>
              </a:rPr>
              <a:t>fixes the verdict</a:t>
            </a:r>
          </a:p>
        </p:txBody>
      </p:sp>
      <p:sp>
        <p:nvSpPr>
          <p:cNvPr id="8" name="TextBox 7"/>
          <p:cNvSpPr txBox="1"/>
          <p:nvPr/>
        </p:nvSpPr>
        <p:spPr>
          <a:xfrm>
            <a:off x="3968496" y="2194560"/>
            <a:ext cx="274320" cy="365760"/>
          </a:xfrm>
          <a:prstGeom prst="rect">
            <a:avLst/>
          </a:prstGeom>
          <a:noFill/>
        </p:spPr>
        <p:txBody>
          <a:bodyPr wrap="square" lIns="0" rIns="0" tIns="0" bIns="0" anchor="t">
            <a:spAutoFit/>
          </a:bodyPr>
          <a:lstStyle/>
          <a:p>
            <a:pPr algn="l"/>
            <a:r>
              <a:rPr sz="2400" b="1">
                <a:solidFill>
                  <a:srgbClr val="9A81DF"/>
                </a:solidFill>
                <a:latin typeface="Calibri"/>
              </a:rPr>
              <a:t>→</a:t>
            </a:r>
          </a:p>
        </p:txBody>
      </p:sp>
      <p:sp>
        <p:nvSpPr>
          <p:cNvPr id="9" name="Rounded Rectangle 8"/>
          <p:cNvSpPr/>
          <p:nvPr/>
        </p:nvSpPr>
        <p:spPr>
          <a:xfrm>
            <a:off x="4389120" y="1956816"/>
            <a:ext cx="3291840" cy="841248"/>
          </a:xfrm>
          <a:prstGeom prst="roundRect">
            <a:avLst>
              <a:gd name="adj" fmla="val 10869"/>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2103120"/>
            <a:ext cx="2834640" cy="274320"/>
          </a:xfrm>
          <a:prstGeom prst="rect">
            <a:avLst/>
          </a:prstGeom>
          <a:noFill/>
        </p:spPr>
        <p:txBody>
          <a:bodyPr wrap="square" lIns="0" rIns="0" tIns="0" bIns="0" anchor="t">
            <a:spAutoFit/>
          </a:bodyPr>
          <a:lstStyle/>
          <a:p>
            <a:pPr algn="l"/>
            <a:r>
              <a:rPr sz="1250" b="1">
                <a:solidFill>
                  <a:srgbClr val="FF8AAF"/>
                </a:solidFill>
                <a:latin typeface="Courier New"/>
              </a:rPr>
              <a:t>PrevHash</a:t>
            </a:r>
          </a:p>
        </p:txBody>
      </p:sp>
      <p:sp>
        <p:nvSpPr>
          <p:cNvPr id="11" name="TextBox 10"/>
          <p:cNvSpPr txBox="1"/>
          <p:nvPr/>
        </p:nvSpPr>
        <p:spPr>
          <a:xfrm>
            <a:off x="4608576" y="2395728"/>
            <a:ext cx="2834640" cy="274320"/>
          </a:xfrm>
          <a:prstGeom prst="rect">
            <a:avLst/>
          </a:prstGeom>
          <a:noFill/>
        </p:spPr>
        <p:txBody>
          <a:bodyPr wrap="square" lIns="0" rIns="0" tIns="0" bIns="0" anchor="t">
            <a:spAutoFit/>
          </a:bodyPr>
          <a:lstStyle/>
          <a:p>
            <a:pPr algn="l"/>
            <a:r>
              <a:rPr sz="1100" b="0">
                <a:solidFill>
                  <a:srgbClr val="CFC7E4"/>
                </a:solidFill>
                <a:latin typeface="Calibri"/>
              </a:rPr>
              <a:t>links to the entry before</a:t>
            </a:r>
          </a:p>
        </p:txBody>
      </p:sp>
      <p:sp>
        <p:nvSpPr>
          <p:cNvPr id="12" name="TextBox 11"/>
          <p:cNvSpPr txBox="1"/>
          <p:nvPr/>
        </p:nvSpPr>
        <p:spPr>
          <a:xfrm>
            <a:off x="7790688" y="2194560"/>
            <a:ext cx="274320" cy="365760"/>
          </a:xfrm>
          <a:prstGeom prst="rect">
            <a:avLst/>
          </a:prstGeom>
          <a:noFill/>
        </p:spPr>
        <p:txBody>
          <a:bodyPr wrap="square" lIns="0" rIns="0" tIns="0" bIns="0" anchor="t">
            <a:spAutoFit/>
          </a:bodyPr>
          <a:lstStyle/>
          <a:p>
            <a:pPr algn="l"/>
            <a:r>
              <a:rPr sz="2400" b="1">
                <a:solidFill>
                  <a:srgbClr val="9A81DF"/>
                </a:solidFill>
                <a:latin typeface="Calibri"/>
              </a:rPr>
              <a:t>→</a:t>
            </a:r>
          </a:p>
        </p:txBody>
      </p:sp>
      <p:sp>
        <p:nvSpPr>
          <p:cNvPr id="13" name="Rounded Rectangle 12"/>
          <p:cNvSpPr/>
          <p:nvPr/>
        </p:nvSpPr>
        <p:spPr>
          <a:xfrm>
            <a:off x="8211311" y="1956816"/>
            <a:ext cx="3291840" cy="841248"/>
          </a:xfrm>
          <a:prstGeom prst="roundRect">
            <a:avLst>
              <a:gd name="adj" fmla="val 10869"/>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7" y="2103120"/>
            <a:ext cx="2834640" cy="274320"/>
          </a:xfrm>
          <a:prstGeom prst="rect">
            <a:avLst/>
          </a:prstGeom>
          <a:noFill/>
        </p:spPr>
        <p:txBody>
          <a:bodyPr wrap="square" lIns="0" rIns="0" tIns="0" bIns="0" anchor="t">
            <a:spAutoFit/>
          </a:bodyPr>
          <a:lstStyle/>
          <a:p>
            <a:pPr algn="l"/>
            <a:r>
              <a:rPr sz="1250" b="1">
                <a:solidFill>
                  <a:srgbClr val="FF8AAF"/>
                </a:solidFill>
                <a:latin typeface="Courier New"/>
              </a:rPr>
              <a:t>EntryHash</a:t>
            </a:r>
          </a:p>
        </p:txBody>
      </p:sp>
      <p:sp>
        <p:nvSpPr>
          <p:cNvPr id="15" name="TextBox 14"/>
          <p:cNvSpPr txBox="1"/>
          <p:nvPr/>
        </p:nvSpPr>
        <p:spPr>
          <a:xfrm>
            <a:off x="8430767" y="2395728"/>
            <a:ext cx="2834640" cy="274320"/>
          </a:xfrm>
          <a:prstGeom prst="rect">
            <a:avLst/>
          </a:prstGeom>
          <a:noFill/>
        </p:spPr>
        <p:txBody>
          <a:bodyPr wrap="square" lIns="0" rIns="0" tIns="0" bIns="0" anchor="t">
            <a:spAutoFit/>
          </a:bodyPr>
          <a:lstStyle/>
          <a:p>
            <a:pPr algn="l"/>
            <a:r>
              <a:rPr sz="1100" b="0">
                <a:solidFill>
                  <a:srgbClr val="CFC7E4"/>
                </a:solidFill>
                <a:latin typeface="Calibri"/>
              </a:rPr>
              <a:t>seals this entry</a:t>
            </a:r>
          </a:p>
        </p:txBody>
      </p:sp>
      <p:sp>
        <p:nvSpPr>
          <p:cNvPr id="16" name="TextBox 15"/>
          <p:cNvSpPr txBox="1"/>
          <p:nvPr/>
        </p:nvSpPr>
        <p:spPr>
          <a:xfrm>
            <a:off x="566928" y="3017520"/>
            <a:ext cx="11055096" cy="237744"/>
          </a:xfrm>
          <a:prstGeom prst="rect">
            <a:avLst/>
          </a:prstGeom>
          <a:noFill/>
        </p:spPr>
        <p:txBody>
          <a:bodyPr wrap="square" lIns="0" rIns="0" tIns="0" bIns="0" anchor="t">
            <a:spAutoFit/>
          </a:bodyPr>
          <a:lstStyle/>
          <a:p>
            <a:pPr algn="l"/>
            <a:r>
              <a:rPr sz="1150" b="1">
                <a:solidFill>
                  <a:srgbClr val="FF8AAF"/>
                </a:solidFill>
                <a:latin typeface="Calibri"/>
              </a:rPr>
              <a:t>THE TEST: CHANGE ONE VERDICT FROM FAIL TO PASS</a:t>
            </a:r>
          </a:p>
        </p:txBody>
      </p:sp>
      <p:sp>
        <p:nvSpPr>
          <p:cNvPr id="17" name="Rounded Rectangle 16"/>
          <p:cNvSpPr/>
          <p:nvPr/>
        </p:nvSpPr>
        <p:spPr>
          <a:xfrm>
            <a:off x="566928" y="3310128"/>
            <a:ext cx="11055096" cy="859536"/>
          </a:xfrm>
          <a:prstGeom prst="roundRect">
            <a:avLst>
              <a:gd name="adj" fmla="val 4000"/>
            </a:avLst>
          </a:prstGeom>
          <a:solidFill>
            <a:srgbClr val="1A1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438144"/>
            <a:ext cx="10689336" cy="219456"/>
          </a:xfrm>
          <a:prstGeom prst="rect">
            <a:avLst/>
          </a:prstGeom>
          <a:noFill/>
        </p:spPr>
        <p:txBody>
          <a:bodyPr wrap="square" lIns="0" rIns="0" tIns="0" bIns="0" anchor="t">
            <a:spAutoFit/>
          </a:bodyPr>
          <a:lstStyle/>
          <a:p>
            <a:pPr algn="l"/>
            <a:r>
              <a:rPr sz="1150" b="0">
                <a:solidFill>
                  <a:srgbClr val="FF9C93"/>
                </a:solidFill>
                <a:latin typeface="Courier New"/>
              </a:rPr>
              <a:t>INVALID - first problem at line 7.</a:t>
            </a:r>
          </a:p>
        </p:txBody>
      </p:sp>
      <p:sp>
        <p:nvSpPr>
          <p:cNvPr id="19" name="TextBox 18"/>
          <p:cNvSpPr txBox="1"/>
          <p:nvPr/>
        </p:nvSpPr>
        <p:spPr>
          <a:xfrm>
            <a:off x="749808" y="3657600"/>
            <a:ext cx="10689336" cy="219456"/>
          </a:xfrm>
          <a:prstGeom prst="rect">
            <a:avLst/>
          </a:prstGeom>
          <a:noFill/>
        </p:spPr>
        <p:txBody>
          <a:bodyPr wrap="square" lIns="0" rIns="0" tIns="0" bIns="0" anchor="t">
            <a:spAutoFit/>
          </a:bodyPr>
          <a:lstStyle/>
          <a:p>
            <a:pPr algn="l"/>
            <a:r>
              <a:rPr sz="1150" b="0">
                <a:solidFill>
                  <a:srgbClr val="FF9C93"/>
                </a:solidFill>
                <a:latin typeface="Courier New"/>
              </a:rPr>
              <a:t>  line 7: record contents were altered (RecordHash mismatch) - SHP-1005/Dispatched</a:t>
            </a:r>
          </a:p>
        </p:txBody>
      </p:sp>
      <p:sp>
        <p:nvSpPr>
          <p:cNvPr id="20" name="TextBox 19"/>
          <p:cNvSpPr txBox="1"/>
          <p:nvPr/>
        </p:nvSpPr>
        <p:spPr>
          <a:xfrm>
            <a:off x="749808" y="3877056"/>
            <a:ext cx="10689336" cy="219456"/>
          </a:xfrm>
          <a:prstGeom prst="rect">
            <a:avLst/>
          </a:prstGeom>
          <a:noFill/>
        </p:spPr>
        <p:txBody>
          <a:bodyPr wrap="square" lIns="0" rIns="0" tIns="0" bIns="0" anchor="t">
            <a:spAutoFit/>
          </a:bodyPr>
          <a:lstStyle/>
          <a:p>
            <a:pPr algn="l"/>
            <a:r>
              <a:rPr sz="1150" b="0">
                <a:solidFill>
                  <a:srgbClr val="FF9C93"/>
                </a:solidFill>
                <a:latin typeface="Courier New"/>
              </a:rPr>
              <a:t>  line 7: EntryHash does not match its own contents</a:t>
            </a:r>
          </a:p>
        </p:txBody>
      </p:sp>
      <p:sp>
        <p:nvSpPr>
          <p:cNvPr id="21" name="Rounded Rectangle 20"/>
          <p:cNvSpPr/>
          <p:nvPr/>
        </p:nvSpPr>
        <p:spPr>
          <a:xfrm>
            <a:off x="566928" y="4315968"/>
            <a:ext cx="3566160" cy="1042415"/>
          </a:xfrm>
          <a:prstGeom prst="roundRect">
            <a:avLst>
              <a:gd name="adj" fmla="val 8771"/>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462272"/>
            <a:ext cx="3108960" cy="457200"/>
          </a:xfrm>
          <a:prstGeom prst="rect">
            <a:avLst/>
          </a:prstGeom>
          <a:noFill/>
        </p:spPr>
        <p:txBody>
          <a:bodyPr wrap="square" lIns="0" rIns="0" tIns="0" bIns="0" anchor="t">
            <a:spAutoFit/>
          </a:bodyPr>
          <a:lstStyle/>
          <a:p>
            <a:pPr algn="l"/>
            <a:r>
              <a:rPr sz="2700" b="1">
                <a:solidFill>
                  <a:srgbClr val="FFFFFF"/>
                </a:solidFill>
                <a:latin typeface="Calibri"/>
              </a:rPr>
              <a:t>SHA-256</a:t>
            </a:r>
          </a:p>
        </p:txBody>
      </p:sp>
      <p:sp>
        <p:nvSpPr>
          <p:cNvPr id="23" name="TextBox 22"/>
          <p:cNvSpPr txBox="1"/>
          <p:nvPr/>
        </p:nvSpPr>
        <p:spPr>
          <a:xfrm>
            <a:off x="786384" y="4956048"/>
            <a:ext cx="3108960" cy="274320"/>
          </a:xfrm>
          <a:prstGeom prst="rect">
            <a:avLst/>
          </a:prstGeom>
          <a:noFill/>
        </p:spPr>
        <p:txBody>
          <a:bodyPr wrap="square" lIns="0" rIns="0" tIns="0" bIns="0" anchor="t">
            <a:spAutoFit/>
          </a:bodyPr>
          <a:lstStyle/>
          <a:p>
            <a:pPr algn="l"/>
            <a:r>
              <a:rPr sz="1150" b="0">
                <a:solidFill>
                  <a:srgbClr val="CFC7E4"/>
                </a:solidFill>
                <a:latin typeface="Calibri"/>
              </a:rPr>
              <a:t>over record, bot, machine, time</a:t>
            </a:r>
          </a:p>
        </p:txBody>
      </p:sp>
      <p:sp>
        <p:nvSpPr>
          <p:cNvPr id="24" name="Rounded Rectangle 23"/>
          <p:cNvSpPr/>
          <p:nvPr/>
        </p:nvSpPr>
        <p:spPr>
          <a:xfrm>
            <a:off x="4389120" y="4315968"/>
            <a:ext cx="3566160" cy="1042415"/>
          </a:xfrm>
          <a:prstGeom prst="roundRect">
            <a:avLst>
              <a:gd name="adj" fmla="val 8771"/>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08576" y="4462272"/>
            <a:ext cx="3108960" cy="457200"/>
          </a:xfrm>
          <a:prstGeom prst="rect">
            <a:avLst/>
          </a:prstGeom>
          <a:noFill/>
        </p:spPr>
        <p:txBody>
          <a:bodyPr wrap="square" lIns="0" rIns="0" tIns="0" bIns="0" anchor="t">
            <a:spAutoFit/>
          </a:bodyPr>
          <a:lstStyle/>
          <a:p>
            <a:pPr algn="l"/>
            <a:r>
              <a:rPr sz="2700" b="1">
                <a:solidFill>
                  <a:srgbClr val="FFFFFF"/>
                </a:solidFill>
                <a:latin typeface="Calibri"/>
              </a:rPr>
              <a:t>1</a:t>
            </a:r>
          </a:p>
        </p:txBody>
      </p:sp>
      <p:sp>
        <p:nvSpPr>
          <p:cNvPr id="26" name="TextBox 25"/>
          <p:cNvSpPr txBox="1"/>
          <p:nvPr/>
        </p:nvSpPr>
        <p:spPr>
          <a:xfrm>
            <a:off x="4608576" y="4956048"/>
            <a:ext cx="3108960" cy="274320"/>
          </a:xfrm>
          <a:prstGeom prst="rect">
            <a:avLst/>
          </a:prstGeom>
          <a:noFill/>
        </p:spPr>
        <p:txBody>
          <a:bodyPr wrap="square" lIns="0" rIns="0" tIns="0" bIns="0" anchor="t">
            <a:spAutoFit/>
          </a:bodyPr>
          <a:lstStyle/>
          <a:p>
            <a:pPr algn="l"/>
            <a:r>
              <a:rPr sz="1150" b="0">
                <a:solidFill>
                  <a:srgbClr val="CFC7E4"/>
                </a:solidFill>
                <a:latin typeface="Calibri"/>
              </a:rPr>
              <a:t>character changed is enough</a:t>
            </a:r>
          </a:p>
        </p:txBody>
      </p:sp>
      <p:sp>
        <p:nvSpPr>
          <p:cNvPr id="27" name="Rounded Rectangle 26"/>
          <p:cNvSpPr/>
          <p:nvPr/>
        </p:nvSpPr>
        <p:spPr>
          <a:xfrm>
            <a:off x="8211311" y="4315968"/>
            <a:ext cx="3566160" cy="1042415"/>
          </a:xfrm>
          <a:prstGeom prst="roundRect">
            <a:avLst>
              <a:gd name="adj" fmla="val 8771"/>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30767" y="4462272"/>
            <a:ext cx="3108960" cy="457200"/>
          </a:xfrm>
          <a:prstGeom prst="rect">
            <a:avLst/>
          </a:prstGeom>
          <a:noFill/>
        </p:spPr>
        <p:txBody>
          <a:bodyPr wrap="square" lIns="0" rIns="0" tIns="0" bIns="0" anchor="t">
            <a:spAutoFit/>
          </a:bodyPr>
          <a:lstStyle/>
          <a:p>
            <a:pPr algn="l"/>
            <a:r>
              <a:rPr sz="2700" b="1">
                <a:solidFill>
                  <a:srgbClr val="FFFFFF"/>
                </a:solidFill>
                <a:latin typeface="Calibri"/>
              </a:rPr>
              <a:t>line 7</a:t>
            </a:r>
          </a:p>
        </p:txBody>
      </p:sp>
      <p:sp>
        <p:nvSpPr>
          <p:cNvPr id="29" name="TextBox 28"/>
          <p:cNvSpPr txBox="1"/>
          <p:nvPr/>
        </p:nvSpPr>
        <p:spPr>
          <a:xfrm>
            <a:off x="8430767" y="4956048"/>
            <a:ext cx="3108960" cy="274320"/>
          </a:xfrm>
          <a:prstGeom prst="rect">
            <a:avLst/>
          </a:prstGeom>
          <a:noFill/>
        </p:spPr>
        <p:txBody>
          <a:bodyPr wrap="square" lIns="0" rIns="0" tIns="0" bIns="0" anchor="t">
            <a:spAutoFit/>
          </a:bodyPr>
          <a:lstStyle/>
          <a:p>
            <a:pPr algn="l"/>
            <a:r>
              <a:rPr sz="1150" b="0">
                <a:solidFill>
                  <a:srgbClr val="CFC7E4"/>
                </a:solidFill>
                <a:latin typeface="Calibri"/>
              </a:rPr>
              <a:t>named exactly, not just “invalid”</a:t>
            </a:r>
          </a:p>
        </p:txBody>
      </p:sp>
      <p:sp>
        <p:nvSpPr>
          <p:cNvPr id="30" name="TextBox 29"/>
          <p:cNvSpPr txBox="1"/>
          <p:nvPr/>
        </p:nvSpPr>
        <p:spPr>
          <a:xfrm>
            <a:off x="566928" y="5577840"/>
            <a:ext cx="11055096" cy="548640"/>
          </a:xfrm>
          <a:prstGeom prst="rect">
            <a:avLst/>
          </a:prstGeom>
          <a:noFill/>
        </p:spPr>
        <p:txBody>
          <a:bodyPr wrap="square" lIns="0" rIns="0" tIns="0" bIns="0" anchor="t">
            <a:spAutoFit/>
          </a:bodyPr>
          <a:lstStyle/>
          <a:p>
            <a:pPr algn="l"/>
            <a:r>
              <a:rPr sz="1200" b="0">
                <a:solidFill>
                  <a:srgbClr val="CFC7E4"/>
                </a:solidFill>
                <a:latin typeface="Calibri"/>
              </a:rPr>
              <a:t>The log is append-only and spans every run. Altering any historical row breaks every link after it, so history cannot be quietly rewritten - and 12_Verify_AuditChain is an entry point, so an auditor can re-verify without running the bot.</a:t>
            </a:r>
          </a:p>
        </p:txBody>
      </p:sp>
      <p:sp>
        <p:nvSpPr>
          <p:cNvPr id="31" name="TextBox 30"/>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6B5F8F"/>
                </a:solidFill>
                <a:latin typeface="Calibri"/>
              </a:rPr>
              <a:t>Final Review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WHAT THE BOT LEAVES BEHIND, EVERY RUN</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The evidence pack</a:t>
            </a:r>
          </a:p>
        </p:txBody>
      </p:sp>
      <p:sp>
        <p:nvSpPr>
          <p:cNvPr id="4" name="Rounded Rectangle 3"/>
          <p:cNvSpPr/>
          <p:nvPr/>
        </p:nvSpPr>
        <p:spPr>
          <a:xfrm>
            <a:off x="566928" y="1426464"/>
            <a:ext cx="11055096" cy="749808"/>
          </a:xfrm>
          <a:prstGeom prst="roundRect">
            <a:avLst>
              <a:gd name="adj" fmla="val 12195"/>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554480"/>
            <a:ext cx="3840480" cy="256032"/>
          </a:xfrm>
          <a:prstGeom prst="rect">
            <a:avLst/>
          </a:prstGeom>
          <a:noFill/>
        </p:spPr>
        <p:txBody>
          <a:bodyPr wrap="square" lIns="0" rIns="0" tIns="0" bIns="0" anchor="t">
            <a:spAutoFit/>
          </a:bodyPr>
          <a:lstStyle/>
          <a:p>
            <a:pPr algn="l"/>
            <a:r>
              <a:rPr sz="1150" b="1">
                <a:solidFill>
                  <a:srgbClr val="2F1D63"/>
                </a:solidFill>
                <a:latin typeface="Courier New"/>
              </a:rPr>
              <a:t>ValidationReport_*.xlsx</a:t>
            </a:r>
          </a:p>
        </p:txBody>
      </p:sp>
      <p:sp>
        <p:nvSpPr>
          <p:cNvPr id="6" name="TextBox 5"/>
          <p:cNvSpPr txBox="1"/>
          <p:nvPr/>
        </p:nvSpPr>
        <p:spPr>
          <a:xfrm>
            <a:off x="804672" y="1847088"/>
            <a:ext cx="3840480" cy="237744"/>
          </a:xfrm>
          <a:prstGeom prst="rect">
            <a:avLst/>
          </a:prstGeom>
          <a:noFill/>
        </p:spPr>
        <p:txBody>
          <a:bodyPr wrap="square" lIns="0" rIns="0" tIns="0" bIns="0" anchor="t">
            <a:spAutoFit/>
          </a:bodyPr>
          <a:lstStyle/>
          <a:p>
            <a:pPr algn="l"/>
            <a:r>
              <a:rPr sz="1000" b="0">
                <a:solidFill>
                  <a:srgbClr val="6B6480"/>
                </a:solidFill>
                <a:latin typeface="Calibri"/>
              </a:rPr>
              <a:t>Excel, ~23 KB</a:t>
            </a:r>
          </a:p>
        </p:txBody>
      </p:sp>
      <p:sp>
        <p:nvSpPr>
          <p:cNvPr id="7" name="TextBox 6"/>
          <p:cNvSpPr txBox="1"/>
          <p:nvPr/>
        </p:nvSpPr>
        <p:spPr>
          <a:xfrm>
            <a:off x="4937760" y="1609344"/>
            <a:ext cx="6400800" cy="512064"/>
          </a:xfrm>
          <a:prstGeom prst="rect">
            <a:avLst/>
          </a:prstGeom>
          <a:noFill/>
        </p:spPr>
        <p:txBody>
          <a:bodyPr wrap="square" lIns="0" rIns="0" tIns="0" bIns="0" anchor="t">
            <a:spAutoFit/>
          </a:bodyPr>
          <a:lstStyle/>
          <a:p>
            <a:pPr algn="l"/>
            <a:r>
              <a:rPr sz="1100" b="0">
                <a:solidFill>
                  <a:srgbClr val="241C3A"/>
                </a:solidFill>
                <a:latin typeface="Calibri"/>
              </a:rPr>
              <a:t>Summary, per-rule breakdown, every result colour-coded, and an exceptions sheet.</a:t>
            </a:r>
          </a:p>
        </p:txBody>
      </p:sp>
      <p:sp>
        <p:nvSpPr>
          <p:cNvPr id="8" name="Rounded Rectangle 7"/>
          <p:cNvSpPr/>
          <p:nvPr/>
        </p:nvSpPr>
        <p:spPr>
          <a:xfrm>
            <a:off x="566928" y="2231136"/>
            <a:ext cx="11055096" cy="749808"/>
          </a:xfrm>
          <a:prstGeom prst="roundRect">
            <a:avLst>
              <a:gd name="adj" fmla="val 12195"/>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359152"/>
            <a:ext cx="3840480" cy="256032"/>
          </a:xfrm>
          <a:prstGeom prst="rect">
            <a:avLst/>
          </a:prstGeom>
          <a:noFill/>
        </p:spPr>
        <p:txBody>
          <a:bodyPr wrap="square" lIns="0" rIns="0" tIns="0" bIns="0" anchor="t">
            <a:spAutoFit/>
          </a:bodyPr>
          <a:lstStyle/>
          <a:p>
            <a:pPr algn="l"/>
            <a:r>
              <a:rPr sz="1150" b="1">
                <a:solidFill>
                  <a:srgbClr val="2F1D63"/>
                </a:solidFill>
                <a:latin typeface="Courier New"/>
              </a:rPr>
              <a:t>AuditReport_*.pdf</a:t>
            </a:r>
          </a:p>
        </p:txBody>
      </p:sp>
      <p:sp>
        <p:nvSpPr>
          <p:cNvPr id="10" name="TextBox 9"/>
          <p:cNvSpPr txBox="1"/>
          <p:nvPr/>
        </p:nvSpPr>
        <p:spPr>
          <a:xfrm>
            <a:off x="804672" y="2651760"/>
            <a:ext cx="3840480" cy="237744"/>
          </a:xfrm>
          <a:prstGeom prst="rect">
            <a:avLst/>
          </a:prstGeom>
          <a:noFill/>
        </p:spPr>
        <p:txBody>
          <a:bodyPr wrap="square" lIns="0" rIns="0" tIns="0" bIns="0" anchor="t">
            <a:spAutoFit/>
          </a:bodyPr>
          <a:lstStyle/>
          <a:p>
            <a:pPr algn="l"/>
            <a:r>
              <a:rPr sz="1000" b="0">
                <a:solidFill>
                  <a:srgbClr val="6B6480"/>
                </a:solidFill>
                <a:latin typeface="Calibri"/>
              </a:rPr>
              <a:t>PDF 1.4, new</a:t>
            </a:r>
          </a:p>
        </p:txBody>
      </p:sp>
      <p:sp>
        <p:nvSpPr>
          <p:cNvPr id="11" name="TextBox 10"/>
          <p:cNvSpPr txBox="1"/>
          <p:nvPr/>
        </p:nvSpPr>
        <p:spPr>
          <a:xfrm>
            <a:off x="4937760" y="2414016"/>
            <a:ext cx="6400800" cy="512064"/>
          </a:xfrm>
          <a:prstGeom prst="rect">
            <a:avLst/>
          </a:prstGeom>
          <a:noFill/>
        </p:spPr>
        <p:txBody>
          <a:bodyPr wrap="square" lIns="0" rIns="0" tIns="0" bIns="0" anchor="t">
            <a:spAutoFit/>
          </a:bodyPr>
          <a:lstStyle/>
          <a:p>
            <a:pPr algn="l"/>
            <a:r>
              <a:rPr sz="1100" b="0">
                <a:solidFill>
                  <a:srgbClr val="241C3A"/>
                </a:solidFill>
                <a:latin typeface="Calibri"/>
              </a:rPr>
              <a:t>The formal document for an auditor: bot identity, configuration, every finding with its reviewer decision, the chain head hash and a signature block.</a:t>
            </a:r>
          </a:p>
        </p:txBody>
      </p:sp>
      <p:sp>
        <p:nvSpPr>
          <p:cNvPr id="12" name="Rounded Rectangle 11"/>
          <p:cNvSpPr/>
          <p:nvPr/>
        </p:nvSpPr>
        <p:spPr>
          <a:xfrm>
            <a:off x="566928" y="3035808"/>
            <a:ext cx="11055096" cy="749808"/>
          </a:xfrm>
          <a:prstGeom prst="roundRect">
            <a:avLst>
              <a:gd name="adj" fmla="val 12195"/>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163824"/>
            <a:ext cx="3840480" cy="256032"/>
          </a:xfrm>
          <a:prstGeom prst="rect">
            <a:avLst/>
          </a:prstGeom>
          <a:noFill/>
        </p:spPr>
        <p:txBody>
          <a:bodyPr wrap="square" lIns="0" rIns="0" tIns="0" bIns="0" anchor="t">
            <a:spAutoFit/>
          </a:bodyPr>
          <a:lstStyle/>
          <a:p>
            <a:pPr algn="l"/>
            <a:r>
              <a:rPr sz="1150" b="1">
                <a:solidFill>
                  <a:srgbClr val="2F1D63"/>
                </a:solidFill>
                <a:latin typeface="Courier New"/>
              </a:rPr>
              <a:t>dashboard.html</a:t>
            </a:r>
          </a:p>
        </p:txBody>
      </p:sp>
      <p:sp>
        <p:nvSpPr>
          <p:cNvPr id="14" name="TextBox 13"/>
          <p:cNvSpPr txBox="1"/>
          <p:nvPr/>
        </p:nvSpPr>
        <p:spPr>
          <a:xfrm>
            <a:off x="804672" y="3456432"/>
            <a:ext cx="3840480" cy="237744"/>
          </a:xfrm>
          <a:prstGeom prst="rect">
            <a:avLst/>
          </a:prstGeom>
          <a:noFill/>
        </p:spPr>
        <p:txBody>
          <a:bodyPr wrap="square" lIns="0" rIns="0" tIns="0" bIns="0" anchor="t">
            <a:spAutoFit/>
          </a:bodyPr>
          <a:lstStyle/>
          <a:p>
            <a:pPr algn="l"/>
            <a:r>
              <a:rPr sz="1000" b="0">
                <a:solidFill>
                  <a:srgbClr val="6B6480"/>
                </a:solidFill>
                <a:latin typeface="Calibri"/>
              </a:rPr>
              <a:t>Self-contained</a:t>
            </a:r>
          </a:p>
        </p:txBody>
      </p:sp>
      <p:sp>
        <p:nvSpPr>
          <p:cNvPr id="15" name="TextBox 14"/>
          <p:cNvSpPr txBox="1"/>
          <p:nvPr/>
        </p:nvSpPr>
        <p:spPr>
          <a:xfrm>
            <a:off x="4937760" y="3218688"/>
            <a:ext cx="6400800" cy="512064"/>
          </a:xfrm>
          <a:prstGeom prst="rect">
            <a:avLst/>
          </a:prstGeom>
          <a:noFill/>
        </p:spPr>
        <p:txBody>
          <a:bodyPr wrap="square" lIns="0" rIns="0" tIns="0" bIns="0" anchor="t">
            <a:spAutoFit/>
          </a:bodyPr>
          <a:lstStyle/>
          <a:p>
            <a:pPr algn="l"/>
            <a:r>
              <a:rPr sz="1100" b="0">
                <a:solidFill>
                  <a:srgbClr val="241C3A"/>
                </a:solidFill>
                <a:latin typeface="Calibri"/>
              </a:rPr>
              <a:t>KPI tiles, pass/fail bar, findings, processing time per phase and trends across runs. No server, no CDN, no internet.</a:t>
            </a:r>
          </a:p>
        </p:txBody>
      </p:sp>
      <p:sp>
        <p:nvSpPr>
          <p:cNvPr id="16" name="Rounded Rectangle 15"/>
          <p:cNvSpPr/>
          <p:nvPr/>
        </p:nvSpPr>
        <p:spPr>
          <a:xfrm>
            <a:off x="566928" y="3840480"/>
            <a:ext cx="11055096" cy="749808"/>
          </a:xfrm>
          <a:prstGeom prst="roundRect">
            <a:avLst>
              <a:gd name="adj" fmla="val 12195"/>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68496"/>
            <a:ext cx="3840480" cy="256032"/>
          </a:xfrm>
          <a:prstGeom prst="rect">
            <a:avLst/>
          </a:prstGeom>
          <a:noFill/>
        </p:spPr>
        <p:txBody>
          <a:bodyPr wrap="square" lIns="0" rIns="0" tIns="0" bIns="0" anchor="t">
            <a:spAutoFit/>
          </a:bodyPr>
          <a:lstStyle/>
          <a:p>
            <a:pPr algn="l"/>
            <a:r>
              <a:rPr sz="1150" b="1">
                <a:solidFill>
                  <a:srgbClr val="2F1D63"/>
                </a:solidFill>
                <a:latin typeface="Courier New"/>
              </a:rPr>
              <a:t>ValidationAuditLog.csv</a:t>
            </a:r>
          </a:p>
        </p:txBody>
      </p:sp>
      <p:sp>
        <p:nvSpPr>
          <p:cNvPr id="18" name="TextBox 17"/>
          <p:cNvSpPr txBox="1"/>
          <p:nvPr/>
        </p:nvSpPr>
        <p:spPr>
          <a:xfrm>
            <a:off x="804672" y="4261104"/>
            <a:ext cx="3840480" cy="237744"/>
          </a:xfrm>
          <a:prstGeom prst="rect">
            <a:avLst/>
          </a:prstGeom>
          <a:noFill/>
        </p:spPr>
        <p:txBody>
          <a:bodyPr wrap="square" lIns="0" rIns="0" tIns="0" bIns="0" anchor="t">
            <a:spAutoFit/>
          </a:bodyPr>
          <a:lstStyle/>
          <a:p>
            <a:pPr algn="l"/>
            <a:r>
              <a:rPr sz="1000" b="0">
                <a:solidFill>
                  <a:srgbClr val="6B6480"/>
                </a:solidFill>
                <a:latin typeface="Calibri"/>
              </a:rPr>
              <a:t>Append-only</a:t>
            </a:r>
          </a:p>
        </p:txBody>
      </p:sp>
      <p:sp>
        <p:nvSpPr>
          <p:cNvPr id="19" name="TextBox 18"/>
          <p:cNvSpPr txBox="1"/>
          <p:nvPr/>
        </p:nvSpPr>
        <p:spPr>
          <a:xfrm>
            <a:off x="4937760" y="4023360"/>
            <a:ext cx="6400800" cy="512064"/>
          </a:xfrm>
          <a:prstGeom prst="rect">
            <a:avLst/>
          </a:prstGeom>
          <a:noFill/>
        </p:spPr>
        <p:txBody>
          <a:bodyPr wrap="square" lIns="0" rIns="0" tIns="0" bIns="0" anchor="t">
            <a:spAutoFit/>
          </a:bodyPr>
          <a:lstStyle/>
          <a:p>
            <a:pPr algn="l"/>
            <a:r>
              <a:rPr sz="1100" b="0">
                <a:solidFill>
                  <a:srgbClr val="241C3A"/>
                </a:solidFill>
                <a:latin typeface="Calibri"/>
              </a:rPr>
              <a:t>Hash-chained entries carrying BotIdentity, TimestampUtc, InputDataHash, RecordHash, PrevHash and EntryHash.</a:t>
            </a:r>
          </a:p>
        </p:txBody>
      </p:sp>
      <p:sp>
        <p:nvSpPr>
          <p:cNvPr id="20" name="Rounded Rectangle 19"/>
          <p:cNvSpPr/>
          <p:nvPr/>
        </p:nvSpPr>
        <p:spPr>
          <a:xfrm>
            <a:off x="566928" y="4645152"/>
            <a:ext cx="11055096" cy="749808"/>
          </a:xfrm>
          <a:prstGeom prst="roundRect">
            <a:avLst>
              <a:gd name="adj" fmla="val 12195"/>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773168"/>
            <a:ext cx="3840480" cy="256032"/>
          </a:xfrm>
          <a:prstGeom prst="rect">
            <a:avLst/>
          </a:prstGeom>
          <a:noFill/>
        </p:spPr>
        <p:txBody>
          <a:bodyPr wrap="square" lIns="0" rIns="0" tIns="0" bIns="0" anchor="t">
            <a:spAutoFit/>
          </a:bodyPr>
          <a:lstStyle/>
          <a:p>
            <a:pPr algn="l"/>
            <a:r>
              <a:rPr sz="1150" b="1">
                <a:solidFill>
                  <a:srgbClr val="2F1D63"/>
                </a:solidFill>
                <a:latin typeface="Courier New"/>
              </a:rPr>
              <a:t>Alert_*.eml / _teams.json / _slack.json</a:t>
            </a:r>
          </a:p>
        </p:txBody>
      </p:sp>
      <p:sp>
        <p:nvSpPr>
          <p:cNvPr id="22" name="TextBox 21"/>
          <p:cNvSpPr txBox="1"/>
          <p:nvPr/>
        </p:nvSpPr>
        <p:spPr>
          <a:xfrm>
            <a:off x="804672" y="5065776"/>
            <a:ext cx="3840480" cy="237744"/>
          </a:xfrm>
          <a:prstGeom prst="rect">
            <a:avLst/>
          </a:prstGeom>
          <a:noFill/>
        </p:spPr>
        <p:txBody>
          <a:bodyPr wrap="square" lIns="0" rIns="0" tIns="0" bIns="0" anchor="t">
            <a:spAutoFit/>
          </a:bodyPr>
          <a:lstStyle/>
          <a:p>
            <a:pPr algn="l"/>
            <a:r>
              <a:rPr sz="1000" b="0">
                <a:solidFill>
                  <a:srgbClr val="6B6480"/>
                </a:solidFill>
                <a:latin typeface="Calibri"/>
              </a:rPr>
              <a:t>New</a:t>
            </a:r>
          </a:p>
        </p:txBody>
      </p:sp>
      <p:sp>
        <p:nvSpPr>
          <p:cNvPr id="23" name="TextBox 22"/>
          <p:cNvSpPr txBox="1"/>
          <p:nvPr/>
        </p:nvSpPr>
        <p:spPr>
          <a:xfrm>
            <a:off x="4937760" y="4828032"/>
            <a:ext cx="6400800" cy="512064"/>
          </a:xfrm>
          <a:prstGeom prst="rect">
            <a:avLst/>
          </a:prstGeom>
          <a:noFill/>
        </p:spPr>
        <p:txBody>
          <a:bodyPr wrap="square" lIns="0" rIns="0" tIns="0" bIns="0" anchor="t">
            <a:spAutoFit/>
          </a:bodyPr>
          <a:lstStyle/>
          <a:p>
            <a:pPr algn="l"/>
            <a:r>
              <a:rPr sz="1100" b="0">
                <a:solidFill>
                  <a:srgbClr val="241C3A"/>
                </a:solidFill>
                <a:latin typeface="Calibri"/>
              </a:rPr>
              <a:t>The e-mail, the Teams Adaptive Card and the Slack Block Kit message, written to disk so delivery is testable without a real Teams or Slack channel.</a:t>
            </a:r>
          </a:p>
        </p:txBody>
      </p:sp>
      <p:sp>
        <p:nvSpPr>
          <p:cNvPr id="24" name="Rounded Rectangle 23"/>
          <p:cNvSpPr/>
          <p:nvPr/>
        </p:nvSpPr>
        <p:spPr>
          <a:xfrm>
            <a:off x="566928" y="5449824"/>
            <a:ext cx="11055096" cy="749808"/>
          </a:xfrm>
          <a:prstGeom prst="roundRect">
            <a:avLst>
              <a:gd name="adj" fmla="val 12195"/>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5577840"/>
            <a:ext cx="3840480" cy="256032"/>
          </a:xfrm>
          <a:prstGeom prst="rect">
            <a:avLst/>
          </a:prstGeom>
          <a:noFill/>
        </p:spPr>
        <p:txBody>
          <a:bodyPr wrap="square" lIns="0" rIns="0" tIns="0" bIns="0" anchor="t">
            <a:spAutoFit/>
          </a:bodyPr>
          <a:lstStyle/>
          <a:p>
            <a:pPr algn="l"/>
            <a:r>
              <a:rPr sz="1150" b="1">
                <a:solidFill>
                  <a:srgbClr val="2F1D63"/>
                </a:solidFill>
                <a:latin typeface="Courier New"/>
              </a:rPr>
              <a:t>dashboard_summary.json</a:t>
            </a:r>
          </a:p>
        </p:txBody>
      </p:sp>
      <p:sp>
        <p:nvSpPr>
          <p:cNvPr id="26" name="TextBox 25"/>
          <p:cNvSpPr txBox="1"/>
          <p:nvPr/>
        </p:nvSpPr>
        <p:spPr>
          <a:xfrm>
            <a:off x="804672" y="5870448"/>
            <a:ext cx="3840480" cy="237744"/>
          </a:xfrm>
          <a:prstGeom prst="rect">
            <a:avLst/>
          </a:prstGeom>
          <a:noFill/>
        </p:spPr>
        <p:txBody>
          <a:bodyPr wrap="square" lIns="0" rIns="0" tIns="0" bIns="0" anchor="t">
            <a:spAutoFit/>
          </a:bodyPr>
          <a:lstStyle/>
          <a:p>
            <a:pPr algn="l"/>
            <a:r>
              <a:rPr sz="1000" b="0">
                <a:solidFill>
                  <a:srgbClr val="6B6480"/>
                </a:solidFill>
                <a:latin typeface="Calibri"/>
              </a:rPr>
              <a:t>KPI export</a:t>
            </a:r>
          </a:p>
        </p:txBody>
      </p:sp>
      <p:sp>
        <p:nvSpPr>
          <p:cNvPr id="27" name="TextBox 26"/>
          <p:cNvSpPr txBox="1"/>
          <p:nvPr/>
        </p:nvSpPr>
        <p:spPr>
          <a:xfrm>
            <a:off x="4937760" y="5632704"/>
            <a:ext cx="6400800" cy="512064"/>
          </a:xfrm>
          <a:prstGeom prst="rect">
            <a:avLst/>
          </a:prstGeom>
          <a:noFill/>
        </p:spPr>
        <p:txBody>
          <a:bodyPr wrap="square" lIns="0" rIns="0" tIns="0" bIns="0" anchor="t">
            <a:spAutoFit/>
          </a:bodyPr>
          <a:lstStyle/>
          <a:p>
            <a:pPr algn="l"/>
            <a:r>
              <a:rPr sz="1100" b="0">
                <a:solidFill>
                  <a:srgbClr val="241C3A"/>
                </a:solidFill>
                <a:latin typeface="Calibri"/>
              </a:rPr>
              <a:t>Findings and counters for a Power BI or Google Sheets push.</a:t>
            </a:r>
          </a:p>
        </p:txBody>
      </p:sp>
      <p:sp>
        <p:nvSpPr>
          <p:cNvPr id="28" name="TextBox 27"/>
          <p:cNvSpPr txBox="1"/>
          <p:nvPr/>
        </p:nvSpPr>
        <p:spPr>
          <a:xfrm>
            <a:off x="566928" y="6272784"/>
            <a:ext cx="11055096" cy="237744"/>
          </a:xfrm>
          <a:prstGeom prst="rect">
            <a:avLst/>
          </a:prstGeom>
          <a:noFill/>
        </p:spPr>
        <p:txBody>
          <a:bodyPr wrap="square" lIns="0" rIns="0" tIns="0" bIns="0" anchor="t">
            <a:spAutoFit/>
          </a:bodyPr>
          <a:lstStyle/>
          <a:p>
            <a:pPr algn="l"/>
            <a:r>
              <a:rPr sz="1100" b="1">
                <a:solidFill>
                  <a:srgbClr val="1A7F4B"/>
                </a:solidFill>
                <a:latin typeface="Calibri"/>
              </a:rPr>
              <a:t>The dashboard's run history is read back out of the audit log itself, so it cannot disagree with the evidence.</a:t>
            </a:r>
          </a:p>
        </p:txBody>
      </p:sp>
      <p:sp>
        <p:nvSpPr>
          <p:cNvPr id="29" name="TextBox 28"/>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SAME PIPELINE, SPLIT PER SHIPMENT</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Queue mode and the Performer</a:t>
            </a:r>
          </a:p>
        </p:txBody>
      </p:sp>
      <p:sp>
        <p:nvSpPr>
          <p:cNvPr id="4" name="Rounded Rectangle 3"/>
          <p:cNvSpPr/>
          <p:nvPr/>
        </p:nvSpPr>
        <p:spPr>
          <a:xfrm>
            <a:off x="566928" y="1463040"/>
            <a:ext cx="5431536" cy="2194560"/>
          </a:xfrm>
          <a:prstGeom prst="roundRect">
            <a:avLst>
              <a:gd name="adj" fmla="val 4166"/>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627632"/>
            <a:ext cx="5029200" cy="274320"/>
          </a:xfrm>
          <a:prstGeom prst="rect">
            <a:avLst/>
          </a:prstGeom>
          <a:noFill/>
        </p:spPr>
        <p:txBody>
          <a:bodyPr wrap="square" lIns="0" rIns="0" tIns="0" bIns="0" anchor="t">
            <a:spAutoFit/>
          </a:bodyPr>
          <a:lstStyle/>
          <a:p>
            <a:pPr algn="l"/>
            <a:r>
              <a:rPr sz="1500" b="1">
                <a:solidFill>
                  <a:srgbClr val="2F1D63"/>
                </a:solidFill>
                <a:latin typeface="Calibri"/>
              </a:rPr>
              <a:t>How a run splits</a:t>
            </a:r>
          </a:p>
        </p:txBody>
      </p:sp>
      <p:sp>
        <p:nvSpPr>
          <p:cNvPr id="6" name="Rounded Rectangle 5"/>
          <p:cNvSpPr/>
          <p:nvPr/>
        </p:nvSpPr>
        <p:spPr>
          <a:xfrm>
            <a:off x="786384" y="2011680"/>
            <a:ext cx="1188720" cy="274320"/>
          </a:xfrm>
          <a:prstGeom prst="roundRect">
            <a:avLst>
              <a:gd name="adj" fmla="val 50000"/>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29968"/>
            <a:ext cx="1188720" cy="237744"/>
          </a:xfrm>
          <a:prstGeom prst="rect">
            <a:avLst/>
          </a:prstGeom>
          <a:noFill/>
        </p:spPr>
        <p:txBody>
          <a:bodyPr wrap="square" lIns="0" rIns="0" tIns="0" bIns="0" anchor="t">
            <a:spAutoFit/>
          </a:bodyPr>
          <a:lstStyle/>
          <a:p>
            <a:pPr algn="ctr"/>
            <a:r>
              <a:rPr sz="950" b="1">
                <a:solidFill>
                  <a:srgbClr val="FFFFFF"/>
                </a:solidFill>
                <a:latin typeface="Calibri"/>
              </a:rPr>
              <a:t>BATCH</a:t>
            </a:r>
          </a:p>
        </p:txBody>
      </p:sp>
      <p:sp>
        <p:nvSpPr>
          <p:cNvPr id="8" name="TextBox 7"/>
          <p:cNvSpPr txBox="1"/>
          <p:nvPr/>
        </p:nvSpPr>
        <p:spPr>
          <a:xfrm>
            <a:off x="2121408" y="2029968"/>
            <a:ext cx="3657600" cy="548640"/>
          </a:xfrm>
          <a:prstGeom prst="rect">
            <a:avLst/>
          </a:prstGeom>
          <a:noFill/>
        </p:spPr>
        <p:txBody>
          <a:bodyPr wrap="square" lIns="0" rIns="0" tIns="0" bIns="0" anchor="t">
            <a:spAutoFit/>
          </a:bodyPr>
          <a:lstStyle/>
          <a:p>
            <a:pPr algn="l"/>
            <a:r>
              <a:rPr sz="1100" b="0">
                <a:solidFill>
                  <a:srgbClr val="241C3A"/>
                </a:solidFill>
                <a:latin typeface="Calibri"/>
              </a:rPr>
              <a:t>One job validates all 48 transactions.</a:t>
            </a:r>
          </a:p>
        </p:txBody>
      </p:sp>
      <p:sp>
        <p:nvSpPr>
          <p:cNvPr id="9" name="Rounded Rectangle 8"/>
          <p:cNvSpPr/>
          <p:nvPr/>
        </p:nvSpPr>
        <p:spPr>
          <a:xfrm>
            <a:off x="786384" y="2688336"/>
            <a:ext cx="1188720" cy="274320"/>
          </a:xfrm>
          <a:prstGeom prst="roundRect">
            <a:avLst>
              <a:gd name="adj" fmla="val 50000"/>
            </a:avLst>
          </a:prstGeom>
          <a:solidFill>
            <a:srgbClr val="4836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706624"/>
            <a:ext cx="1188720" cy="237744"/>
          </a:xfrm>
          <a:prstGeom prst="rect">
            <a:avLst/>
          </a:prstGeom>
          <a:noFill/>
        </p:spPr>
        <p:txBody>
          <a:bodyPr wrap="square" lIns="0" rIns="0" tIns="0" bIns="0" anchor="t">
            <a:spAutoFit/>
          </a:bodyPr>
          <a:lstStyle/>
          <a:p>
            <a:pPr algn="ctr"/>
            <a:r>
              <a:rPr sz="950" b="1">
                <a:solidFill>
                  <a:srgbClr val="FFFFFF"/>
                </a:solidFill>
                <a:latin typeface="Calibri"/>
              </a:rPr>
              <a:t>DISPATCH</a:t>
            </a:r>
          </a:p>
        </p:txBody>
      </p:sp>
      <p:sp>
        <p:nvSpPr>
          <p:cNvPr id="11" name="TextBox 10"/>
          <p:cNvSpPr txBox="1"/>
          <p:nvPr/>
        </p:nvSpPr>
        <p:spPr>
          <a:xfrm>
            <a:off x="2121408" y="2706624"/>
            <a:ext cx="3657600" cy="548640"/>
          </a:xfrm>
          <a:prstGeom prst="rect">
            <a:avLst/>
          </a:prstGeom>
          <a:noFill/>
        </p:spPr>
        <p:txBody>
          <a:bodyPr wrap="square" lIns="0" rIns="0" tIns="0" bIns="0" anchor="t">
            <a:spAutoFit/>
          </a:bodyPr>
          <a:lstStyle/>
          <a:p>
            <a:pPr algn="l"/>
            <a:r>
              <a:rPr sz="1100" b="0">
                <a:solidFill>
                  <a:srgbClr val="241C3A"/>
                </a:solidFill>
                <a:latin typeface="Calibri"/>
              </a:rPr>
              <a:t>One work item per shipment, in a local queue file: 48 → 12.</a:t>
            </a:r>
          </a:p>
        </p:txBody>
      </p:sp>
      <p:sp>
        <p:nvSpPr>
          <p:cNvPr id="12" name="TextBox 11"/>
          <p:cNvSpPr txBox="1"/>
          <p:nvPr/>
        </p:nvSpPr>
        <p:spPr>
          <a:xfrm>
            <a:off x="786384" y="3310128"/>
            <a:ext cx="5029200" cy="274320"/>
          </a:xfrm>
          <a:prstGeom prst="rect">
            <a:avLst/>
          </a:prstGeom>
          <a:noFill/>
        </p:spPr>
        <p:txBody>
          <a:bodyPr wrap="square" lIns="0" rIns="0" tIns="0" bIns="0" anchor="t">
            <a:spAutoFit/>
          </a:bodyPr>
          <a:lstStyle/>
          <a:p>
            <a:pPr algn="l"/>
            <a:r>
              <a:rPr sz="1050" b="0">
                <a:solidFill>
                  <a:srgbClr val="6B6480"/>
                </a:solidFill>
                <a:latin typeface="Calibri"/>
              </a:rPr>
              <a:t>RunMode is one cell in Config.xlsx.</a:t>
            </a:r>
          </a:p>
        </p:txBody>
      </p:sp>
      <p:sp>
        <p:nvSpPr>
          <p:cNvPr id="13" name="Rounded Rectangle 12"/>
          <p:cNvSpPr/>
          <p:nvPr/>
        </p:nvSpPr>
        <p:spPr>
          <a:xfrm>
            <a:off x="6190488" y="1463040"/>
            <a:ext cx="5468112" cy="2194560"/>
          </a:xfrm>
          <a:prstGeom prst="roundRect">
            <a:avLst>
              <a:gd name="adj" fmla="val 4166"/>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1627632"/>
            <a:ext cx="5029200" cy="274320"/>
          </a:xfrm>
          <a:prstGeom prst="rect">
            <a:avLst/>
          </a:prstGeom>
          <a:noFill/>
        </p:spPr>
        <p:txBody>
          <a:bodyPr wrap="square" lIns="0" rIns="0" tIns="0" bIns="0" anchor="t">
            <a:spAutoFit/>
          </a:bodyPr>
          <a:lstStyle/>
          <a:p>
            <a:pPr algn="l"/>
            <a:r>
              <a:rPr sz="1500" b="1">
                <a:solidFill>
                  <a:srgbClr val="2F1D63"/>
                </a:solidFill>
                <a:latin typeface="Calibri"/>
              </a:rPr>
              <a:t>Why a shipment, not a transaction</a:t>
            </a:r>
          </a:p>
        </p:txBody>
      </p:sp>
      <p:sp>
        <p:nvSpPr>
          <p:cNvPr id="15" name="TextBox 14"/>
          <p:cNvSpPr txBox="1"/>
          <p:nvPr/>
        </p:nvSpPr>
        <p:spPr>
          <a:xfrm>
            <a:off x="6409944" y="1993392"/>
            <a:ext cx="5029200" cy="1463040"/>
          </a:xfrm>
          <a:prstGeom prst="rect">
            <a:avLst/>
          </a:prstGeom>
          <a:noFill/>
        </p:spPr>
        <p:txBody>
          <a:bodyPr wrap="square" lIns="0" rIns="0" tIns="0" bIns="0" anchor="t">
            <a:spAutoFit/>
          </a:bodyPr>
          <a:lstStyle/>
          <a:p>
            <a:pPr algn="l"/>
            <a:r>
              <a:rPr sz="1150" b="0">
                <a:solidFill>
                  <a:srgbClr val="241C3A"/>
                </a:solidFill>
                <a:latin typeface="Calibri"/>
              </a:rPr>
              <a:t>Three of the six rules compare events against each other, so a worker handed a single transaction could not evaluate duplicates, ordering or required events at all. A shipment is the smallest unit that keeps every rule meaningful - which is a design consequence of the rules, not an arbitrary choice.</a:t>
            </a:r>
          </a:p>
        </p:txBody>
      </p:sp>
      <p:sp>
        <p:nvSpPr>
          <p:cNvPr id="16" name="Rounded Rectangle 15"/>
          <p:cNvSpPr/>
          <p:nvPr/>
        </p:nvSpPr>
        <p:spPr>
          <a:xfrm>
            <a:off x="566928" y="3803904"/>
            <a:ext cx="11055096" cy="1188720"/>
          </a:xfrm>
          <a:prstGeom prst="roundRect">
            <a:avLst>
              <a:gd name="adj" fmla="val 769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68496"/>
            <a:ext cx="10515600" cy="274320"/>
          </a:xfrm>
          <a:prstGeom prst="rect">
            <a:avLst/>
          </a:prstGeom>
          <a:noFill/>
        </p:spPr>
        <p:txBody>
          <a:bodyPr wrap="square" lIns="0" rIns="0" tIns="0" bIns="0" anchor="t">
            <a:spAutoFit/>
          </a:bodyPr>
          <a:lstStyle/>
          <a:p>
            <a:pPr algn="l"/>
            <a:r>
              <a:rPr sz="1350" b="1">
                <a:solidFill>
                  <a:srgbClr val="2F1D63"/>
                </a:solidFill>
                <a:latin typeface="Calibri"/>
              </a:rPr>
              <a:t>The Performer is its own entry point</a:t>
            </a:r>
          </a:p>
        </p:txBody>
      </p:sp>
      <p:sp>
        <p:nvSpPr>
          <p:cNvPr id="18" name="TextBox 17"/>
          <p:cNvSpPr txBox="1"/>
          <p:nvPr/>
        </p:nvSpPr>
        <p:spPr>
          <a:xfrm>
            <a:off x="804672" y="4279392"/>
            <a:ext cx="10515600" cy="603504"/>
          </a:xfrm>
          <a:prstGeom prst="rect">
            <a:avLst/>
          </a:prstGeom>
          <a:noFill/>
        </p:spPr>
        <p:txBody>
          <a:bodyPr wrap="square" lIns="0" rIns="0" tIns="0" bIns="0" anchor="t">
            <a:spAutoFit/>
          </a:bodyPr>
          <a:lstStyle/>
          <a:p>
            <a:pPr algn="l"/>
            <a:r>
              <a:rPr sz="1150" b="0">
                <a:solidFill>
                  <a:srgbClr val="241C3A"/>
                </a:solidFill>
                <a:latin typeface="Calibri"/>
              </a:rPr>
              <a:t>Run from Studio, it works through the queue and then calls 14_Finalise_Run - the same finalise pipeline a batch run uses. So queue mode produces the same audit trail, the same Excel and PDF reports and the same dashboard, rather than a second, divergent path that would need its own evidence.</a:t>
            </a:r>
          </a:p>
        </p:txBody>
      </p:sp>
      <p:sp>
        <p:nvSpPr>
          <p:cNvPr id="19" name="Rounded Rectangle 18"/>
          <p:cNvSpPr/>
          <p:nvPr/>
        </p:nvSpPr>
        <p:spPr>
          <a:xfrm>
            <a:off x="566928" y="5138928"/>
            <a:ext cx="11055096" cy="1078992"/>
          </a:xfrm>
          <a:prstGeom prst="roundRect">
            <a:avLst>
              <a:gd name="adj" fmla="val 3000"/>
            </a:avLst>
          </a:prstGeom>
          <a:solidFill>
            <a:srgbClr val="FDF2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5303520"/>
            <a:ext cx="10515600" cy="274320"/>
          </a:xfrm>
          <a:prstGeom prst="rect">
            <a:avLst/>
          </a:prstGeom>
          <a:noFill/>
        </p:spPr>
        <p:txBody>
          <a:bodyPr wrap="square" lIns="0" rIns="0" tIns="0" bIns="0" anchor="t">
            <a:spAutoFit/>
          </a:bodyPr>
          <a:lstStyle/>
          <a:p>
            <a:pPr algn="l"/>
            <a:r>
              <a:rPr sz="1300" b="1">
                <a:solidFill>
                  <a:srgbClr val="8A6100"/>
                </a:solidFill>
                <a:latin typeface="Calibri"/>
              </a:rPr>
              <a:t>Runs in UiPath Studio - Orchestrator is out of scope</a:t>
            </a:r>
          </a:p>
        </p:txBody>
      </p:sp>
      <p:sp>
        <p:nvSpPr>
          <p:cNvPr id="21" name="TextBox 20"/>
          <p:cNvSpPr txBox="1"/>
          <p:nvPr/>
        </p:nvSpPr>
        <p:spPr>
          <a:xfrm>
            <a:off x="804672" y="5614416"/>
            <a:ext cx="10515600" cy="512064"/>
          </a:xfrm>
          <a:prstGeom prst="rect">
            <a:avLst/>
          </a:prstGeom>
          <a:noFill/>
        </p:spPr>
        <p:txBody>
          <a:bodyPr wrap="square" lIns="0" rIns="0" tIns="0" bIns="0" anchor="t">
            <a:spAutoFit/>
          </a:bodyPr>
          <a:lstStyle/>
          <a:p>
            <a:pPr algn="l"/>
            <a:r>
              <a:rPr sz="1150" b="0">
                <a:solidFill>
                  <a:srgbClr val="6B4B00"/>
                </a:solidFill>
                <a:latin typeface="Calibri"/>
              </a:rPr>
              <a:t>The work queue is a local file. Dispatcher and Performer are verified end to end: 48 transactions become 12 work items, and the Performer turns them into the same evidence pack as a batch run. Moving to an Orchestrator queue would swap that file for Add Queue Item and Get Transaction Item - the validation would not change.</a:t>
            </a:r>
          </a:p>
        </p:txBody>
      </p:sp>
      <p:sp>
        <p:nvSpPr>
          <p:cNvPr id="22" name="TextBox 21"/>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ONE COMMAND VERIFIES EVERY CLAIM IN THIS DECK</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How we know it works</a:t>
            </a:r>
          </a:p>
        </p:txBody>
      </p:sp>
      <p:sp>
        <p:nvSpPr>
          <p:cNvPr id="4" name="Rounded Rectangle 3"/>
          <p:cNvSpPr/>
          <p:nvPr/>
        </p:nvSpPr>
        <p:spPr>
          <a:xfrm>
            <a:off x="566928" y="1463040"/>
            <a:ext cx="2615184" cy="1188720"/>
          </a:xfrm>
          <a:prstGeom prst="roundRect">
            <a:avLst>
              <a:gd name="adj" fmla="val 769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591056"/>
            <a:ext cx="2286000" cy="512064"/>
          </a:xfrm>
          <a:prstGeom prst="rect">
            <a:avLst/>
          </a:prstGeom>
          <a:noFill/>
        </p:spPr>
        <p:txBody>
          <a:bodyPr wrap="square" lIns="0" rIns="0" tIns="0" bIns="0" anchor="t">
            <a:spAutoFit/>
          </a:bodyPr>
          <a:lstStyle/>
          <a:p>
            <a:pPr algn="l"/>
            <a:r>
              <a:rPr sz="3000" b="1">
                <a:solidFill>
                  <a:srgbClr val="1A7F4B"/>
                </a:solidFill>
                <a:latin typeface="Calibri"/>
              </a:rPr>
              <a:t>21/21</a:t>
            </a:r>
          </a:p>
        </p:txBody>
      </p:sp>
      <p:sp>
        <p:nvSpPr>
          <p:cNvPr id="6" name="TextBox 5"/>
          <p:cNvSpPr txBox="1"/>
          <p:nvPr/>
        </p:nvSpPr>
        <p:spPr>
          <a:xfrm>
            <a:off x="749808" y="2157984"/>
            <a:ext cx="2286000" cy="365760"/>
          </a:xfrm>
          <a:prstGeom prst="rect">
            <a:avLst/>
          </a:prstGeom>
          <a:noFill/>
        </p:spPr>
        <p:txBody>
          <a:bodyPr wrap="square" lIns="0" rIns="0" tIns="0" bIns="0" anchor="t">
            <a:spAutoFit/>
          </a:bodyPr>
          <a:lstStyle/>
          <a:p>
            <a:pPr algn="l"/>
            <a:r>
              <a:rPr sz="1100" b="0">
                <a:solidFill>
                  <a:srgbClr val="6B6480"/>
                </a:solidFill>
                <a:latin typeface="Calibri"/>
              </a:rPr>
              <a:t>Acceptance checks passing</a:t>
            </a:r>
          </a:p>
        </p:txBody>
      </p:sp>
      <p:sp>
        <p:nvSpPr>
          <p:cNvPr id="7" name="Rounded Rectangle 6"/>
          <p:cNvSpPr/>
          <p:nvPr/>
        </p:nvSpPr>
        <p:spPr>
          <a:xfrm>
            <a:off x="3310128" y="1463040"/>
            <a:ext cx="2615184" cy="1188720"/>
          </a:xfrm>
          <a:prstGeom prst="roundRect">
            <a:avLst>
              <a:gd name="adj" fmla="val 769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3008" y="1591056"/>
            <a:ext cx="2286000" cy="512064"/>
          </a:xfrm>
          <a:prstGeom prst="rect">
            <a:avLst/>
          </a:prstGeom>
          <a:noFill/>
        </p:spPr>
        <p:txBody>
          <a:bodyPr wrap="square" lIns="0" rIns="0" tIns="0" bIns="0" anchor="t">
            <a:spAutoFit/>
          </a:bodyPr>
          <a:lstStyle/>
          <a:p>
            <a:pPr algn="l"/>
            <a:r>
              <a:rPr sz="3000" b="1">
                <a:solidFill>
                  <a:srgbClr val="1A7F4B"/>
                </a:solidFill>
                <a:latin typeface="Calibri"/>
              </a:rPr>
              <a:t>12/12</a:t>
            </a:r>
          </a:p>
        </p:txBody>
      </p:sp>
      <p:sp>
        <p:nvSpPr>
          <p:cNvPr id="9" name="TextBox 8"/>
          <p:cNvSpPr txBox="1"/>
          <p:nvPr/>
        </p:nvSpPr>
        <p:spPr>
          <a:xfrm>
            <a:off x="3493008" y="2157984"/>
            <a:ext cx="2286000" cy="365760"/>
          </a:xfrm>
          <a:prstGeom prst="rect">
            <a:avLst/>
          </a:prstGeom>
          <a:noFill/>
        </p:spPr>
        <p:txBody>
          <a:bodyPr wrap="square" lIns="0" rIns="0" tIns="0" bIns="0" anchor="t">
            <a:spAutoFit/>
          </a:bodyPr>
          <a:lstStyle/>
          <a:p>
            <a:pPr algn="l"/>
            <a:r>
              <a:rPr sz="1100" b="0">
                <a:solidFill>
                  <a:srgbClr val="6B6480"/>
                </a:solidFill>
                <a:latin typeface="Calibri"/>
              </a:rPr>
              <a:t>UiPath test cases passing</a:t>
            </a:r>
          </a:p>
        </p:txBody>
      </p:sp>
      <p:sp>
        <p:nvSpPr>
          <p:cNvPr id="10" name="Rounded Rectangle 9"/>
          <p:cNvSpPr/>
          <p:nvPr/>
        </p:nvSpPr>
        <p:spPr>
          <a:xfrm>
            <a:off x="6053328" y="1463040"/>
            <a:ext cx="2615184" cy="1188720"/>
          </a:xfrm>
          <a:prstGeom prst="roundRect">
            <a:avLst>
              <a:gd name="adj" fmla="val 769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6208" y="1591056"/>
            <a:ext cx="2286000" cy="512064"/>
          </a:xfrm>
          <a:prstGeom prst="rect">
            <a:avLst/>
          </a:prstGeom>
          <a:noFill/>
        </p:spPr>
        <p:txBody>
          <a:bodyPr wrap="square" lIns="0" rIns="0" tIns="0" bIns="0" anchor="t">
            <a:spAutoFit/>
          </a:bodyPr>
          <a:lstStyle/>
          <a:p>
            <a:pPr algn="l"/>
            <a:r>
              <a:rPr sz="3000" b="1">
                <a:solidFill>
                  <a:srgbClr val="1A7F4B"/>
                </a:solidFill>
                <a:latin typeface="Calibri"/>
              </a:rPr>
              <a:t>0</a:t>
            </a:r>
          </a:p>
        </p:txBody>
      </p:sp>
      <p:sp>
        <p:nvSpPr>
          <p:cNvPr id="12" name="TextBox 11"/>
          <p:cNvSpPr txBox="1"/>
          <p:nvPr/>
        </p:nvSpPr>
        <p:spPr>
          <a:xfrm>
            <a:off x="6236208" y="2157984"/>
            <a:ext cx="2286000" cy="365760"/>
          </a:xfrm>
          <a:prstGeom prst="rect">
            <a:avLst/>
          </a:prstGeom>
          <a:noFill/>
        </p:spPr>
        <p:txBody>
          <a:bodyPr wrap="square" lIns="0" rIns="0" tIns="0" bIns="0" anchor="t">
            <a:spAutoFit/>
          </a:bodyPr>
          <a:lstStyle/>
          <a:p>
            <a:pPr algn="l"/>
            <a:r>
              <a:rPr sz="1100" b="0">
                <a:solidFill>
                  <a:srgbClr val="6B6480"/>
                </a:solidFill>
                <a:latin typeface="Calibri"/>
              </a:rPr>
              <a:t>Workflow Analyzer errors</a:t>
            </a:r>
          </a:p>
        </p:txBody>
      </p:sp>
      <p:sp>
        <p:nvSpPr>
          <p:cNvPr id="13" name="Rounded Rectangle 12"/>
          <p:cNvSpPr/>
          <p:nvPr/>
        </p:nvSpPr>
        <p:spPr>
          <a:xfrm>
            <a:off x="8796528" y="1463040"/>
            <a:ext cx="2615184" cy="1188720"/>
          </a:xfrm>
          <a:prstGeom prst="roundRect">
            <a:avLst>
              <a:gd name="adj" fmla="val 769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79407" y="1591056"/>
            <a:ext cx="2286000" cy="512064"/>
          </a:xfrm>
          <a:prstGeom prst="rect">
            <a:avLst/>
          </a:prstGeom>
          <a:noFill/>
        </p:spPr>
        <p:txBody>
          <a:bodyPr wrap="square" lIns="0" rIns="0" tIns="0" bIns="0" anchor="t">
            <a:spAutoFit/>
          </a:bodyPr>
          <a:lstStyle/>
          <a:p>
            <a:pPr algn="l"/>
            <a:r>
              <a:rPr sz="3000" b="1">
                <a:solidFill>
                  <a:srgbClr val="1A7F4B"/>
                </a:solidFill>
                <a:latin typeface="Calibri"/>
              </a:rPr>
              <a:t>58/58</a:t>
            </a:r>
          </a:p>
        </p:txBody>
      </p:sp>
      <p:sp>
        <p:nvSpPr>
          <p:cNvPr id="15" name="TextBox 14"/>
          <p:cNvSpPr txBox="1"/>
          <p:nvPr/>
        </p:nvSpPr>
        <p:spPr>
          <a:xfrm>
            <a:off x="8979407" y="2157984"/>
            <a:ext cx="2286000" cy="365760"/>
          </a:xfrm>
          <a:prstGeom prst="rect">
            <a:avLst/>
          </a:prstGeom>
          <a:noFill/>
        </p:spPr>
        <p:txBody>
          <a:bodyPr wrap="square" lIns="0" rIns="0" tIns="0" bIns="0" anchor="t">
            <a:spAutoFit/>
          </a:bodyPr>
          <a:lstStyle/>
          <a:p>
            <a:pPr algn="l"/>
            <a:r>
              <a:rPr sz="1100" b="0">
                <a:solidFill>
                  <a:srgbClr val="6B6480"/>
                </a:solidFill>
                <a:latin typeface="Calibri"/>
              </a:rPr>
              <a:t>Invoke Code bodies compile</a:t>
            </a:r>
          </a:p>
        </p:txBody>
      </p:sp>
      <p:sp>
        <p:nvSpPr>
          <p:cNvPr id="16" name="Rounded Rectangle 15"/>
          <p:cNvSpPr/>
          <p:nvPr/>
        </p:nvSpPr>
        <p:spPr>
          <a:xfrm>
            <a:off x="566928" y="2798064"/>
            <a:ext cx="5943600" cy="2798064"/>
          </a:xfrm>
          <a:prstGeom prst="roundRect">
            <a:avLst>
              <a:gd name="adj" fmla="val 3267"/>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962656"/>
            <a:ext cx="5486400" cy="274320"/>
          </a:xfrm>
          <a:prstGeom prst="rect">
            <a:avLst/>
          </a:prstGeom>
          <a:noFill/>
        </p:spPr>
        <p:txBody>
          <a:bodyPr wrap="square" lIns="0" rIns="0" tIns="0" bIns="0" anchor="t">
            <a:spAutoFit/>
          </a:bodyPr>
          <a:lstStyle/>
          <a:p>
            <a:pPr algn="l"/>
            <a:r>
              <a:rPr sz="1500" b="1">
                <a:solidFill>
                  <a:srgbClr val="2F1D63"/>
                </a:solidFill>
                <a:latin typeface="Calibri"/>
              </a:rPr>
              <a:t>Acceptance suite</a:t>
            </a:r>
          </a:p>
        </p:txBody>
      </p:sp>
      <p:sp>
        <p:nvSpPr>
          <p:cNvPr id="18" name="TextBox 17"/>
          <p:cNvSpPr txBox="1"/>
          <p:nvPr/>
        </p:nvSpPr>
        <p:spPr>
          <a:xfrm>
            <a:off x="786384" y="3310128"/>
            <a:ext cx="182880" cy="219456"/>
          </a:xfrm>
          <a:prstGeom prst="rect">
            <a:avLst/>
          </a:prstGeom>
          <a:noFill/>
        </p:spPr>
        <p:txBody>
          <a:bodyPr wrap="square" lIns="0" rIns="0" tIns="0" bIns="0" anchor="t">
            <a:spAutoFit/>
          </a:bodyPr>
          <a:lstStyle/>
          <a:p>
            <a:pPr algn="l"/>
            <a:r>
              <a:rPr sz="1050" b="1">
                <a:solidFill>
                  <a:srgbClr val="1A7F4B"/>
                </a:solidFill>
                <a:latin typeface="Calibri"/>
              </a:rPr>
              <a:t>✓</a:t>
            </a:r>
          </a:p>
        </p:txBody>
      </p:sp>
      <p:sp>
        <p:nvSpPr>
          <p:cNvPr id="19" name="TextBox 18"/>
          <p:cNvSpPr txBox="1"/>
          <p:nvPr/>
        </p:nvSpPr>
        <p:spPr>
          <a:xfrm>
            <a:off x="1024128" y="3310128"/>
            <a:ext cx="5303520" cy="219456"/>
          </a:xfrm>
          <a:prstGeom prst="rect">
            <a:avLst/>
          </a:prstGeom>
          <a:noFill/>
        </p:spPr>
        <p:txBody>
          <a:bodyPr wrap="square" lIns="0" rIns="0" tIns="0" bIns="0" anchor="t">
            <a:spAutoFit/>
          </a:bodyPr>
          <a:lstStyle/>
          <a:p>
            <a:pPr algn="l"/>
            <a:r>
              <a:rPr sz="1050" b="0">
                <a:solidFill>
                  <a:srgbClr val="241C3A"/>
                </a:solidFill>
                <a:latin typeface="Calibri"/>
              </a:rPr>
              <a:t>Seeded anomalies present and the ABI decodes</a:t>
            </a:r>
          </a:p>
        </p:txBody>
      </p:sp>
      <p:sp>
        <p:nvSpPr>
          <p:cNvPr id="20" name="TextBox 19"/>
          <p:cNvSpPr txBox="1"/>
          <p:nvPr/>
        </p:nvSpPr>
        <p:spPr>
          <a:xfrm>
            <a:off x="786384" y="3538728"/>
            <a:ext cx="182880" cy="219456"/>
          </a:xfrm>
          <a:prstGeom prst="rect">
            <a:avLst/>
          </a:prstGeom>
          <a:noFill/>
        </p:spPr>
        <p:txBody>
          <a:bodyPr wrap="square" lIns="0" rIns="0" tIns="0" bIns="0" anchor="t">
            <a:spAutoFit/>
          </a:bodyPr>
          <a:lstStyle/>
          <a:p>
            <a:pPr algn="l"/>
            <a:r>
              <a:rPr sz="1050" b="1">
                <a:solidFill>
                  <a:srgbClr val="1A7F4B"/>
                </a:solidFill>
                <a:latin typeface="Calibri"/>
              </a:rPr>
              <a:t>✓</a:t>
            </a:r>
          </a:p>
        </p:txBody>
      </p:sp>
      <p:sp>
        <p:nvSpPr>
          <p:cNvPr id="21" name="TextBox 20"/>
          <p:cNvSpPr txBox="1"/>
          <p:nvPr/>
        </p:nvSpPr>
        <p:spPr>
          <a:xfrm>
            <a:off x="1024128" y="3538728"/>
            <a:ext cx="5303520" cy="219456"/>
          </a:xfrm>
          <a:prstGeom prst="rect">
            <a:avLst/>
          </a:prstGeom>
          <a:noFill/>
        </p:spPr>
        <p:txBody>
          <a:bodyPr wrap="square" lIns="0" rIns="0" tIns="0" bIns="0" anchor="t">
            <a:spAutoFit/>
          </a:bodyPr>
          <a:lstStyle/>
          <a:p>
            <a:pPr algn="l"/>
            <a:r>
              <a:rPr sz="1050" b="0">
                <a:solidFill>
                  <a:srgbClr val="241C3A"/>
                </a:solidFill>
                <a:latin typeface="Calibri"/>
              </a:rPr>
              <a:t>All six rules fire with the expected counts</a:t>
            </a:r>
          </a:p>
        </p:txBody>
      </p:sp>
      <p:sp>
        <p:nvSpPr>
          <p:cNvPr id="22" name="TextBox 21"/>
          <p:cNvSpPr txBox="1"/>
          <p:nvPr/>
        </p:nvSpPr>
        <p:spPr>
          <a:xfrm>
            <a:off x="786384" y="3767328"/>
            <a:ext cx="182880" cy="219456"/>
          </a:xfrm>
          <a:prstGeom prst="rect">
            <a:avLst/>
          </a:prstGeom>
          <a:noFill/>
        </p:spPr>
        <p:txBody>
          <a:bodyPr wrap="square" lIns="0" rIns="0" tIns="0" bIns="0" anchor="t">
            <a:spAutoFit/>
          </a:bodyPr>
          <a:lstStyle/>
          <a:p>
            <a:pPr algn="l"/>
            <a:r>
              <a:rPr sz="1050" b="1">
                <a:solidFill>
                  <a:srgbClr val="1A7F4B"/>
                </a:solidFill>
                <a:latin typeface="Calibri"/>
              </a:rPr>
              <a:t>✓</a:t>
            </a:r>
          </a:p>
        </p:txBody>
      </p:sp>
      <p:sp>
        <p:nvSpPr>
          <p:cNvPr id="23" name="TextBox 22"/>
          <p:cNvSpPr txBox="1"/>
          <p:nvPr/>
        </p:nvSpPr>
        <p:spPr>
          <a:xfrm>
            <a:off x="1024128" y="3767328"/>
            <a:ext cx="5303520" cy="219456"/>
          </a:xfrm>
          <a:prstGeom prst="rect">
            <a:avLst/>
          </a:prstGeom>
          <a:noFill/>
        </p:spPr>
        <p:txBody>
          <a:bodyPr wrap="square" lIns="0" rIns="0" tIns="0" bIns="0" anchor="t">
            <a:spAutoFit/>
          </a:bodyPr>
          <a:lstStyle/>
          <a:p>
            <a:pPr algn="l"/>
            <a:r>
              <a:rPr sz="1050" b="0">
                <a:solidFill>
                  <a:srgbClr val="241C3A"/>
                </a:solidFill>
                <a:latin typeface="Calibri"/>
              </a:rPr>
              <a:t>A rule disabled in Excel is skipped at runtime</a:t>
            </a:r>
          </a:p>
        </p:txBody>
      </p:sp>
      <p:sp>
        <p:nvSpPr>
          <p:cNvPr id="24" name="TextBox 23"/>
          <p:cNvSpPr txBox="1"/>
          <p:nvPr/>
        </p:nvSpPr>
        <p:spPr>
          <a:xfrm>
            <a:off x="786384" y="3995928"/>
            <a:ext cx="182880" cy="219456"/>
          </a:xfrm>
          <a:prstGeom prst="rect">
            <a:avLst/>
          </a:prstGeom>
          <a:noFill/>
        </p:spPr>
        <p:txBody>
          <a:bodyPr wrap="square" lIns="0" rIns="0" tIns="0" bIns="0" anchor="t">
            <a:spAutoFit/>
          </a:bodyPr>
          <a:lstStyle/>
          <a:p>
            <a:pPr algn="l"/>
            <a:r>
              <a:rPr sz="1050" b="1">
                <a:solidFill>
                  <a:srgbClr val="1A7F4B"/>
                </a:solidFill>
                <a:latin typeface="Calibri"/>
              </a:rPr>
              <a:t>✓</a:t>
            </a:r>
          </a:p>
        </p:txBody>
      </p:sp>
      <p:sp>
        <p:nvSpPr>
          <p:cNvPr id="25" name="TextBox 24"/>
          <p:cNvSpPr txBox="1"/>
          <p:nvPr/>
        </p:nvSpPr>
        <p:spPr>
          <a:xfrm>
            <a:off x="1024128" y="3995928"/>
            <a:ext cx="5303520" cy="219456"/>
          </a:xfrm>
          <a:prstGeom prst="rect">
            <a:avLst/>
          </a:prstGeom>
          <a:noFill/>
        </p:spPr>
        <p:txBody>
          <a:bodyPr wrap="square" lIns="0" rIns="0" tIns="0" bIns="0" anchor="t">
            <a:spAutoFit/>
          </a:bodyPr>
          <a:lstStyle/>
          <a:p>
            <a:pPr algn="l"/>
            <a:r>
              <a:rPr sz="1050" b="0">
                <a:solidFill>
                  <a:srgbClr val="241C3A"/>
                </a:solidFill>
                <a:latin typeface="Calibri"/>
              </a:rPr>
              <a:t>Identical result on a second chain and a third feed</a:t>
            </a:r>
          </a:p>
        </p:txBody>
      </p:sp>
      <p:sp>
        <p:nvSpPr>
          <p:cNvPr id="26" name="TextBox 25"/>
          <p:cNvSpPr txBox="1"/>
          <p:nvPr/>
        </p:nvSpPr>
        <p:spPr>
          <a:xfrm>
            <a:off x="786384" y="4224528"/>
            <a:ext cx="182880" cy="219456"/>
          </a:xfrm>
          <a:prstGeom prst="rect">
            <a:avLst/>
          </a:prstGeom>
          <a:noFill/>
        </p:spPr>
        <p:txBody>
          <a:bodyPr wrap="square" lIns="0" rIns="0" tIns="0" bIns="0" anchor="t">
            <a:spAutoFit/>
          </a:bodyPr>
          <a:lstStyle/>
          <a:p>
            <a:pPr algn="l"/>
            <a:r>
              <a:rPr sz="1050" b="1">
                <a:solidFill>
                  <a:srgbClr val="1A7F4B"/>
                </a:solidFill>
                <a:latin typeface="Calibri"/>
              </a:rPr>
              <a:t>✓</a:t>
            </a:r>
          </a:p>
        </p:txBody>
      </p:sp>
      <p:sp>
        <p:nvSpPr>
          <p:cNvPr id="27" name="TextBox 26"/>
          <p:cNvSpPr txBox="1"/>
          <p:nvPr/>
        </p:nvSpPr>
        <p:spPr>
          <a:xfrm>
            <a:off x="1024128" y="4224528"/>
            <a:ext cx="5303520" cy="219456"/>
          </a:xfrm>
          <a:prstGeom prst="rect">
            <a:avLst/>
          </a:prstGeom>
          <a:noFill/>
        </p:spPr>
        <p:txBody>
          <a:bodyPr wrap="square" lIns="0" rIns="0" tIns="0" bIns="0" anchor="t">
            <a:spAutoFit/>
          </a:bodyPr>
          <a:lstStyle/>
          <a:p>
            <a:pPr algn="l"/>
            <a:r>
              <a:rPr sz="1050" b="0">
                <a:solidFill>
                  <a:srgbClr val="241C3A"/>
                </a:solidFill>
                <a:latin typeface="Calibri"/>
              </a:rPr>
              <a:t>Excel, PDF, dashboard and KPI artefacts produced</a:t>
            </a:r>
          </a:p>
        </p:txBody>
      </p:sp>
      <p:sp>
        <p:nvSpPr>
          <p:cNvPr id="28" name="TextBox 27"/>
          <p:cNvSpPr txBox="1"/>
          <p:nvPr/>
        </p:nvSpPr>
        <p:spPr>
          <a:xfrm>
            <a:off x="786384" y="4453128"/>
            <a:ext cx="182880" cy="219456"/>
          </a:xfrm>
          <a:prstGeom prst="rect">
            <a:avLst/>
          </a:prstGeom>
          <a:noFill/>
        </p:spPr>
        <p:txBody>
          <a:bodyPr wrap="square" lIns="0" rIns="0" tIns="0" bIns="0" anchor="t">
            <a:spAutoFit/>
          </a:bodyPr>
          <a:lstStyle/>
          <a:p>
            <a:pPr algn="l"/>
            <a:r>
              <a:rPr sz="1050" b="1">
                <a:solidFill>
                  <a:srgbClr val="1A7F4B"/>
                </a:solidFill>
                <a:latin typeface="Calibri"/>
              </a:rPr>
              <a:t>✓</a:t>
            </a:r>
          </a:p>
        </p:txBody>
      </p:sp>
      <p:sp>
        <p:nvSpPr>
          <p:cNvPr id="29" name="TextBox 28"/>
          <p:cNvSpPr txBox="1"/>
          <p:nvPr/>
        </p:nvSpPr>
        <p:spPr>
          <a:xfrm>
            <a:off x="1024128" y="4453128"/>
            <a:ext cx="5303520" cy="219456"/>
          </a:xfrm>
          <a:prstGeom prst="rect">
            <a:avLst/>
          </a:prstGeom>
          <a:noFill/>
        </p:spPr>
        <p:txBody>
          <a:bodyPr wrap="square" lIns="0" rIns="0" tIns="0" bIns="0" anchor="t">
            <a:spAutoFit/>
          </a:bodyPr>
          <a:lstStyle/>
          <a:p>
            <a:pPr algn="l"/>
            <a:r>
              <a:rPr sz="1050" b="0">
                <a:solidFill>
                  <a:srgbClr val="241C3A"/>
                </a:solidFill>
                <a:latin typeface="Calibri"/>
              </a:rPr>
              <a:t>An edited audit log is detected at the right line</a:t>
            </a:r>
          </a:p>
        </p:txBody>
      </p:sp>
      <p:sp>
        <p:nvSpPr>
          <p:cNvPr id="30" name="TextBox 29"/>
          <p:cNvSpPr txBox="1"/>
          <p:nvPr/>
        </p:nvSpPr>
        <p:spPr>
          <a:xfrm>
            <a:off x="786384" y="4681728"/>
            <a:ext cx="182880" cy="219456"/>
          </a:xfrm>
          <a:prstGeom prst="rect">
            <a:avLst/>
          </a:prstGeom>
          <a:noFill/>
        </p:spPr>
        <p:txBody>
          <a:bodyPr wrap="square" lIns="0" rIns="0" tIns="0" bIns="0" anchor="t">
            <a:spAutoFit/>
          </a:bodyPr>
          <a:lstStyle/>
          <a:p>
            <a:pPr algn="l"/>
            <a:r>
              <a:rPr sz="1050" b="1">
                <a:solidFill>
                  <a:srgbClr val="1A7F4B"/>
                </a:solidFill>
                <a:latin typeface="Calibri"/>
              </a:rPr>
              <a:t>✓</a:t>
            </a:r>
          </a:p>
        </p:txBody>
      </p:sp>
      <p:sp>
        <p:nvSpPr>
          <p:cNvPr id="31" name="TextBox 30"/>
          <p:cNvSpPr txBox="1"/>
          <p:nvPr/>
        </p:nvSpPr>
        <p:spPr>
          <a:xfrm>
            <a:off x="1024128" y="4681728"/>
            <a:ext cx="5303520" cy="219456"/>
          </a:xfrm>
          <a:prstGeom prst="rect">
            <a:avLst/>
          </a:prstGeom>
          <a:noFill/>
        </p:spPr>
        <p:txBody>
          <a:bodyPr wrap="square" lIns="0" rIns="0" tIns="0" bIns="0" anchor="t">
            <a:spAutoFit/>
          </a:bodyPr>
          <a:lstStyle/>
          <a:p>
            <a:pPr algn="l"/>
            <a:r>
              <a:rPr sz="1050" b="0">
                <a:solidFill>
                  <a:srgbClr val="241C3A"/>
                </a:solidFill>
                <a:latin typeface="Calibri"/>
              </a:rPr>
              <a:t>All three extraction modes agree</a:t>
            </a:r>
          </a:p>
        </p:txBody>
      </p:sp>
      <p:sp>
        <p:nvSpPr>
          <p:cNvPr id="32" name="TextBox 31"/>
          <p:cNvSpPr txBox="1"/>
          <p:nvPr/>
        </p:nvSpPr>
        <p:spPr>
          <a:xfrm>
            <a:off x="786384" y="4910328"/>
            <a:ext cx="182880" cy="219456"/>
          </a:xfrm>
          <a:prstGeom prst="rect">
            <a:avLst/>
          </a:prstGeom>
          <a:noFill/>
        </p:spPr>
        <p:txBody>
          <a:bodyPr wrap="square" lIns="0" rIns="0" tIns="0" bIns="0" anchor="t">
            <a:spAutoFit/>
          </a:bodyPr>
          <a:lstStyle/>
          <a:p>
            <a:pPr algn="l"/>
            <a:r>
              <a:rPr sz="1050" b="1">
                <a:solidFill>
                  <a:srgbClr val="1A7F4B"/>
                </a:solidFill>
                <a:latin typeface="Calibri"/>
              </a:rPr>
              <a:t>✓</a:t>
            </a:r>
          </a:p>
        </p:txBody>
      </p:sp>
      <p:sp>
        <p:nvSpPr>
          <p:cNvPr id="33" name="TextBox 32"/>
          <p:cNvSpPr txBox="1"/>
          <p:nvPr/>
        </p:nvSpPr>
        <p:spPr>
          <a:xfrm>
            <a:off x="1024128" y="4910328"/>
            <a:ext cx="5303520" cy="219456"/>
          </a:xfrm>
          <a:prstGeom prst="rect">
            <a:avLst/>
          </a:prstGeom>
          <a:noFill/>
        </p:spPr>
        <p:txBody>
          <a:bodyPr wrap="square" lIns="0" rIns="0" tIns="0" bIns="0" anchor="t">
            <a:spAutoFit/>
          </a:bodyPr>
          <a:lstStyle/>
          <a:p>
            <a:pPr algn="l"/>
            <a:r>
              <a:rPr sz="1050" b="0">
                <a:solidFill>
                  <a:srgbClr val="241C3A"/>
                </a:solidFill>
                <a:latin typeface="Calibri"/>
              </a:rPr>
              <a:t>Dispatch splits 48 transactions into 12 work items</a:t>
            </a:r>
          </a:p>
        </p:txBody>
      </p:sp>
      <p:sp>
        <p:nvSpPr>
          <p:cNvPr id="34" name="TextBox 33"/>
          <p:cNvSpPr txBox="1"/>
          <p:nvPr/>
        </p:nvSpPr>
        <p:spPr>
          <a:xfrm>
            <a:off x="786384" y="5138928"/>
            <a:ext cx="182880" cy="219456"/>
          </a:xfrm>
          <a:prstGeom prst="rect">
            <a:avLst/>
          </a:prstGeom>
          <a:noFill/>
        </p:spPr>
        <p:txBody>
          <a:bodyPr wrap="square" lIns="0" rIns="0" tIns="0" bIns="0" anchor="t">
            <a:spAutoFit/>
          </a:bodyPr>
          <a:lstStyle/>
          <a:p>
            <a:pPr algn="l"/>
            <a:r>
              <a:rPr sz="1050" b="1">
                <a:solidFill>
                  <a:srgbClr val="1A7F4B"/>
                </a:solidFill>
                <a:latin typeface="Calibri"/>
              </a:rPr>
              <a:t>✓</a:t>
            </a:r>
          </a:p>
        </p:txBody>
      </p:sp>
      <p:sp>
        <p:nvSpPr>
          <p:cNvPr id="35" name="TextBox 34"/>
          <p:cNvSpPr txBox="1"/>
          <p:nvPr/>
        </p:nvSpPr>
        <p:spPr>
          <a:xfrm>
            <a:off x="1024128" y="5138928"/>
            <a:ext cx="5303520" cy="219456"/>
          </a:xfrm>
          <a:prstGeom prst="rect">
            <a:avLst/>
          </a:prstGeom>
          <a:noFill/>
        </p:spPr>
        <p:txBody>
          <a:bodyPr wrap="square" lIns="0" rIns="0" tIns="0" bIns="0" anchor="t">
            <a:spAutoFit/>
          </a:bodyPr>
          <a:lstStyle/>
          <a:p>
            <a:pPr algn="l"/>
            <a:r>
              <a:rPr sz="1050" b="0">
                <a:solidFill>
                  <a:srgbClr val="241C3A"/>
                </a:solidFill>
                <a:latin typeface="Calibri"/>
              </a:rPr>
              <a:t>The Performer works through the queue and finalises the run</a:t>
            </a:r>
          </a:p>
        </p:txBody>
      </p:sp>
      <p:sp>
        <p:nvSpPr>
          <p:cNvPr id="36" name="TextBox 35"/>
          <p:cNvSpPr txBox="1"/>
          <p:nvPr/>
        </p:nvSpPr>
        <p:spPr>
          <a:xfrm>
            <a:off x="786384" y="5367528"/>
            <a:ext cx="182880" cy="219456"/>
          </a:xfrm>
          <a:prstGeom prst="rect">
            <a:avLst/>
          </a:prstGeom>
          <a:noFill/>
        </p:spPr>
        <p:txBody>
          <a:bodyPr wrap="square" lIns="0" rIns="0" tIns="0" bIns="0" anchor="t">
            <a:spAutoFit/>
          </a:bodyPr>
          <a:lstStyle/>
          <a:p>
            <a:pPr algn="l"/>
            <a:r>
              <a:rPr sz="1050" b="1">
                <a:solidFill>
                  <a:srgbClr val="1A7F4B"/>
                </a:solidFill>
                <a:latin typeface="Calibri"/>
              </a:rPr>
              <a:t>✓</a:t>
            </a:r>
          </a:p>
        </p:txBody>
      </p:sp>
      <p:sp>
        <p:nvSpPr>
          <p:cNvPr id="37" name="TextBox 36"/>
          <p:cNvSpPr txBox="1"/>
          <p:nvPr/>
        </p:nvSpPr>
        <p:spPr>
          <a:xfrm>
            <a:off x="1024128" y="5367528"/>
            <a:ext cx="5303520" cy="219456"/>
          </a:xfrm>
          <a:prstGeom prst="rect">
            <a:avLst/>
          </a:prstGeom>
          <a:noFill/>
        </p:spPr>
        <p:txBody>
          <a:bodyPr wrap="square" lIns="0" rIns="0" tIns="0" bIns="0" anchor="t">
            <a:spAutoFit/>
          </a:bodyPr>
          <a:lstStyle/>
          <a:p>
            <a:pPr algn="l"/>
            <a:r>
              <a:rPr sz="1050" b="0">
                <a:solidFill>
                  <a:srgbClr val="241C3A"/>
                </a:solidFill>
                <a:latin typeface="Calibri"/>
              </a:rPr>
              <a:t>Alerts delivered to a local SMTP and webhook capture server</a:t>
            </a:r>
          </a:p>
        </p:txBody>
      </p:sp>
      <p:sp>
        <p:nvSpPr>
          <p:cNvPr id="38" name="Rounded Rectangle 37"/>
          <p:cNvSpPr/>
          <p:nvPr/>
        </p:nvSpPr>
        <p:spPr>
          <a:xfrm>
            <a:off x="6702552" y="2798064"/>
            <a:ext cx="4956048" cy="1335024"/>
          </a:xfrm>
          <a:prstGeom prst="roundRect">
            <a:avLst>
              <a:gd name="adj" fmla="val 6849"/>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22008" y="2962656"/>
            <a:ext cx="4572000" cy="274320"/>
          </a:xfrm>
          <a:prstGeom prst="rect">
            <a:avLst/>
          </a:prstGeom>
          <a:noFill/>
        </p:spPr>
        <p:txBody>
          <a:bodyPr wrap="square" lIns="0" rIns="0" tIns="0" bIns="0" anchor="t">
            <a:spAutoFit/>
          </a:bodyPr>
          <a:lstStyle/>
          <a:p>
            <a:pPr algn="l"/>
            <a:r>
              <a:rPr sz="1400" b="1">
                <a:solidFill>
                  <a:srgbClr val="2F1D63"/>
                </a:solidFill>
                <a:latin typeface="Calibri"/>
              </a:rPr>
              <a:t>Test cases in Studio's Test Explorer</a:t>
            </a:r>
          </a:p>
        </p:txBody>
      </p:sp>
      <p:sp>
        <p:nvSpPr>
          <p:cNvPr id="40" name="TextBox 39"/>
          <p:cNvSpPr txBox="1"/>
          <p:nvPr/>
        </p:nvSpPr>
        <p:spPr>
          <a:xfrm>
            <a:off x="6922008" y="3291840"/>
            <a:ext cx="4572000" cy="731520"/>
          </a:xfrm>
          <a:prstGeom prst="rect">
            <a:avLst/>
          </a:prstGeom>
          <a:noFill/>
        </p:spPr>
        <p:txBody>
          <a:bodyPr wrap="square" lIns="0" rIns="0" tIns="0" bIns="0" anchor="t">
            <a:spAutoFit/>
          </a:bodyPr>
          <a:lstStyle/>
          <a:p>
            <a:pPr algn="l"/>
            <a:r>
              <a:rPr sz="1050" b="0">
                <a:solidFill>
                  <a:srgbClr val="241C3A"/>
                </a:solidFill>
                <a:latin typeface="Calibri"/>
              </a:rPr>
              <a:t>Six drive one validation rule each against fixtures built inside the test, so a failure points at exactly one rule. The other six cover audit-chain tampering, field-mapping equivalence across two schemas, PDF structure, the review form's timeout, the Teams and Slack payloads, and ledger noise.</a:t>
            </a:r>
          </a:p>
        </p:txBody>
      </p:sp>
      <p:sp>
        <p:nvSpPr>
          <p:cNvPr id="41" name="Rounded Rectangle 40"/>
          <p:cNvSpPr/>
          <p:nvPr/>
        </p:nvSpPr>
        <p:spPr>
          <a:xfrm>
            <a:off x="6702552" y="4261104"/>
            <a:ext cx="4956048" cy="1335024"/>
          </a:xfrm>
          <a:prstGeom prst="roundRect">
            <a:avLst>
              <a:gd name="adj" fmla="val 3000"/>
            </a:avLst>
          </a:prstGeom>
          <a:solidFill>
            <a:srgbClr val="E4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22008" y="4425696"/>
            <a:ext cx="4572000" cy="274320"/>
          </a:xfrm>
          <a:prstGeom prst="rect">
            <a:avLst/>
          </a:prstGeom>
          <a:noFill/>
        </p:spPr>
        <p:txBody>
          <a:bodyPr wrap="square" lIns="0" rIns="0" tIns="0" bIns="0" anchor="t">
            <a:spAutoFit/>
          </a:bodyPr>
          <a:lstStyle/>
          <a:p>
            <a:pPr algn="l"/>
            <a:r>
              <a:rPr sz="1300" b="1">
                <a:solidFill>
                  <a:srgbClr val="1A7F4B"/>
                </a:solidFill>
                <a:latin typeface="Calibri"/>
              </a:rPr>
              <a:t>A test found a real bug</a:t>
            </a:r>
          </a:p>
        </p:txBody>
      </p:sp>
      <p:sp>
        <p:nvSpPr>
          <p:cNvPr id="43" name="TextBox 42"/>
          <p:cNvSpPr txBox="1"/>
          <p:nvPr/>
        </p:nvSpPr>
        <p:spPr>
          <a:xfrm>
            <a:off x="6922008" y="4754880"/>
            <a:ext cx="4572000" cy="731520"/>
          </a:xfrm>
          <a:prstGeom prst="rect">
            <a:avLst/>
          </a:prstGeom>
          <a:noFill/>
        </p:spPr>
        <p:txBody>
          <a:bodyPr wrap="square" lIns="0" rIns="0" tIns="0" bIns="0" anchor="t">
            <a:spAutoFit/>
          </a:bodyPr>
          <a:lstStyle/>
          <a:p>
            <a:pPr algn="l"/>
            <a:r>
              <a:rPr sz="1050" b="0">
                <a:solidFill>
                  <a:srgbClr val="15663C"/>
                </a:solidFill>
                <a:latin typeface="Calibri"/>
              </a:rPr>
              <a:t>While writing the duplicate-detection test we discovered R4 assumed a transaction hash was at least twelve characters, and it crashed on a malformed one. Found, fixed and now covered - which is what tests are for.</a:t>
            </a:r>
          </a:p>
        </p:txBody>
      </p:sp>
      <p:sp>
        <p:nvSpPr>
          <p:cNvPr id="44" name="Rounded Rectangle 43"/>
          <p:cNvSpPr/>
          <p:nvPr/>
        </p:nvSpPr>
        <p:spPr>
          <a:xfrm>
            <a:off x="566928" y="5742432"/>
            <a:ext cx="11055096" cy="475488"/>
          </a:xfrm>
          <a:prstGeom prst="roundRect">
            <a:avLst>
              <a:gd name="adj" fmla="val 19230"/>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5870448"/>
            <a:ext cx="10515600" cy="274320"/>
          </a:xfrm>
          <a:prstGeom prst="rect">
            <a:avLst/>
          </a:prstGeom>
          <a:noFill/>
        </p:spPr>
        <p:txBody>
          <a:bodyPr wrap="square" lIns="0" rIns="0" tIns="0" bIns="0" anchor="t">
            <a:spAutoFit/>
          </a:bodyPr>
          <a:lstStyle/>
          <a:p>
            <a:pPr algn="l"/>
            <a:r>
              <a:rPr sz="1100" b="1">
                <a:solidFill>
                  <a:srgbClr val="2F1D63"/>
                </a:solidFill>
                <a:latin typeface="Courier New"/>
              </a:rPr>
              <a:t>powershell -ExecutionPolicy Bypass -File tools\run_all_checks.ps1</a:t>
            </a:r>
          </a:p>
        </p:txBody>
      </p:sp>
      <p:sp>
        <p:nvSpPr>
          <p:cNvPr id="46" name="TextBox 45"/>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FA"/>
        </a:solidFill>
        <a:effectLst/>
      </p:bgPr>
    </p:bg>
    <p:spTree>
      <p:nvGrpSpPr>
        <p:cNvPr id="1" name=""/>
        <p:cNvGrpSpPr/>
        <p:nvPr/>
      </p:nvGrpSpPr>
      <p:grpSpPr/>
      <p:sp>
        <p:nvSpPr>
          <p:cNvPr id="2" name="TextBox 1"/>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9A81DF"/>
                </a:solidFill>
                <a:latin typeface="Calibri"/>
              </a:rPr>
              <a:t>STATED PLAINLY SO NOTHING IS OVERCLAIMED</a:t>
            </a:r>
          </a:p>
        </p:txBody>
      </p:sp>
      <p:sp>
        <p:nvSpPr>
          <p:cNvPr id="3" name="TextBox 2"/>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2F1D63"/>
                </a:solidFill>
                <a:latin typeface="Calibri"/>
              </a:rPr>
              <a:t>What works, and what does not</a:t>
            </a:r>
          </a:p>
        </p:txBody>
      </p:sp>
      <p:sp>
        <p:nvSpPr>
          <p:cNvPr id="4" name="Rounded Rectangle 3"/>
          <p:cNvSpPr/>
          <p:nvPr/>
        </p:nvSpPr>
        <p:spPr>
          <a:xfrm>
            <a:off x="566928" y="1463040"/>
            <a:ext cx="5943600" cy="4114800"/>
          </a:xfrm>
          <a:prstGeom prst="roundRect">
            <a:avLst>
              <a:gd name="adj" fmla="val 222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86384" y="1627632"/>
            <a:ext cx="2011680" cy="292608"/>
          </a:xfrm>
          <a:prstGeom prst="roundRect">
            <a:avLst>
              <a:gd name="adj" fmla="val 50000"/>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655064"/>
            <a:ext cx="2011680" cy="237744"/>
          </a:xfrm>
          <a:prstGeom prst="rect">
            <a:avLst/>
          </a:prstGeom>
          <a:noFill/>
        </p:spPr>
        <p:txBody>
          <a:bodyPr wrap="square" lIns="0" rIns="0" tIns="0" bIns="0" anchor="t">
            <a:spAutoFit/>
          </a:bodyPr>
          <a:lstStyle/>
          <a:p>
            <a:pPr algn="ctr"/>
            <a:r>
              <a:rPr sz="950" b="1">
                <a:solidFill>
                  <a:srgbClr val="FFFFFF"/>
                </a:solidFill>
                <a:latin typeface="Calibri"/>
              </a:rPr>
              <a:t>EXECUTED AND VERIFIED</a:t>
            </a:r>
          </a:p>
        </p:txBody>
      </p:sp>
      <p:sp>
        <p:nvSpPr>
          <p:cNvPr id="7" name="TextBox 6"/>
          <p:cNvSpPr txBox="1"/>
          <p:nvPr/>
        </p:nvSpPr>
        <p:spPr>
          <a:xfrm>
            <a:off x="786384" y="2066543"/>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8" name="TextBox 7"/>
          <p:cNvSpPr txBox="1"/>
          <p:nvPr/>
        </p:nvSpPr>
        <p:spPr>
          <a:xfrm>
            <a:off x="1024128" y="2066543"/>
            <a:ext cx="5303520" cy="237744"/>
          </a:xfrm>
          <a:prstGeom prst="rect">
            <a:avLst/>
          </a:prstGeom>
          <a:noFill/>
        </p:spPr>
        <p:txBody>
          <a:bodyPr wrap="square" lIns="0" rIns="0" tIns="0" bIns="0" anchor="t">
            <a:spAutoFit/>
          </a:bodyPr>
          <a:lstStyle/>
          <a:p>
            <a:pPr algn="l"/>
            <a:r>
              <a:rPr sz="1050" b="0">
                <a:solidFill>
                  <a:srgbClr val="241C3A"/>
                </a:solidFill>
                <a:latin typeface="Calibri"/>
              </a:rPr>
              <a:t>Full pipeline end to end, 48 transactions in 21 seconds</a:t>
            </a:r>
          </a:p>
        </p:txBody>
      </p:sp>
      <p:sp>
        <p:nvSpPr>
          <p:cNvPr id="9" name="TextBox 8"/>
          <p:cNvSpPr txBox="1"/>
          <p:nvPr/>
        </p:nvSpPr>
        <p:spPr>
          <a:xfrm>
            <a:off x="786384" y="2340863"/>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10" name="TextBox 9"/>
          <p:cNvSpPr txBox="1"/>
          <p:nvPr/>
        </p:nvSpPr>
        <p:spPr>
          <a:xfrm>
            <a:off x="1024128" y="2340863"/>
            <a:ext cx="5303520" cy="237744"/>
          </a:xfrm>
          <a:prstGeom prst="rect">
            <a:avLst/>
          </a:prstGeom>
          <a:noFill/>
        </p:spPr>
        <p:txBody>
          <a:bodyPr wrap="square" lIns="0" rIns="0" tIns="0" bIns="0" anchor="t">
            <a:spAutoFit/>
          </a:bodyPr>
          <a:lstStyle/>
          <a:p>
            <a:pPr algn="l"/>
            <a:r>
              <a:rPr sz="1050" b="0">
                <a:solidFill>
                  <a:srgbClr val="241C3A"/>
                </a:solidFill>
                <a:latin typeface="Calibri"/>
              </a:rPr>
              <a:t>All six validation rules, against an independent oracle</a:t>
            </a:r>
          </a:p>
        </p:txBody>
      </p:sp>
      <p:sp>
        <p:nvSpPr>
          <p:cNvPr id="11" name="TextBox 10"/>
          <p:cNvSpPr txBox="1"/>
          <p:nvPr/>
        </p:nvSpPr>
        <p:spPr>
          <a:xfrm>
            <a:off x="786384" y="2615184"/>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12" name="TextBox 11"/>
          <p:cNvSpPr txBox="1"/>
          <p:nvPr/>
        </p:nvSpPr>
        <p:spPr>
          <a:xfrm>
            <a:off x="1024128" y="2615184"/>
            <a:ext cx="5303520" cy="237744"/>
          </a:xfrm>
          <a:prstGeom prst="rect">
            <a:avLst/>
          </a:prstGeom>
          <a:noFill/>
        </p:spPr>
        <p:txBody>
          <a:bodyPr wrap="square" lIns="0" rIns="0" tIns="0" bIns="0" anchor="t">
            <a:spAutoFit/>
          </a:bodyPr>
          <a:lstStyle/>
          <a:p>
            <a:pPr algn="l"/>
            <a:r>
              <a:rPr sz="1050" b="0">
                <a:solidFill>
                  <a:srgbClr val="241C3A"/>
                </a:solidFill>
                <a:latin typeface="Calibri"/>
              </a:rPr>
              <a:t>Three extraction modes producing identical results</a:t>
            </a:r>
          </a:p>
        </p:txBody>
      </p:sp>
      <p:sp>
        <p:nvSpPr>
          <p:cNvPr id="13" name="TextBox 12"/>
          <p:cNvSpPr txBox="1"/>
          <p:nvPr/>
        </p:nvSpPr>
        <p:spPr>
          <a:xfrm>
            <a:off x="786384" y="2889503"/>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14" name="TextBox 13"/>
          <p:cNvSpPr txBox="1"/>
          <p:nvPr/>
        </p:nvSpPr>
        <p:spPr>
          <a:xfrm>
            <a:off x="1024128" y="2889503"/>
            <a:ext cx="5303520" cy="237744"/>
          </a:xfrm>
          <a:prstGeom prst="rect">
            <a:avLst/>
          </a:prstGeom>
          <a:noFill/>
        </p:spPr>
        <p:txBody>
          <a:bodyPr wrap="square" lIns="0" rIns="0" tIns="0" bIns="0" anchor="t">
            <a:spAutoFit/>
          </a:bodyPr>
          <a:lstStyle/>
          <a:p>
            <a:pPr algn="l"/>
            <a:r>
              <a:rPr sz="1050" b="0">
                <a:solidFill>
                  <a:srgbClr val="241C3A"/>
                </a:solidFill>
                <a:latin typeface="Calibri"/>
              </a:rPr>
              <a:t>Three chain feeds across two different schemas</a:t>
            </a:r>
          </a:p>
        </p:txBody>
      </p:sp>
      <p:sp>
        <p:nvSpPr>
          <p:cNvPr id="15" name="TextBox 14"/>
          <p:cNvSpPr txBox="1"/>
          <p:nvPr/>
        </p:nvSpPr>
        <p:spPr>
          <a:xfrm>
            <a:off x="786384" y="3163824"/>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16" name="TextBox 15"/>
          <p:cNvSpPr txBox="1"/>
          <p:nvPr/>
        </p:nvSpPr>
        <p:spPr>
          <a:xfrm>
            <a:off x="1024128" y="3163824"/>
            <a:ext cx="5303520" cy="237744"/>
          </a:xfrm>
          <a:prstGeom prst="rect">
            <a:avLst/>
          </a:prstGeom>
          <a:noFill/>
        </p:spPr>
        <p:txBody>
          <a:bodyPr wrap="square" lIns="0" rIns="0" tIns="0" bIns="0" anchor="t">
            <a:spAutoFit/>
          </a:bodyPr>
          <a:lstStyle/>
          <a:p>
            <a:pPr algn="l"/>
            <a:r>
              <a:rPr sz="1050" b="0">
                <a:solidFill>
                  <a:srgbClr val="241C3A"/>
                </a:solidFill>
                <a:latin typeface="Calibri"/>
              </a:rPr>
              <a:t>DECODE and LOOKUP shipment linking</a:t>
            </a:r>
          </a:p>
        </p:txBody>
      </p:sp>
      <p:sp>
        <p:nvSpPr>
          <p:cNvPr id="17" name="TextBox 16"/>
          <p:cNvSpPr txBox="1"/>
          <p:nvPr/>
        </p:nvSpPr>
        <p:spPr>
          <a:xfrm>
            <a:off x="786384" y="3438144"/>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18" name="TextBox 17"/>
          <p:cNvSpPr txBox="1"/>
          <p:nvPr/>
        </p:nvSpPr>
        <p:spPr>
          <a:xfrm>
            <a:off x="1024128" y="3438144"/>
            <a:ext cx="5303520" cy="237744"/>
          </a:xfrm>
          <a:prstGeom prst="rect">
            <a:avLst/>
          </a:prstGeom>
          <a:noFill/>
        </p:spPr>
        <p:txBody>
          <a:bodyPr wrap="square" lIns="0" rIns="0" tIns="0" bIns="0" anchor="t">
            <a:spAutoFit/>
          </a:bodyPr>
          <a:lstStyle/>
          <a:p>
            <a:pPr algn="l"/>
            <a:r>
              <a:rPr sz="1050" b="0">
                <a:solidFill>
                  <a:srgbClr val="241C3A"/>
                </a:solidFill>
                <a:latin typeface="Calibri"/>
              </a:rPr>
              <a:t>Excel, CSV and SQL ERP sources</a:t>
            </a:r>
          </a:p>
        </p:txBody>
      </p:sp>
      <p:sp>
        <p:nvSpPr>
          <p:cNvPr id="19" name="TextBox 18"/>
          <p:cNvSpPr txBox="1"/>
          <p:nvPr/>
        </p:nvSpPr>
        <p:spPr>
          <a:xfrm>
            <a:off x="786384" y="3712463"/>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20" name="TextBox 19"/>
          <p:cNvSpPr txBox="1"/>
          <p:nvPr/>
        </p:nvSpPr>
        <p:spPr>
          <a:xfrm>
            <a:off x="1024128" y="3712463"/>
            <a:ext cx="5303520" cy="237744"/>
          </a:xfrm>
          <a:prstGeom prst="rect">
            <a:avLst/>
          </a:prstGeom>
          <a:noFill/>
        </p:spPr>
        <p:txBody>
          <a:bodyPr wrap="square" lIns="0" rIns="0" tIns="0" bIns="0" anchor="t">
            <a:spAutoFit/>
          </a:bodyPr>
          <a:lstStyle/>
          <a:p>
            <a:pPr algn="l"/>
            <a:r>
              <a:rPr sz="1050" b="0">
                <a:solidFill>
                  <a:srgbClr val="241C3A"/>
                </a:solidFill>
                <a:latin typeface="Calibri"/>
              </a:rPr>
              <a:t>Rule toggling from the spreadsheet with no code change</a:t>
            </a:r>
          </a:p>
        </p:txBody>
      </p:sp>
      <p:sp>
        <p:nvSpPr>
          <p:cNvPr id="21" name="TextBox 20"/>
          <p:cNvSpPr txBox="1"/>
          <p:nvPr/>
        </p:nvSpPr>
        <p:spPr>
          <a:xfrm>
            <a:off x="786384" y="3986783"/>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22" name="TextBox 21"/>
          <p:cNvSpPr txBox="1"/>
          <p:nvPr/>
        </p:nvSpPr>
        <p:spPr>
          <a:xfrm>
            <a:off x="1024128" y="3986783"/>
            <a:ext cx="5303520" cy="237744"/>
          </a:xfrm>
          <a:prstGeom prst="rect">
            <a:avLst/>
          </a:prstGeom>
          <a:noFill/>
        </p:spPr>
        <p:txBody>
          <a:bodyPr wrap="square" lIns="0" rIns="0" tIns="0" bIns="0" anchor="t">
            <a:spAutoFit/>
          </a:bodyPr>
          <a:lstStyle/>
          <a:p>
            <a:pPr algn="l"/>
            <a:r>
              <a:rPr sz="1050" b="0">
                <a:solidFill>
                  <a:srgbClr val="241C3A"/>
                </a:solidFill>
                <a:latin typeface="Calibri"/>
              </a:rPr>
              <a:t>Escalation: review window answered via UI Automation</a:t>
            </a:r>
          </a:p>
        </p:txBody>
      </p:sp>
      <p:sp>
        <p:nvSpPr>
          <p:cNvPr id="23" name="TextBox 22"/>
          <p:cNvSpPr txBox="1"/>
          <p:nvPr/>
        </p:nvSpPr>
        <p:spPr>
          <a:xfrm>
            <a:off x="786384" y="4261104"/>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24" name="TextBox 23"/>
          <p:cNvSpPr txBox="1"/>
          <p:nvPr/>
        </p:nvSpPr>
        <p:spPr>
          <a:xfrm>
            <a:off x="1024128" y="4261104"/>
            <a:ext cx="5303520" cy="237744"/>
          </a:xfrm>
          <a:prstGeom prst="rect">
            <a:avLst/>
          </a:prstGeom>
          <a:noFill/>
        </p:spPr>
        <p:txBody>
          <a:bodyPr wrap="square" lIns="0" rIns="0" tIns="0" bIns="0" anchor="t">
            <a:spAutoFit/>
          </a:bodyPr>
          <a:lstStyle/>
          <a:p>
            <a:pPr algn="l"/>
            <a:r>
              <a:rPr sz="1050" b="0">
                <a:solidFill>
                  <a:srgbClr val="241C3A"/>
                </a:solidFill>
                <a:latin typeface="Calibri"/>
              </a:rPr>
              <a:t>Hash-chained audit trail, tamper detected at the exact line</a:t>
            </a:r>
          </a:p>
        </p:txBody>
      </p:sp>
      <p:sp>
        <p:nvSpPr>
          <p:cNvPr id="25" name="TextBox 24"/>
          <p:cNvSpPr txBox="1"/>
          <p:nvPr/>
        </p:nvSpPr>
        <p:spPr>
          <a:xfrm>
            <a:off x="786384" y="4535423"/>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26" name="TextBox 25"/>
          <p:cNvSpPr txBox="1"/>
          <p:nvPr/>
        </p:nvSpPr>
        <p:spPr>
          <a:xfrm>
            <a:off x="1024128" y="4535423"/>
            <a:ext cx="5303520" cy="237744"/>
          </a:xfrm>
          <a:prstGeom prst="rect">
            <a:avLst/>
          </a:prstGeom>
          <a:noFill/>
        </p:spPr>
        <p:txBody>
          <a:bodyPr wrap="square" lIns="0" rIns="0" tIns="0" bIns="0" anchor="t">
            <a:spAutoFit/>
          </a:bodyPr>
          <a:lstStyle/>
          <a:p>
            <a:pPr algn="l"/>
            <a:r>
              <a:rPr sz="1050" b="0">
                <a:solidFill>
                  <a:srgbClr val="241C3A"/>
                </a:solidFill>
                <a:latin typeface="Calibri"/>
              </a:rPr>
              <a:t>Excel report, PDF audit report, HTML dashboard, KPI export</a:t>
            </a:r>
          </a:p>
        </p:txBody>
      </p:sp>
      <p:sp>
        <p:nvSpPr>
          <p:cNvPr id="27" name="TextBox 26"/>
          <p:cNvSpPr txBox="1"/>
          <p:nvPr/>
        </p:nvSpPr>
        <p:spPr>
          <a:xfrm>
            <a:off x="786384" y="4809744"/>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28" name="TextBox 27"/>
          <p:cNvSpPr txBox="1"/>
          <p:nvPr/>
        </p:nvSpPr>
        <p:spPr>
          <a:xfrm>
            <a:off x="1024128" y="4809744"/>
            <a:ext cx="5303520" cy="237744"/>
          </a:xfrm>
          <a:prstGeom prst="rect">
            <a:avLst/>
          </a:prstGeom>
          <a:noFill/>
        </p:spPr>
        <p:txBody>
          <a:bodyPr wrap="square" lIns="0" rIns="0" tIns="0" bIns="0" anchor="t">
            <a:spAutoFit/>
          </a:bodyPr>
          <a:lstStyle/>
          <a:p>
            <a:pPr algn="l"/>
            <a:r>
              <a:rPr sz="1050" b="0">
                <a:solidFill>
                  <a:srgbClr val="241C3A"/>
                </a:solidFill>
                <a:latin typeface="Calibri"/>
              </a:rPr>
              <a:t>Teams and Slack payloads, and alert delivery to a capture server</a:t>
            </a:r>
          </a:p>
        </p:txBody>
      </p:sp>
      <p:sp>
        <p:nvSpPr>
          <p:cNvPr id="29" name="TextBox 28"/>
          <p:cNvSpPr txBox="1"/>
          <p:nvPr/>
        </p:nvSpPr>
        <p:spPr>
          <a:xfrm>
            <a:off x="786384" y="5084064"/>
            <a:ext cx="182880" cy="237744"/>
          </a:xfrm>
          <a:prstGeom prst="rect">
            <a:avLst/>
          </a:prstGeom>
          <a:noFill/>
        </p:spPr>
        <p:txBody>
          <a:bodyPr wrap="square" lIns="0" rIns="0" tIns="0" bIns="0" anchor="t">
            <a:spAutoFit/>
          </a:bodyPr>
          <a:lstStyle/>
          <a:p>
            <a:pPr algn="l"/>
            <a:r>
              <a:rPr sz="1100" b="1">
                <a:solidFill>
                  <a:srgbClr val="1A7F4B"/>
                </a:solidFill>
                <a:latin typeface="Calibri"/>
              </a:rPr>
              <a:t>✓</a:t>
            </a:r>
          </a:p>
        </p:txBody>
      </p:sp>
      <p:sp>
        <p:nvSpPr>
          <p:cNvPr id="30" name="TextBox 29"/>
          <p:cNvSpPr txBox="1"/>
          <p:nvPr/>
        </p:nvSpPr>
        <p:spPr>
          <a:xfrm>
            <a:off x="1024128" y="5084064"/>
            <a:ext cx="5303520" cy="237744"/>
          </a:xfrm>
          <a:prstGeom prst="rect">
            <a:avLst/>
          </a:prstGeom>
          <a:noFill/>
        </p:spPr>
        <p:txBody>
          <a:bodyPr wrap="square" lIns="0" rIns="0" tIns="0" bIns="0" anchor="t">
            <a:spAutoFit/>
          </a:bodyPr>
          <a:lstStyle/>
          <a:p>
            <a:pPr algn="l"/>
            <a:r>
              <a:rPr sz="1050" b="0">
                <a:solidFill>
                  <a:srgbClr val="241C3A"/>
                </a:solidFill>
                <a:latin typeface="Calibri"/>
              </a:rPr>
              <a:t>Dispatcher and Performer end to end through a work queue</a:t>
            </a:r>
          </a:p>
        </p:txBody>
      </p:sp>
      <p:sp>
        <p:nvSpPr>
          <p:cNvPr id="31" name="Rounded Rectangle 30"/>
          <p:cNvSpPr/>
          <p:nvPr/>
        </p:nvSpPr>
        <p:spPr>
          <a:xfrm>
            <a:off x="6702552" y="1463040"/>
            <a:ext cx="4956048" cy="4114800"/>
          </a:xfrm>
          <a:prstGeom prst="roundRect">
            <a:avLst>
              <a:gd name="adj" fmla="val 2222"/>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922008" y="1627632"/>
            <a:ext cx="1737360" cy="292608"/>
          </a:xfrm>
          <a:prstGeom prst="roundRect">
            <a:avLst>
              <a:gd name="adj" fmla="val 50000"/>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22008" y="1655064"/>
            <a:ext cx="1737360" cy="237744"/>
          </a:xfrm>
          <a:prstGeom prst="rect">
            <a:avLst/>
          </a:prstGeom>
          <a:noFill/>
        </p:spPr>
        <p:txBody>
          <a:bodyPr wrap="square" lIns="0" rIns="0" tIns="0" bIns="0" anchor="t">
            <a:spAutoFit/>
          </a:bodyPr>
          <a:lstStyle/>
          <a:p>
            <a:pPr algn="ctr"/>
            <a:r>
              <a:rPr sz="950" b="1">
                <a:solidFill>
                  <a:srgbClr val="FFFFFF"/>
                </a:solidFill>
                <a:latin typeface="Calibri"/>
              </a:rPr>
              <a:t>NOT YET EXECUTED</a:t>
            </a:r>
          </a:p>
        </p:txBody>
      </p:sp>
      <p:sp>
        <p:nvSpPr>
          <p:cNvPr id="34" name="TextBox 33"/>
          <p:cNvSpPr txBox="1"/>
          <p:nvPr/>
        </p:nvSpPr>
        <p:spPr>
          <a:xfrm>
            <a:off x="6922008" y="2048256"/>
            <a:ext cx="4572000" cy="256032"/>
          </a:xfrm>
          <a:prstGeom prst="rect">
            <a:avLst/>
          </a:prstGeom>
          <a:noFill/>
        </p:spPr>
        <p:txBody>
          <a:bodyPr wrap="square" lIns="0" rIns="0" tIns="0" bIns="0" anchor="t">
            <a:spAutoFit/>
          </a:bodyPr>
          <a:lstStyle/>
          <a:p>
            <a:pPr algn="l"/>
            <a:r>
              <a:rPr sz="1200" b="1">
                <a:solidFill>
                  <a:srgbClr val="8A6100"/>
                </a:solidFill>
                <a:latin typeface="Calibri"/>
              </a:rPr>
              <a:t>Orchestrator - out of scope</a:t>
            </a:r>
          </a:p>
        </p:txBody>
      </p:sp>
      <p:sp>
        <p:nvSpPr>
          <p:cNvPr id="35" name="TextBox 34"/>
          <p:cNvSpPr txBox="1"/>
          <p:nvPr/>
        </p:nvSpPr>
        <p:spPr>
          <a:xfrm>
            <a:off x="6922008" y="2322576"/>
            <a:ext cx="4572000" cy="548640"/>
          </a:xfrm>
          <a:prstGeom prst="rect">
            <a:avLst/>
          </a:prstGeom>
          <a:noFill/>
        </p:spPr>
        <p:txBody>
          <a:bodyPr wrap="square" lIns="0" rIns="0" tIns="0" bIns="0" anchor="t">
            <a:spAutoFit/>
          </a:bodyPr>
          <a:lstStyle/>
          <a:p>
            <a:pPr algn="l"/>
            <a:r>
              <a:rPr sz="1050" b="0">
                <a:solidFill>
                  <a:srgbClr val="6B6480"/>
                </a:solidFill>
                <a:latin typeface="Calibri"/>
              </a:rPr>
              <a:t>The project runs in UiPath Studio only. Queue mode uses a local work-queue file instead of an Orchestrator queue.</a:t>
            </a:r>
          </a:p>
        </p:txBody>
      </p:sp>
      <p:sp>
        <p:nvSpPr>
          <p:cNvPr id="36" name="TextBox 35"/>
          <p:cNvSpPr txBox="1"/>
          <p:nvPr/>
        </p:nvSpPr>
        <p:spPr>
          <a:xfrm>
            <a:off x="6922008" y="2999232"/>
            <a:ext cx="4572000" cy="256032"/>
          </a:xfrm>
          <a:prstGeom prst="rect">
            <a:avLst/>
          </a:prstGeom>
          <a:noFill/>
        </p:spPr>
        <p:txBody>
          <a:bodyPr wrap="square" lIns="0" rIns="0" tIns="0" bIns="0" anchor="t">
            <a:spAutoFit/>
          </a:bodyPr>
          <a:lstStyle/>
          <a:p>
            <a:pPr algn="l"/>
            <a:r>
              <a:rPr sz="1200" b="1">
                <a:solidFill>
                  <a:srgbClr val="8A6100"/>
                </a:solidFill>
                <a:latin typeface="Calibri"/>
              </a:rPr>
              <a:t>Live Etherscan key</a:t>
            </a:r>
          </a:p>
        </p:txBody>
      </p:sp>
      <p:sp>
        <p:nvSpPr>
          <p:cNvPr id="37" name="TextBox 36"/>
          <p:cNvSpPr txBox="1"/>
          <p:nvPr/>
        </p:nvSpPr>
        <p:spPr>
          <a:xfrm>
            <a:off x="6922008" y="3273552"/>
            <a:ext cx="4572000" cy="548640"/>
          </a:xfrm>
          <a:prstGeom prst="rect">
            <a:avLst/>
          </a:prstGeom>
          <a:noFill/>
        </p:spPr>
        <p:txBody>
          <a:bodyPr wrap="square" lIns="0" rIns="0" tIns="0" bIns="0" anchor="t">
            <a:spAutoFit/>
          </a:bodyPr>
          <a:lstStyle/>
          <a:p>
            <a:pPr algn="l"/>
            <a:r>
              <a:rPr sz="1050" b="0">
                <a:solidFill>
                  <a:srgbClr val="6B6480"/>
                </a:solidFill>
                <a:latin typeface="Calibri"/>
              </a:rPr>
              <a:t>API mode is tested over HTTP against a local Etherscan stand-in, but no real key is configured, so it has not been run against the live chain.</a:t>
            </a:r>
          </a:p>
        </p:txBody>
      </p:sp>
      <p:sp>
        <p:nvSpPr>
          <p:cNvPr id="38" name="TextBox 37"/>
          <p:cNvSpPr txBox="1"/>
          <p:nvPr/>
        </p:nvSpPr>
        <p:spPr>
          <a:xfrm>
            <a:off x="6922008" y="3950208"/>
            <a:ext cx="4572000" cy="256032"/>
          </a:xfrm>
          <a:prstGeom prst="rect">
            <a:avLst/>
          </a:prstGeom>
          <a:noFill/>
        </p:spPr>
        <p:txBody>
          <a:bodyPr wrap="square" lIns="0" rIns="0" tIns="0" bIns="0" anchor="t">
            <a:spAutoFit/>
          </a:bodyPr>
          <a:lstStyle/>
          <a:p>
            <a:pPr algn="l"/>
            <a:r>
              <a:rPr sz="1200" b="1">
                <a:solidFill>
                  <a:srgbClr val="8A6100"/>
                </a:solidFill>
                <a:latin typeface="Calibri"/>
              </a:rPr>
              <a:t>Browser automation</a:t>
            </a:r>
          </a:p>
        </p:txBody>
      </p:sp>
      <p:sp>
        <p:nvSpPr>
          <p:cNvPr id="39" name="TextBox 38"/>
          <p:cNvSpPr txBox="1"/>
          <p:nvPr/>
        </p:nvSpPr>
        <p:spPr>
          <a:xfrm>
            <a:off x="6922008" y="4224528"/>
            <a:ext cx="4572000" cy="548640"/>
          </a:xfrm>
          <a:prstGeom prst="rect">
            <a:avLst/>
          </a:prstGeom>
          <a:noFill/>
        </p:spPr>
        <p:txBody>
          <a:bodyPr wrap="square" lIns="0" rIns="0" tIns="0" bIns="0" anchor="t">
            <a:spAutoFit/>
          </a:bodyPr>
          <a:lstStyle/>
          <a:p>
            <a:pPr algn="l"/>
            <a:r>
              <a:rPr sz="1050" b="0">
                <a:solidFill>
                  <a:srgbClr val="6B6480"/>
                </a:solidFill>
                <a:latin typeface="Calibri"/>
              </a:rPr>
              <a:t>WEB mode parses the explorer's HTML. UIAutomation 25.10 removed the classic scraping activity and its replacement needs a recorded descriptor.</a:t>
            </a:r>
          </a:p>
        </p:txBody>
      </p:sp>
      <p:sp>
        <p:nvSpPr>
          <p:cNvPr id="40" name="TextBox 39"/>
          <p:cNvSpPr txBox="1"/>
          <p:nvPr/>
        </p:nvSpPr>
        <p:spPr>
          <a:xfrm>
            <a:off x="6922008" y="4901184"/>
            <a:ext cx="4572000" cy="256032"/>
          </a:xfrm>
          <a:prstGeom prst="rect">
            <a:avLst/>
          </a:prstGeom>
          <a:noFill/>
        </p:spPr>
        <p:txBody>
          <a:bodyPr wrap="square" lIns="0" rIns="0" tIns="0" bIns="0" anchor="t">
            <a:spAutoFit/>
          </a:bodyPr>
          <a:lstStyle/>
          <a:p>
            <a:pPr algn="l"/>
            <a:r>
              <a:rPr sz="1200" b="1">
                <a:solidFill>
                  <a:srgbClr val="8A6100"/>
                </a:solidFill>
                <a:latin typeface="Calibri"/>
              </a:rPr>
              <a:t>Real mail and chat endpoints</a:t>
            </a:r>
          </a:p>
        </p:txBody>
      </p:sp>
      <p:sp>
        <p:nvSpPr>
          <p:cNvPr id="41" name="TextBox 40"/>
          <p:cNvSpPr txBox="1"/>
          <p:nvPr/>
        </p:nvSpPr>
        <p:spPr>
          <a:xfrm>
            <a:off x="6922008" y="5175504"/>
            <a:ext cx="4572000" cy="548640"/>
          </a:xfrm>
          <a:prstGeom prst="rect">
            <a:avLst/>
          </a:prstGeom>
          <a:noFill/>
        </p:spPr>
        <p:txBody>
          <a:bodyPr wrap="square" lIns="0" rIns="0" tIns="0" bIns="0" anchor="t">
            <a:spAutoFit/>
          </a:bodyPr>
          <a:lstStyle/>
          <a:p>
            <a:pPr algn="l"/>
            <a:r>
              <a:rPr sz="1050" b="0">
                <a:solidFill>
                  <a:srgbClr val="6B6480"/>
                </a:solidFill>
                <a:latin typeface="Calibri"/>
              </a:rPr>
              <a:t>Delivery is tested against a local capture server, not a real SMTP server, Outlook profile or Teams channel.</a:t>
            </a:r>
          </a:p>
        </p:txBody>
      </p:sp>
      <p:sp>
        <p:nvSpPr>
          <p:cNvPr id="42" name="Rounded Rectangle 41"/>
          <p:cNvSpPr/>
          <p:nvPr/>
        </p:nvSpPr>
        <p:spPr>
          <a:xfrm>
            <a:off x="566928" y="5724144"/>
            <a:ext cx="11055096" cy="512064"/>
          </a:xfrm>
          <a:prstGeom prst="roundRect">
            <a:avLst>
              <a:gd name="adj" fmla="val 17857"/>
            </a:avLst>
          </a:prstGeom>
          <a:solidFill>
            <a:srgbClr val="FFFFFF"/>
          </a:solidFill>
          <a:ln w="9525">
            <a:solidFill>
              <a:srgbClr val="E2D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2" y="5870448"/>
            <a:ext cx="10515600" cy="274320"/>
          </a:xfrm>
          <a:prstGeom prst="rect">
            <a:avLst/>
          </a:prstGeom>
          <a:noFill/>
        </p:spPr>
        <p:txBody>
          <a:bodyPr wrap="square" lIns="0" rIns="0" tIns="0" bIns="0" anchor="t">
            <a:spAutoFit/>
          </a:bodyPr>
          <a:lstStyle/>
          <a:p>
            <a:pPr algn="l"/>
            <a:r>
              <a:rPr sz="1150" b="1">
                <a:solidFill>
                  <a:srgbClr val="2F1D63"/>
                </a:solidFill>
                <a:latin typeface="Calibri"/>
              </a:rPr>
              <a:t>Nothing is stubbed. Each path above is exercised locally right up to the hop this project has no account or tool for.</a:t>
            </a:r>
          </a:p>
        </p:txBody>
      </p:sp>
      <p:sp>
        <p:nvSpPr>
          <p:cNvPr id="44" name="TextBox 43"/>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A79FC0"/>
                </a:solidFill>
                <a:latin typeface="Calibri"/>
              </a:rPr>
              <a:t>Final Review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0625"/>
        </a:solidFill>
        <a:effectLst/>
      </p:bgPr>
    </p:bg>
    <p:spTree>
      <p:nvGrpSpPr>
        <p:cNvPr id="1" name=""/>
        <p:cNvGrpSpPr/>
        <p:nvPr/>
      </p:nvGrpSpPr>
      <p:grpSpPr/>
      <p:sp>
        <p:nvSpPr>
          <p:cNvPr id="2" name="Oval 1"/>
          <p:cNvSpPr/>
          <p:nvPr/>
        </p:nvSpPr>
        <p:spPr>
          <a:xfrm>
            <a:off x="10241280" y="5394960"/>
            <a:ext cx="3291840" cy="3291840"/>
          </a:xfrm>
          <a:prstGeom prst="ellipse">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5096" cy="237744"/>
          </a:xfrm>
          <a:prstGeom prst="rect">
            <a:avLst/>
          </a:prstGeom>
          <a:noFill/>
        </p:spPr>
        <p:txBody>
          <a:bodyPr wrap="square" lIns="0" rIns="0" tIns="0" bIns="0" anchor="t">
            <a:spAutoFit/>
          </a:bodyPr>
          <a:lstStyle/>
          <a:p>
            <a:pPr algn="l"/>
            <a:r>
              <a:rPr sz="1150" b="1">
                <a:solidFill>
                  <a:srgbClr val="FF8AAF"/>
                </a:solidFill>
                <a:latin typeface="Calibri"/>
              </a:rPr>
              <a:t>FUTURE SCOPE</a:t>
            </a:r>
          </a:p>
        </p:txBody>
      </p:sp>
      <p:sp>
        <p:nvSpPr>
          <p:cNvPr id="4" name="TextBox 3"/>
          <p:cNvSpPr txBox="1"/>
          <p:nvPr/>
        </p:nvSpPr>
        <p:spPr>
          <a:xfrm>
            <a:off x="566928" y="566928"/>
            <a:ext cx="11055096" cy="566928"/>
          </a:xfrm>
          <a:prstGeom prst="rect">
            <a:avLst/>
          </a:prstGeom>
          <a:noFill/>
        </p:spPr>
        <p:txBody>
          <a:bodyPr wrap="square" lIns="0" rIns="0" tIns="0" bIns="0" anchor="t">
            <a:spAutoFit/>
          </a:bodyPr>
          <a:lstStyle/>
          <a:p>
            <a:pPr algn="l"/>
            <a:r>
              <a:rPr sz="3000" b="1">
                <a:solidFill>
                  <a:srgbClr val="FFFFFF"/>
                </a:solidFill>
                <a:latin typeface="Calibri"/>
              </a:rPr>
              <a:t>Where this goes next</a:t>
            </a:r>
          </a:p>
        </p:txBody>
      </p:sp>
      <p:sp>
        <p:nvSpPr>
          <p:cNvPr id="5" name="Rounded Rectangle 4"/>
          <p:cNvSpPr/>
          <p:nvPr/>
        </p:nvSpPr>
        <p:spPr>
          <a:xfrm>
            <a:off x="566928" y="1371600"/>
            <a:ext cx="5431536" cy="1042415"/>
          </a:xfrm>
          <a:prstGeom prst="roundRect">
            <a:avLst>
              <a:gd name="adj" fmla="val 8771"/>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1554480"/>
            <a:ext cx="310896" cy="310896"/>
          </a:xfrm>
          <a:prstGeom prst="ellipse">
            <a:avLst/>
          </a:prstGeom>
          <a:solidFill>
            <a:srgbClr val="FF8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91056"/>
            <a:ext cx="310896" cy="237744"/>
          </a:xfrm>
          <a:prstGeom prst="rect">
            <a:avLst/>
          </a:prstGeom>
          <a:noFill/>
        </p:spPr>
        <p:txBody>
          <a:bodyPr wrap="square" lIns="0" rIns="0" tIns="0" bIns="0" anchor="t">
            <a:spAutoFit/>
          </a:bodyPr>
          <a:lstStyle/>
          <a:p>
            <a:pPr algn="ctr"/>
            <a:r>
              <a:rPr sz="1250" b="1">
                <a:solidFill>
                  <a:srgbClr val="0C0625"/>
                </a:solidFill>
                <a:latin typeface="Calibri"/>
              </a:rPr>
              <a:t>1</a:t>
            </a:r>
          </a:p>
        </p:txBody>
      </p:sp>
      <p:sp>
        <p:nvSpPr>
          <p:cNvPr id="8" name="TextBox 7"/>
          <p:cNvSpPr txBox="1"/>
          <p:nvPr/>
        </p:nvSpPr>
        <p:spPr>
          <a:xfrm>
            <a:off x="1243584" y="1591056"/>
            <a:ext cx="4480560" cy="274320"/>
          </a:xfrm>
          <a:prstGeom prst="rect">
            <a:avLst/>
          </a:prstGeom>
          <a:noFill/>
        </p:spPr>
        <p:txBody>
          <a:bodyPr wrap="square" lIns="0" rIns="0" tIns="0" bIns="0" anchor="t">
            <a:spAutoFit/>
          </a:bodyPr>
          <a:lstStyle/>
          <a:p>
            <a:pPr algn="l"/>
            <a:r>
              <a:rPr sz="1350" b="1">
                <a:solidFill>
                  <a:srgbClr val="FFFFFF"/>
                </a:solidFill>
                <a:latin typeface="Calibri"/>
              </a:rPr>
              <a:t>Deploy to Orchestrator</a:t>
            </a:r>
          </a:p>
        </p:txBody>
      </p:sp>
      <p:sp>
        <p:nvSpPr>
          <p:cNvPr id="9" name="TextBox 8"/>
          <p:cNvSpPr txBox="1"/>
          <p:nvPr/>
        </p:nvSpPr>
        <p:spPr>
          <a:xfrm>
            <a:off x="1243584" y="1901952"/>
            <a:ext cx="4480560" cy="420624"/>
          </a:xfrm>
          <a:prstGeom prst="rect">
            <a:avLst/>
          </a:prstGeom>
          <a:noFill/>
        </p:spPr>
        <p:txBody>
          <a:bodyPr wrap="square" lIns="0" rIns="0" tIns="0" bIns="0" anchor="t">
            <a:spAutoFit/>
          </a:bodyPr>
          <a:lstStyle/>
          <a:p>
            <a:pPr algn="l"/>
            <a:r>
              <a:rPr sz="1050" b="0">
                <a:solidFill>
                  <a:srgbClr val="CFC7E4"/>
                </a:solidFill>
                <a:latin typeface="Calibri"/>
              </a:rPr>
              <a:t>Publish the package, schedule it with time triggers, and swap the local work-queue file for an Orchestrator queue with parallel workers.</a:t>
            </a:r>
          </a:p>
        </p:txBody>
      </p:sp>
      <p:sp>
        <p:nvSpPr>
          <p:cNvPr id="10" name="Rounded Rectangle 9"/>
          <p:cNvSpPr/>
          <p:nvPr/>
        </p:nvSpPr>
        <p:spPr>
          <a:xfrm>
            <a:off x="6190488" y="1371600"/>
            <a:ext cx="5431536" cy="1042415"/>
          </a:xfrm>
          <a:prstGeom prst="roundRect">
            <a:avLst>
              <a:gd name="adj" fmla="val 8771"/>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9944" y="1554480"/>
            <a:ext cx="310896" cy="310896"/>
          </a:xfrm>
          <a:prstGeom prst="ellipse">
            <a:avLst/>
          </a:prstGeom>
          <a:solidFill>
            <a:srgbClr val="FF8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591056"/>
            <a:ext cx="310896" cy="237744"/>
          </a:xfrm>
          <a:prstGeom prst="rect">
            <a:avLst/>
          </a:prstGeom>
          <a:noFill/>
        </p:spPr>
        <p:txBody>
          <a:bodyPr wrap="square" lIns="0" rIns="0" tIns="0" bIns="0" anchor="t">
            <a:spAutoFit/>
          </a:bodyPr>
          <a:lstStyle/>
          <a:p>
            <a:pPr algn="ctr"/>
            <a:r>
              <a:rPr sz="1250" b="1">
                <a:solidFill>
                  <a:srgbClr val="0C0625"/>
                </a:solidFill>
                <a:latin typeface="Calibri"/>
              </a:rPr>
              <a:t>2</a:t>
            </a:r>
          </a:p>
        </p:txBody>
      </p:sp>
      <p:sp>
        <p:nvSpPr>
          <p:cNvPr id="13" name="TextBox 12"/>
          <p:cNvSpPr txBox="1"/>
          <p:nvPr/>
        </p:nvSpPr>
        <p:spPr>
          <a:xfrm>
            <a:off x="6867144" y="1591056"/>
            <a:ext cx="4480560" cy="274320"/>
          </a:xfrm>
          <a:prstGeom prst="rect">
            <a:avLst/>
          </a:prstGeom>
          <a:noFill/>
        </p:spPr>
        <p:txBody>
          <a:bodyPr wrap="square" lIns="0" rIns="0" tIns="0" bIns="0" anchor="t">
            <a:spAutoFit/>
          </a:bodyPr>
          <a:lstStyle/>
          <a:p>
            <a:pPr algn="l"/>
            <a:r>
              <a:rPr sz="1350" b="1">
                <a:solidFill>
                  <a:srgbClr val="FFFFFF"/>
                </a:solidFill>
                <a:latin typeface="Calibri"/>
              </a:rPr>
              <a:t>ML-based anomaly detection</a:t>
            </a:r>
          </a:p>
        </p:txBody>
      </p:sp>
      <p:sp>
        <p:nvSpPr>
          <p:cNvPr id="14" name="TextBox 13"/>
          <p:cNvSpPr txBox="1"/>
          <p:nvPr/>
        </p:nvSpPr>
        <p:spPr>
          <a:xfrm>
            <a:off x="6867144" y="1901952"/>
            <a:ext cx="4480560" cy="420624"/>
          </a:xfrm>
          <a:prstGeom prst="rect">
            <a:avLst/>
          </a:prstGeom>
          <a:noFill/>
        </p:spPr>
        <p:txBody>
          <a:bodyPr wrap="square" lIns="0" rIns="0" tIns="0" bIns="0" anchor="t">
            <a:spAutoFit/>
          </a:bodyPr>
          <a:lstStyle/>
          <a:p>
            <a:pPr algn="l"/>
            <a:r>
              <a:rPr sz="1050" b="0">
                <a:solidFill>
                  <a:srgbClr val="CFC7E4"/>
                </a:solidFill>
                <a:latin typeface="Calibri"/>
              </a:rPr>
              <a:t>Use UiPath AI Center on historical transactions to catch fraud patterns no fixed rule anticipates.</a:t>
            </a:r>
          </a:p>
        </p:txBody>
      </p:sp>
      <p:sp>
        <p:nvSpPr>
          <p:cNvPr id="15" name="Rounded Rectangle 14"/>
          <p:cNvSpPr/>
          <p:nvPr/>
        </p:nvSpPr>
        <p:spPr>
          <a:xfrm>
            <a:off x="566928" y="2560320"/>
            <a:ext cx="5431536" cy="1042415"/>
          </a:xfrm>
          <a:prstGeom prst="roundRect">
            <a:avLst>
              <a:gd name="adj" fmla="val 8771"/>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2743200"/>
            <a:ext cx="310896" cy="310896"/>
          </a:xfrm>
          <a:prstGeom prst="ellipse">
            <a:avLst/>
          </a:prstGeom>
          <a:solidFill>
            <a:srgbClr val="FF8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2779776"/>
            <a:ext cx="310896" cy="237744"/>
          </a:xfrm>
          <a:prstGeom prst="rect">
            <a:avLst/>
          </a:prstGeom>
          <a:noFill/>
        </p:spPr>
        <p:txBody>
          <a:bodyPr wrap="square" lIns="0" rIns="0" tIns="0" bIns="0" anchor="t">
            <a:spAutoFit/>
          </a:bodyPr>
          <a:lstStyle/>
          <a:p>
            <a:pPr algn="ctr"/>
            <a:r>
              <a:rPr sz="1250" b="1">
                <a:solidFill>
                  <a:srgbClr val="0C0625"/>
                </a:solidFill>
                <a:latin typeface="Calibri"/>
              </a:rPr>
              <a:t>3</a:t>
            </a:r>
          </a:p>
        </p:txBody>
      </p:sp>
      <p:sp>
        <p:nvSpPr>
          <p:cNvPr id="18" name="TextBox 17"/>
          <p:cNvSpPr txBox="1"/>
          <p:nvPr/>
        </p:nvSpPr>
        <p:spPr>
          <a:xfrm>
            <a:off x="1243584" y="2779776"/>
            <a:ext cx="4480560" cy="274320"/>
          </a:xfrm>
          <a:prstGeom prst="rect">
            <a:avLst/>
          </a:prstGeom>
          <a:noFill/>
        </p:spPr>
        <p:txBody>
          <a:bodyPr wrap="square" lIns="0" rIns="0" tIns="0" bIns="0" anchor="t">
            <a:spAutoFit/>
          </a:bodyPr>
          <a:lstStyle/>
          <a:p>
            <a:pPr algn="l"/>
            <a:r>
              <a:rPr sz="1350" b="1">
                <a:solidFill>
                  <a:srgbClr val="FFFFFF"/>
                </a:solidFill>
                <a:latin typeface="Calibri"/>
              </a:rPr>
              <a:t>IoT data fusion</a:t>
            </a:r>
          </a:p>
        </p:txBody>
      </p:sp>
      <p:sp>
        <p:nvSpPr>
          <p:cNvPr id="19" name="TextBox 18"/>
          <p:cNvSpPr txBox="1"/>
          <p:nvPr/>
        </p:nvSpPr>
        <p:spPr>
          <a:xfrm>
            <a:off x="1243584" y="3090672"/>
            <a:ext cx="4480560" cy="420624"/>
          </a:xfrm>
          <a:prstGeom prst="rect">
            <a:avLst/>
          </a:prstGeom>
          <a:noFill/>
        </p:spPr>
        <p:txBody>
          <a:bodyPr wrap="square" lIns="0" rIns="0" tIns="0" bIns="0" anchor="t">
            <a:spAutoFit/>
          </a:bodyPr>
          <a:lstStyle/>
          <a:p>
            <a:pPr algn="l"/>
            <a:r>
              <a:rPr sz="1050" b="0">
                <a:solidFill>
                  <a:srgbClr val="CFC7E4"/>
                </a:solidFill>
                <a:latin typeface="Calibri"/>
              </a:rPr>
              <a:t>Validate on-chain records against temperature and GPS telemetry, so a cold-chain breach is caught as well as a clerical one.</a:t>
            </a:r>
          </a:p>
        </p:txBody>
      </p:sp>
      <p:sp>
        <p:nvSpPr>
          <p:cNvPr id="20" name="Rounded Rectangle 19"/>
          <p:cNvSpPr/>
          <p:nvPr/>
        </p:nvSpPr>
        <p:spPr>
          <a:xfrm>
            <a:off x="6190488" y="2560320"/>
            <a:ext cx="5431536" cy="1042415"/>
          </a:xfrm>
          <a:prstGeom prst="roundRect">
            <a:avLst>
              <a:gd name="adj" fmla="val 8771"/>
            </a:avLst>
          </a:prstGeom>
          <a:solidFill>
            <a:srgbClr val="1A1038"/>
          </a:solidFill>
          <a:ln w="9525">
            <a:solidFill>
              <a:srgbClr val="4836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9944" y="2743200"/>
            <a:ext cx="310896" cy="310896"/>
          </a:xfrm>
          <a:prstGeom prst="ellipse">
            <a:avLst/>
          </a:prstGeom>
          <a:solidFill>
            <a:srgbClr val="FF8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9944" y="2779776"/>
            <a:ext cx="310896" cy="237744"/>
          </a:xfrm>
          <a:prstGeom prst="rect">
            <a:avLst/>
          </a:prstGeom>
          <a:noFill/>
        </p:spPr>
        <p:txBody>
          <a:bodyPr wrap="square" lIns="0" rIns="0" tIns="0" bIns="0" anchor="t">
            <a:spAutoFit/>
          </a:bodyPr>
          <a:lstStyle/>
          <a:p>
            <a:pPr algn="ctr"/>
            <a:r>
              <a:rPr sz="1250" b="1">
                <a:solidFill>
                  <a:srgbClr val="0C0625"/>
                </a:solidFill>
                <a:latin typeface="Calibri"/>
              </a:rPr>
              <a:t>4</a:t>
            </a:r>
          </a:p>
        </p:txBody>
      </p:sp>
      <p:sp>
        <p:nvSpPr>
          <p:cNvPr id="23" name="TextBox 22"/>
          <p:cNvSpPr txBox="1"/>
          <p:nvPr/>
        </p:nvSpPr>
        <p:spPr>
          <a:xfrm>
            <a:off x="6867144" y="2779776"/>
            <a:ext cx="4480560" cy="274320"/>
          </a:xfrm>
          <a:prstGeom prst="rect">
            <a:avLst/>
          </a:prstGeom>
          <a:noFill/>
        </p:spPr>
        <p:txBody>
          <a:bodyPr wrap="square" lIns="0" rIns="0" tIns="0" bIns="0" anchor="t">
            <a:spAutoFit/>
          </a:bodyPr>
          <a:lstStyle/>
          <a:p>
            <a:pPr algn="l"/>
            <a:r>
              <a:rPr sz="1350" b="1">
                <a:solidFill>
                  <a:srgbClr val="FFFFFF"/>
                </a:solidFill>
                <a:latin typeface="Calibri"/>
              </a:rPr>
              <a:t>Event-driven validation</a:t>
            </a:r>
          </a:p>
        </p:txBody>
      </p:sp>
      <p:sp>
        <p:nvSpPr>
          <p:cNvPr id="24" name="TextBox 23"/>
          <p:cNvSpPr txBox="1"/>
          <p:nvPr/>
        </p:nvSpPr>
        <p:spPr>
          <a:xfrm>
            <a:off x="6867144" y="3090672"/>
            <a:ext cx="4480560" cy="420624"/>
          </a:xfrm>
          <a:prstGeom prst="rect">
            <a:avLst/>
          </a:prstGeom>
          <a:noFill/>
        </p:spPr>
        <p:txBody>
          <a:bodyPr wrap="square" lIns="0" rIns="0" tIns="0" bIns="0" anchor="t">
            <a:spAutoFit/>
          </a:bodyPr>
          <a:lstStyle/>
          <a:p>
            <a:pPr algn="l"/>
            <a:r>
              <a:rPr sz="1050" b="0">
                <a:solidFill>
                  <a:srgbClr val="CFC7E4"/>
                </a:solidFill>
                <a:latin typeface="Calibri"/>
              </a:rPr>
              <a:t>Replace scheduled polling with blockchain WebSocket subscriptions for sub-second latency.</a:t>
            </a:r>
          </a:p>
        </p:txBody>
      </p:sp>
      <p:sp>
        <p:nvSpPr>
          <p:cNvPr id="25" name="Rounded Rectangle 24"/>
          <p:cNvSpPr/>
          <p:nvPr/>
        </p:nvSpPr>
        <p:spPr>
          <a:xfrm>
            <a:off x="566928" y="3895344"/>
            <a:ext cx="11055096" cy="1243584"/>
          </a:xfrm>
          <a:prstGeom prst="roundRect">
            <a:avLst>
              <a:gd name="adj" fmla="val 3000"/>
            </a:avLst>
          </a:prstGeom>
          <a:solidFill>
            <a:srgbClr val="2F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7" y="4078224"/>
            <a:ext cx="10424160" cy="914400"/>
          </a:xfrm>
          <a:prstGeom prst="rect">
            <a:avLst/>
          </a:prstGeom>
          <a:noFill/>
        </p:spPr>
        <p:txBody>
          <a:bodyPr wrap="square" lIns="0" rIns="0" tIns="0" bIns="0" anchor="t">
            <a:spAutoFit/>
          </a:bodyPr>
          <a:lstStyle/>
          <a:p>
            <a:pPr algn="l">
              <a:spcAft>
                <a:spcPts val="800"/>
              </a:spcAft>
            </a:pPr>
            <a:r>
              <a:rPr sz="1450" b="1">
                <a:solidFill>
                  <a:srgbClr val="FFFFFF"/>
                </a:solidFill>
                <a:latin typeface="Calibri"/>
              </a:rPr>
              <a:t>Automated reconciliation of blockchain records against enterprise systems, six rules a business team can configure, escalation where human judgement belongs, and an audit trail that proves it was not altered afterwards.</a:t>
            </a:r>
          </a:p>
          <a:p>
            <a:pPr algn="l">
              <a:spcAft>
                <a:spcPts val="800"/>
              </a:spcAft>
            </a:pPr>
            <a:r>
              <a:rPr sz="1300" b="1">
                <a:solidFill>
                  <a:srgbClr val="FF8AAF"/>
                </a:solidFill>
                <a:latin typeface="Calibri"/>
              </a:rPr>
              <a:t>Immutable is not the same as verified. This is the bot that does the verifying.</a:t>
            </a:r>
          </a:p>
        </p:txBody>
      </p:sp>
      <p:sp>
        <p:nvSpPr>
          <p:cNvPr id="27" name="TextBox 26"/>
          <p:cNvSpPr txBox="1"/>
          <p:nvPr/>
        </p:nvSpPr>
        <p:spPr>
          <a:xfrm>
            <a:off x="566928" y="5760720"/>
            <a:ext cx="11055096" cy="274320"/>
          </a:xfrm>
          <a:prstGeom prst="rect">
            <a:avLst/>
          </a:prstGeom>
          <a:noFill/>
        </p:spPr>
        <p:txBody>
          <a:bodyPr wrap="square" lIns="0" rIns="0" tIns="0" bIns="0" anchor="t">
            <a:spAutoFit/>
          </a:bodyPr>
          <a:lstStyle/>
          <a:p>
            <a:pPr algn="l"/>
            <a:r>
              <a:rPr sz="1150" b="0">
                <a:solidFill>
                  <a:srgbClr val="9A81DF"/>
                </a:solidFill>
                <a:latin typeface="Courier New"/>
              </a:rPr>
              <a:t>github.com/AdithyaSM31/UiPath-Blockchain-Transaction-Validation</a:t>
            </a:r>
          </a:p>
        </p:txBody>
      </p:sp>
      <p:sp>
        <p:nvSpPr>
          <p:cNvPr id="28" name="TextBox 27"/>
          <p:cNvSpPr txBox="1"/>
          <p:nvPr/>
        </p:nvSpPr>
        <p:spPr>
          <a:xfrm>
            <a:off x="566928" y="6089904"/>
            <a:ext cx="11055096" cy="274320"/>
          </a:xfrm>
          <a:prstGeom prst="rect">
            <a:avLst/>
          </a:prstGeom>
          <a:noFill/>
        </p:spPr>
        <p:txBody>
          <a:bodyPr wrap="square" lIns="0" rIns="0" tIns="0" bIns="0" anchor="t">
            <a:spAutoFit/>
          </a:bodyPr>
          <a:lstStyle/>
          <a:p>
            <a:pPr algn="l"/>
            <a:r>
              <a:rPr sz="1200" b="1">
                <a:solidFill>
                  <a:srgbClr val="FFFFFF"/>
                </a:solidFill>
                <a:latin typeface="Calibri"/>
              </a:rPr>
              <a:t>Thank you - questions welcome.</a:t>
            </a:r>
          </a:p>
        </p:txBody>
      </p:sp>
      <p:sp>
        <p:nvSpPr>
          <p:cNvPr id="29" name="TextBox 28"/>
          <p:cNvSpPr txBox="1"/>
          <p:nvPr/>
        </p:nvSpPr>
        <p:spPr>
          <a:xfrm>
            <a:off x="566928" y="6455664"/>
            <a:ext cx="11055096" cy="237744"/>
          </a:xfrm>
          <a:prstGeom prst="rect">
            <a:avLst/>
          </a:prstGeom>
          <a:noFill/>
        </p:spPr>
        <p:txBody>
          <a:bodyPr wrap="square" lIns="0" rIns="0" tIns="0" bIns="0" anchor="t">
            <a:spAutoFit/>
          </a:bodyPr>
          <a:lstStyle/>
          <a:p>
            <a:pPr algn="l"/>
            <a:r>
              <a:rPr sz="950" b="0">
                <a:solidFill>
                  <a:srgbClr val="6B5F8F"/>
                </a:solidFill>
                <a:latin typeface="Calibri"/>
              </a:rPr>
              <a:t>Final Review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
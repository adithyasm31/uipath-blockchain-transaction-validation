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00503000000020004" pitchFamily="2" charset="0"/>
      <p:regular r:id="rId21"/>
      <p:bold r:id="rId22"/>
      <p:italic r:id="rId23"/>
      <p:boldItalic r:id="rId24"/>
    </p:embeddedFont>
    <p:embeddedFont>
      <p:font typeface="Inter Bold" panose="02000503000000020004" pitchFamily="2" charset="0"/>
      <p:regular r:id="rId25"/>
      <p:bold r:id="rId26"/>
    </p:embeddedFont>
    <p:embeddedFont>
      <p:font typeface="Petrona Bold" pitchFamily="2" charset="0"/>
      <p:regular r:id="rId27"/>
      <p:bold r:id="rId28"/>
    </p:embeddedFont>
    <p:embeddedFont>
      <p:font typeface="Petrona Light" pitchFamily="2" charset="0"/>
      <p:regular r:id="rId29"/>
      <p: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3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81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1835"/>
            <a:ext cx="10868745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400" b="1" kern="0" spc="-6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UiPath-Based Validation of Blockchain Transactions for Transparent Logistics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023368"/>
            <a:ext cx="108687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Leveraging Robotic Process Automation for Automated, Trustworthy Supply Chain Verification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258405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2830413"/>
            <a:ext cx="5470785" cy="3155752"/>
          </a:xfrm>
          <a:prstGeom prst="roundRect">
            <a:avLst>
              <a:gd name="adj" fmla="val 3773"/>
            </a:avLst>
          </a:prstGeom>
          <a:solidFill>
            <a:srgbClr val="0B1F33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995712"/>
            <a:ext cx="514019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Course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7710" y="3432373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 Process Automation (RPA)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862288"/>
            <a:ext cx="514019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Presented By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7710" y="4298950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Adithya Sankar Menon (23BRS1079)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Nitin Nandakumar (23BRS1378)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7710" y="4993481"/>
            <a:ext cx="514019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7710" y="5430143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18th August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3904" y="3016448"/>
            <a:ext cx="2533686" cy="1573808"/>
          </a:xfrm>
          <a:prstGeom prst="roundRect">
            <a:avLst>
              <a:gd name="adj" fmla="val 441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5548" y="3188097"/>
            <a:ext cx="219039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5548" y="3624759"/>
            <a:ext cx="21903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blockchain-to-ERP transaction validation using UiPath bots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2884" y="3016448"/>
            <a:ext cx="2533686" cy="1573808"/>
          </a:xfrm>
          <a:prstGeom prst="roundRect">
            <a:avLst>
              <a:gd name="adj" fmla="val 441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4528" y="3188097"/>
            <a:ext cx="219039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Domain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74528" y="3624759"/>
            <a:ext cx="21903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Logistics, Supply Chain, Blockchain, RPA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3904" y="4755555"/>
            <a:ext cx="5232666" cy="1044575"/>
          </a:xfrm>
          <a:prstGeom prst="roundRect">
            <a:avLst>
              <a:gd name="adj" fmla="val 665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5548" y="4927203"/>
            <a:ext cx="488937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5548" y="5363865"/>
            <a:ext cx="48893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Studio + Orchestrator (Cloud)</a:t>
            </a:r>
            <a:endParaRPr lang="en-US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C5683B-216B-D660-E9DF-1D21B9BDF11C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3018"/>
            <a:ext cx="10868745" cy="507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6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89745"/>
            <a:ext cx="10868745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logistics and supply chain networks involve dozens of intermediaries — manufacturers, freight forwarders, customs brokers, warehouses, and last-mile carriers. Each handoff generates transaction records, often on blockchain-based platforms (e.g., </a:t>
            </a:r>
            <a:r>
              <a:rPr lang="en-US" sz="1200" b="1" kern="0" spc="-24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Food Trust, VeChain, TradeLens</a:t>
            </a: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to ensure immutability and transparency. Yet the validation of these records remains overwhelmingly manual.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170708"/>
            <a:ext cx="10868745" cy="3227189"/>
          </a:xfrm>
          <a:prstGeom prst="roundRect">
            <a:avLst>
              <a:gd name="adj" fmla="val 201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177058"/>
            <a:ext cx="3618616" cy="1846659"/>
          </a:xfrm>
          <a:custGeom>
            <a:avLst/>
            <a:gdLst/>
            <a:ahLst/>
            <a:cxnLst/>
            <a:rect l="l" t="t" r="r" b="b"/>
            <a:pathLst>
              <a:path w="3618616" h="1846659">
                <a:moveTo>
                  <a:pt x="54133" y="0"/>
                </a:moveTo>
                <a:lnTo>
                  <a:pt x="3618616" y="0"/>
                </a:lnTo>
                <a:lnTo>
                  <a:pt x="3618616" y="1846659"/>
                </a:lnTo>
                <a:lnTo>
                  <a:pt x="0" y="1846659"/>
                </a:lnTo>
                <a:lnTo>
                  <a:pt x="0" y="54135"/>
                </a:lnTo>
                <a:arcTo wR="54133" hR="54135" stAng="10800000" swAng="5400000"/>
                <a:close/>
              </a:path>
            </a:pathLst>
          </a:custGeom>
          <a:solidFill>
            <a:srgbClr val="2F1D63"/>
          </a:solidFill>
          <a:ln/>
        </p:spPr>
      </p:sp>
      <p:sp>
        <p:nvSpPr>
          <p:cNvPr id="6" name="Text 4"/>
          <p:cNvSpPr/>
          <p:nvPr/>
        </p:nvSpPr>
        <p:spPr>
          <a:xfrm>
            <a:off x="822404" y="2331641"/>
            <a:ext cx="3309458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Manual Verification Bottleneck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404" y="2672060"/>
            <a:ext cx="3309458" cy="11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managers must manually cross-check blockchain transaction hashes, shipment IDs, timestamps, and smart contract events against internal ERP/WMS records. This is slow, error-prone, and does not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6440" y="2177058"/>
            <a:ext cx="3618715" cy="1846659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9" name="Shape 7"/>
          <p:cNvSpPr/>
          <p:nvPr/>
        </p:nvSpPr>
        <p:spPr>
          <a:xfrm>
            <a:off x="4286440" y="2177058"/>
            <a:ext cx="19050" cy="1846659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10" name="Text 8"/>
          <p:cNvSpPr/>
          <p:nvPr/>
        </p:nvSpPr>
        <p:spPr>
          <a:xfrm>
            <a:off x="4441019" y="2331641"/>
            <a:ext cx="3309557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Silos &amp; Format Mismatch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41019" y="2672060"/>
            <a:ext cx="3309557" cy="11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explorers output data in JSON/hex formats, while enterprise systems use CSV/Excel/SQL. Reconciling these requires tedious manual data transformation with no automated bridge.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5155" y="2177058"/>
            <a:ext cx="3618715" cy="1846659"/>
          </a:xfrm>
          <a:custGeom>
            <a:avLst/>
            <a:gdLst/>
            <a:ahLst/>
            <a:cxnLst/>
            <a:rect l="l" t="t" r="r" b="b"/>
            <a:pathLst>
              <a:path w="3618715" h="1846659">
                <a:moveTo>
                  <a:pt x="0" y="0"/>
                </a:moveTo>
                <a:lnTo>
                  <a:pt x="3564582" y="0"/>
                </a:lnTo>
                <a:arcTo wR="54133" hR="54135" stAng="16200000" swAng="5400000"/>
                <a:lnTo>
                  <a:pt x="3618715" y="1846659"/>
                </a:lnTo>
                <a:lnTo>
                  <a:pt x="0" y="1846659"/>
                </a:lnTo>
                <a:lnTo>
                  <a:pt x="0" y="0"/>
                </a:lnTo>
                <a:close/>
              </a:path>
            </a:pathLst>
          </a:custGeom>
          <a:solidFill>
            <a:srgbClr val="2F1D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155" y="2177058"/>
            <a:ext cx="19050" cy="1846659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14" name="Text 12"/>
          <p:cNvSpPr/>
          <p:nvPr/>
        </p:nvSpPr>
        <p:spPr>
          <a:xfrm>
            <a:off x="8059734" y="2331641"/>
            <a:ext cx="3309557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Anomaly Detection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059734" y="2672060"/>
            <a:ext cx="3309557" cy="11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Fraudulent or erroneous entries — tampered quantities, forged timestamps, unauthorized wallet addresses — go unnoticed for hours or days because no automated cross-validation exists.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825" y="4023717"/>
            <a:ext cx="5428023" cy="1367830"/>
          </a:xfrm>
          <a:custGeom>
            <a:avLst/>
            <a:gdLst/>
            <a:ahLst/>
            <a:cxnLst/>
            <a:rect l="l" t="t" r="r" b="b"/>
            <a:pathLst>
              <a:path w="5428023" h="1367830">
                <a:moveTo>
                  <a:pt x="0" y="0"/>
                </a:moveTo>
                <a:lnTo>
                  <a:pt x="5428023" y="0"/>
                </a:lnTo>
                <a:lnTo>
                  <a:pt x="5428023" y="1367830"/>
                </a:lnTo>
                <a:lnTo>
                  <a:pt x="54133" y="1367830"/>
                </a:lnTo>
                <a:arcTo wR="54133" hR="54135" stAng="5400000" swAng="5400000"/>
                <a:lnTo>
                  <a:pt x="0" y="0"/>
                </a:lnTo>
                <a:close/>
              </a:path>
            </a:pathLst>
          </a:custGeom>
          <a:solidFill>
            <a:srgbClr val="2F1D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825" y="4023717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404" y="4178300"/>
            <a:ext cx="5118865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Compliance &amp; Audit Pressure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404" y="4518720"/>
            <a:ext cx="5118865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bodies (customs, food safety, pharma traceability) demand auditable proof that every blockchain-logged event was verified. Manual logs are legally insufficient.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4023717"/>
            <a:ext cx="5428023" cy="1367830"/>
          </a:xfrm>
          <a:custGeom>
            <a:avLst/>
            <a:gdLst/>
            <a:ahLst/>
            <a:cxnLst/>
            <a:rect l="l" t="t" r="r" b="b"/>
            <a:pathLst>
              <a:path w="5428023" h="1367830">
                <a:moveTo>
                  <a:pt x="0" y="0"/>
                </a:moveTo>
                <a:lnTo>
                  <a:pt x="5428023" y="0"/>
                </a:lnTo>
                <a:lnTo>
                  <a:pt x="5428023" y="1313695"/>
                </a:lnTo>
                <a:arcTo wR="54133" hR="54135" stAng="0" swAng="5400000"/>
                <a:lnTo>
                  <a:pt x="0" y="1367830"/>
                </a:lnTo>
                <a:lnTo>
                  <a:pt x="0" y="0"/>
                </a:lnTo>
                <a:close/>
              </a:path>
            </a:pathLst>
          </a:custGeom>
          <a:solidFill>
            <a:srgbClr val="2F1D63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4023717"/>
            <a:ext cx="19050" cy="1367830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4023717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23" name="Text 21"/>
          <p:cNvSpPr/>
          <p:nvPr/>
        </p:nvSpPr>
        <p:spPr>
          <a:xfrm>
            <a:off x="6250426" y="4178300"/>
            <a:ext cx="5118865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Scalability Crisis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50426" y="4518720"/>
            <a:ext cx="5118865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transaction volumes grow to thousands per day, human operators cannot keep pace, leading to verification backlogs and systemic trust erosion across the supply chain.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3442" y="5723334"/>
            <a:ext cx="10636778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i="1" kern="0" spc="-24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 blockchain-enabled logistics ecosystems, the absence of automated, rule-based validation of on-chain transaction records against enterprise logistics systems leads to verification delays, undetected anomalies, compliance gaps, and a lack of real-time operational transparency."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475" y="5560616"/>
            <a:ext cx="19050" cy="804267"/>
          </a:xfrm>
          <a:prstGeom prst="roundRect">
            <a:avLst>
              <a:gd name="adj" fmla="val 49999"/>
            </a:avLst>
          </a:prstGeom>
          <a:solidFill>
            <a:srgbClr val="876CD4"/>
          </a:solidFill>
          <a:ln/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1E25-75B7-B714-8FFE-C1988A73088C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144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87959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0" spc="-2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Objective:</a:t>
            </a: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design and implement a UiPath RPA bot that automatically validates blockchain transaction records against logistics enterprise data, ensuring real-time transparency, anomaly detection, and audit-ready compliance.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88021"/>
            <a:ext cx="5381490" cy="1532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72847" y="1887240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2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12780" y="2317155"/>
            <a:ext cx="5078881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 Data Extraction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12780" y="2597646"/>
            <a:ext cx="50788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UiPath workflows to extract blockchain transaction data — transaction hash, block number, timestamp, sender/receiver addresses, payload — from blockchain explorer web portals or REST APIs.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730" y="1788021"/>
            <a:ext cx="5381490" cy="15324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60102" y="1887240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2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300035" y="2317155"/>
            <a:ext cx="5078881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Cross-System Reconciliation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300035" y="2597646"/>
            <a:ext cx="50788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automated comparison logic between blockchain records and internal logistics data (shipment IDs, quantities, delivery timestamps) stored in Excel/CSV/ERP systems.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26222"/>
            <a:ext cx="5381490" cy="13419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72847" y="3525441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2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12780" y="3955355"/>
            <a:ext cx="5078881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Rule-Based Validation Engine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12780" y="4235847"/>
            <a:ext cx="5078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configurable validation rules within UiPath: timestamp consistency, quantity matching, wallet/address whitelisting, and smart contract event verification.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8730" y="3426222"/>
            <a:ext cx="5381490" cy="13419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60102" y="3525441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2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300035" y="3955355"/>
            <a:ext cx="5078881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Anomaly Flagging &amp; Alerting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300035" y="4235847"/>
            <a:ext cx="5078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flag mismatches, generate exception reports, and trigger email/Teams/Slack alerts to logistics managers when anomalies are detected.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73923"/>
            <a:ext cx="5381490" cy="13419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72847" y="4973141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2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812780" y="5403056"/>
            <a:ext cx="5078881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Audit Trail Generation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12780" y="5683548"/>
            <a:ext cx="5078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timestamped validation logs (PDF/Excel) that serve as compliance evidence for regulatory audits — customs, food safety, pharma traceability.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8730" y="4873923"/>
            <a:ext cx="5381490" cy="13419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60102" y="4973141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2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300035" y="5403056"/>
            <a:ext cx="5078881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Reporting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300035" y="5683548"/>
            <a:ext cx="5078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 summary validation dashboard showing pass/fail rates, anomaly trends, and processing times for operational visibility.</a:t>
            </a: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3EA51E-3296-FFD2-23E5-D0D58C18D2C6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939"/>
            <a:ext cx="10868745" cy="488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2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(High-Level)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82" y="1348184"/>
            <a:ext cx="9781831" cy="3162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5220" y="3253054"/>
            <a:ext cx="2253578" cy="28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Orchestrator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36047" y="3611072"/>
            <a:ext cx="2632751" cy="40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1350" kern="0" spc="-3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Scheduling, monitoring, centralized logs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189477" y="2504227"/>
            <a:ext cx="2253578" cy="28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Studio Bot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189477" y="2862245"/>
            <a:ext cx="2565979" cy="40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350" kern="0" spc="-3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extraction, validation, reporting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815071" y="1822175"/>
            <a:ext cx="2253578" cy="28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435898" y="2180193"/>
            <a:ext cx="2632752" cy="40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1350" kern="0" spc="-3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Blockchain, ERP/Excel, reports &amp; alerts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54321" y="4661694"/>
            <a:ext cx="3557598" cy="1604268"/>
          </a:xfrm>
          <a:prstGeom prst="roundRect">
            <a:avLst>
              <a:gd name="adj" fmla="val 6681"/>
            </a:avLst>
          </a:prstGeom>
          <a:solidFill>
            <a:srgbClr val="CCCCCC">
              <a:alpha val="9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03146" y="4795639"/>
            <a:ext cx="3259949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Layer 1 — Orchestration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3146" y="5173762"/>
            <a:ext cx="3259949" cy="1045369"/>
          </a:xfrm>
          <a:prstGeom prst="rect">
            <a:avLst/>
          </a:prstGeom>
          <a:noFill/>
          <a:ln/>
        </p:spPr>
        <p:txBody>
          <a:bodyPr wrap="square" lIns="0" tIns="59541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Orchestrator (Cloud)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&amp; triggers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monitoring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logs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67093" y="4661694"/>
            <a:ext cx="3670010" cy="1604268"/>
          </a:xfrm>
          <a:prstGeom prst="roundRect">
            <a:avLst>
              <a:gd name="adj" fmla="val 6681"/>
            </a:avLst>
          </a:prstGeom>
          <a:solidFill>
            <a:srgbClr val="CCCCCC">
              <a:alpha val="9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415918" y="4795639"/>
            <a:ext cx="3372361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Layer 2 — Bot Core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15918" y="5173762"/>
            <a:ext cx="3372361" cy="1045369"/>
          </a:xfrm>
          <a:prstGeom prst="rect">
            <a:avLst/>
          </a:prstGeom>
          <a:noFill/>
          <a:ln/>
        </p:spPr>
        <p:txBody>
          <a:bodyPr wrap="square" lIns="0" tIns="59541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Extraction Module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&amp; Mapping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Engine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Module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92277" y="4661694"/>
            <a:ext cx="3557598" cy="1604268"/>
          </a:xfrm>
          <a:prstGeom prst="roundRect">
            <a:avLst>
              <a:gd name="adj" fmla="val 6681"/>
            </a:avLst>
          </a:prstGeom>
          <a:solidFill>
            <a:srgbClr val="CCCCCC">
              <a:alpha val="9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241102" y="4795639"/>
            <a:ext cx="3259949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Layer 3 — Data &amp; Output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41102" y="5173762"/>
            <a:ext cx="3259949" cy="1045369"/>
          </a:xfrm>
          <a:prstGeom prst="rect">
            <a:avLst/>
          </a:prstGeom>
          <a:noFill/>
          <a:ln/>
        </p:spPr>
        <p:txBody>
          <a:bodyPr wrap="square" lIns="0" tIns="59541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Explorer / API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ERP / Excel / SQL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&amp; PDF Reports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/ Teams Alerts</a:t>
            </a:r>
            <a:endParaRPr lang="en-US" sz="11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B35B3C-6D68-B18D-1A3E-4A1CA8C6AA87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1530"/>
            <a:ext cx="10868745" cy="488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2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 &amp; 2 — Data Acquisition &amp; Preprocessing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14748"/>
            <a:ext cx="525280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Blockchain Data Extraction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709638"/>
            <a:ext cx="2559383" cy="2516188"/>
          </a:xfrm>
          <a:prstGeom prst="roundRect">
            <a:avLst>
              <a:gd name="adj" fmla="val 2485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6649" y="1864816"/>
            <a:ext cx="224903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Option A — Web Scraping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6649" y="2242939"/>
            <a:ext cx="2249034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Browser Automation navigates a blockchain explorer (Etherscan, BscScan, Hyperledger Explorer UI). Data Scraping Wizard extracts transaction tables: </a:t>
            </a:r>
            <a:r>
              <a:rPr lang="en-US" sz="1150" b="1" kern="0" spc="-23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TxHash, Block, Timestamp, From, To, Value, Input Data.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4800" y="1709638"/>
            <a:ext cx="2559482" cy="2516188"/>
          </a:xfrm>
          <a:prstGeom prst="roundRect">
            <a:avLst>
              <a:gd name="adj" fmla="val 2485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9974" y="1864816"/>
            <a:ext cx="2249134" cy="4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Option B — API Integration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09974" y="2487116"/>
            <a:ext cx="2249134" cy="1583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Request activity calls blockchain explorer REST APIs (e.g., </a:t>
            </a:r>
            <a:r>
              <a:rPr lang="en-US" sz="1150" kern="0" spc="-23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api.etherscan.io/api?module=account&amp;action=txlist&amp;address=0x...</a:t>
            </a: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JSON response parsed via Deserialize JSON activity.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475" y="4376539"/>
            <a:ext cx="525280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data stored in a </a:t>
            </a:r>
            <a:r>
              <a:rPr lang="en-US" sz="1150" b="1" kern="0" spc="-23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DataTable variable</a:t>
            </a: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within UiPath for downstream processing.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1475" y="4962922"/>
            <a:ext cx="525280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Logistics System Extraction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1475" y="5341045"/>
            <a:ext cx="525280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Application Scope / Read Range loads shipment records: </a:t>
            </a:r>
            <a:r>
              <a:rPr lang="en-US" sz="1150" b="1" kern="0" spc="-23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ShipmentID, ExpectedQty, DispatchTimestamp, ReceiverAddress, PONumber.</a:t>
            </a: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Database Connect activity used for ERP/SQL-based systems. Stored in a second DataTable.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83763" y="1314748"/>
            <a:ext cx="525280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 — Preprocessing &amp; Mapping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1714252"/>
            <a:ext cx="223237" cy="22324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7442" y="1709638"/>
            <a:ext cx="4769128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Timestamp Normalization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67442" y="2087761"/>
            <a:ext cx="4769128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blockchain Unix timestamps to human-readable DateTime using </a:t>
            </a:r>
            <a:r>
              <a:rPr lang="en-US" sz="1150" kern="0" spc="-23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DateTime.ParseExact</a:t>
            </a: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150" kern="0" spc="-23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epoch.AddSeconds()</a:t>
            </a: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UiPath's Invoke Code activity.</a:t>
            </a:r>
            <a:endParaRPr lang="en-US" sz="11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3038921"/>
            <a:ext cx="223237" cy="2232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7442" y="3034308"/>
            <a:ext cx="4769128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Address Standardization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7442" y="3412430"/>
            <a:ext cx="4769128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blockchain addresses to lowercase to reconcile checksummed vs. non-checksummed address formats across systems.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4363591"/>
            <a:ext cx="223237" cy="2232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7442" y="4358977"/>
            <a:ext cx="4769128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Field Mapping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767442" y="4737100"/>
            <a:ext cx="4769128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Mapping table links blockchain </a:t>
            </a:r>
            <a:r>
              <a:rPr lang="en-US" sz="1150" b="1" kern="0" spc="-23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TxHash → ShipmentID</a:t>
            </a: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lookup key embedded in the transaction's input data or a separate mapping configuration file.</a:t>
            </a: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261DFE-394F-1729-D673-F6F098450194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097"/>
            <a:ext cx="10868745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6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3 — Validation Engine (Core Logic)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462088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using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If/Else, Switch,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 Each Row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activities in UiPath. Each blockchain DataTable row is processed and assigned a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ValidationStatus: PASS, FAIL,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WARNING.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Failed records are appended to an Exceptions DataTable with the failure reason.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120305"/>
            <a:ext cx="10868745" cy="4089499"/>
          </a:xfrm>
          <a:prstGeom prst="roundRect">
            <a:avLst>
              <a:gd name="adj" fmla="val 161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66690"/>
            <a:ext cx="10868745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255070"/>
            <a:ext cx="10868745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98280"/>
            <a:ext cx="10868745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41490"/>
            <a:ext cx="10868745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829870"/>
            <a:ext cx="10868745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518249"/>
            <a:ext cx="10868745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056258" y="2120305"/>
            <a:ext cx="9820" cy="40894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98656" y="2120305"/>
            <a:ext cx="9820" cy="40894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8023" y="2126655"/>
            <a:ext cx="2388235" cy="440035"/>
          </a:xfrm>
          <a:custGeom>
            <a:avLst/>
            <a:gdLst/>
            <a:ahLst/>
            <a:cxnLst/>
            <a:rect l="l" t="t" r="r" b="b"/>
            <a:pathLst>
              <a:path w="2388235" h="440035">
                <a:moveTo>
                  <a:pt x="54993" y="0"/>
                </a:moveTo>
                <a:lnTo>
                  <a:pt x="2388235" y="0"/>
                </a:lnTo>
                <a:lnTo>
                  <a:pt x="2388235" y="440035"/>
                </a:lnTo>
                <a:lnTo>
                  <a:pt x="0" y="440035"/>
                </a:lnTo>
                <a:lnTo>
                  <a:pt x="0" y="54994"/>
                </a:lnTo>
                <a:arcTo wR="54993" hR="54994" stAng="10800000" swAng="5400000"/>
                <a:close/>
              </a:path>
            </a:pathLst>
          </a:cu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5082" y="222250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Rule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56258" y="2126655"/>
            <a:ext cx="4342398" cy="44003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3216492" y="2222500"/>
            <a:ext cx="463151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 / Condition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8656" y="2126655"/>
            <a:ext cx="4125214" cy="440035"/>
          </a:xfrm>
          <a:custGeom>
            <a:avLst/>
            <a:gdLst/>
            <a:ahLst/>
            <a:cxnLst/>
            <a:rect l="l" t="t" r="r" b="b"/>
            <a:pathLst>
              <a:path w="4125214" h="440035">
                <a:moveTo>
                  <a:pt x="0" y="0"/>
                </a:moveTo>
                <a:lnTo>
                  <a:pt x="4070221" y="0"/>
                </a:lnTo>
                <a:arcTo wR="54993" hR="54994" stAng="16200000" swAng="5400000"/>
                <a:lnTo>
                  <a:pt x="4125214" y="440035"/>
                </a:lnTo>
                <a:lnTo>
                  <a:pt x="0" y="440035"/>
                </a:lnTo>
                <a:lnTo>
                  <a:pt x="0" y="0"/>
                </a:lnTo>
                <a:close/>
              </a:path>
            </a:pathLst>
          </a:cu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7558891" y="2222500"/>
            <a:ext cx="44175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Flag Trigger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5082" y="266571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Timestamp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16492" y="2665710"/>
            <a:ext cx="402193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|Blockchain Timestamp − ERP Timestamp| ≤ Tolerance (2 hrs)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58891" y="2665710"/>
            <a:ext cx="38079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Math.Abs(DateDiff("h", bcTime, erpTime)) &gt; 2 Then Flag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5082" y="335409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Quantity Match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6492" y="3354090"/>
            <a:ext cx="463151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On-chain value = Expected Qty from Purchase Order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58891" y="3354090"/>
            <a:ext cx="44175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bcQty &lt;&gt; erpQty Then Flag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5082" y="379730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 Whitelist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16492" y="3797300"/>
            <a:ext cx="463151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Sender/Receiver address ∈ Approved Partners 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58891" y="3797300"/>
            <a:ext cx="44175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Not approvedList.Contains(bcAddress) Then Flag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5082" y="424051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Detection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16492" y="4240510"/>
            <a:ext cx="463151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duplicate TxHash for same ShipmentID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58891" y="4240510"/>
            <a:ext cx="38079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dtResults.Select("TxHash='" + hash + "'").Length &gt; 1 Then Flag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5082" y="492889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Validation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16492" y="4928890"/>
            <a:ext cx="402193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follow expected order: Dispatched → InTransit → Delivered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58891" y="4928890"/>
            <a:ext cx="38079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machine or ordered enum comparison against expected sequence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5082" y="5617270"/>
            <a:ext cx="268052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Contract Event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16492" y="5617270"/>
            <a:ext cx="463151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event (e.g., GoodsReceived) was emitted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58891" y="5617270"/>
            <a:ext cx="38079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Input Data / Logs field for event signature hash</a:t>
            </a:r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B5C544-D651-8EF6-557F-6B7FE49662A3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717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4 &amp; 5 — Reporting, Alerting &amp; Orchestration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66416"/>
            <a:ext cx="58325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4 — Reporting &amp; Alerting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502470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22" y="1599853"/>
            <a:ext cx="208354" cy="2083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4888" y="1547912"/>
            <a:ext cx="5429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Report (Excel)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4888" y="1870670"/>
            <a:ext cx="5429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Range outputs results to a styled Excel report with conditional formatting: </a:t>
            </a:r>
            <a:r>
              <a:rPr lang="en-US" sz="1000" b="1" kern="0" spc="-21" dirty="0">
                <a:solidFill>
                  <a:srgbClr val="0F766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green = PASS</a:t>
            </a: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red = FAIL, yellow = WARNING.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2463304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122" y="2560687"/>
            <a:ext cx="208354" cy="2083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4888" y="2508746"/>
            <a:ext cx="5429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PDF Audit Log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64888" y="2831505"/>
            <a:ext cx="5429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to PDF generates a formal audit document with timestamps, bot ID, and full validation results — suitable for regulatory submission.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61475" y="342413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122" y="3521521"/>
            <a:ext cx="208354" cy="2083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4888" y="3469580"/>
            <a:ext cx="5429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Email Alerts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64888" y="3792339"/>
            <a:ext cx="5429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SMTP Mail / Send Outlook Mail notifies stakeholders when anomalies are detected. Email body includes a summary table of all failed validations.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1475" y="438497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122" y="4482356"/>
            <a:ext cx="208354" cy="2083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4888" y="4430415"/>
            <a:ext cx="542911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Optional Dashboard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064888" y="4753173"/>
            <a:ext cx="5429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stats (total validated, pass %, fail %, top anomaly types) pushed to Google Sheets or Power BI dataset via API for real-time visibility.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27756" y="1060648"/>
            <a:ext cx="4903962" cy="5329535"/>
          </a:xfrm>
          <a:prstGeom prst="roundRect">
            <a:avLst>
              <a:gd name="adj" fmla="val 1943"/>
            </a:avLst>
          </a:prstGeom>
          <a:solidFill>
            <a:srgbClr val="0B1F33">
              <a:alpha val="95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860011" y="1166416"/>
            <a:ext cx="463945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5 — Scheduling &amp; Orchestration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60011" y="150247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60011" y="1708150"/>
            <a:ext cx="4639452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4" name="Text 18"/>
          <p:cNvSpPr/>
          <p:nvPr/>
        </p:nvSpPr>
        <p:spPr>
          <a:xfrm>
            <a:off x="6860011" y="1812330"/>
            <a:ext cx="463945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Deploy to Orchestrator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860011" y="2135088"/>
            <a:ext cx="4639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the UiPath bot package to UiPath Orchestrator (Cloud) for centralized management.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60011" y="272107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860011" y="2913559"/>
            <a:ext cx="4639452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8" name="Text 22"/>
          <p:cNvSpPr/>
          <p:nvPr/>
        </p:nvSpPr>
        <p:spPr>
          <a:xfrm>
            <a:off x="6860011" y="3030934"/>
            <a:ext cx="463945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Schedule Triggers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860011" y="3353693"/>
            <a:ext cx="4639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time-based triggers — e.g., every 4 hours or daily at 6 AM — for continuous validation cycles.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860011" y="393967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860011" y="4118967"/>
            <a:ext cx="4639452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32" name="Text 26"/>
          <p:cNvSpPr/>
          <p:nvPr/>
        </p:nvSpPr>
        <p:spPr>
          <a:xfrm>
            <a:off x="6860011" y="4249539"/>
            <a:ext cx="463945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Queue-Based Processing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6860011" y="4572298"/>
            <a:ext cx="4639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high-volume scenarios, each blockchain transaction becomes an Orchestrator Queue item processed by the bot in parallel.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860011" y="515828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860011" y="5324376"/>
            <a:ext cx="4639452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36" name="Text 30"/>
          <p:cNvSpPr/>
          <p:nvPr/>
        </p:nvSpPr>
        <p:spPr>
          <a:xfrm>
            <a:off x="6860011" y="5468144"/>
            <a:ext cx="463945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 &amp; Audit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860011" y="5790902"/>
            <a:ext cx="4639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Dashboard provides execution logs, success rates, and bot uptime metrics for operational oversight.</a:t>
            </a:r>
            <a:endParaRPr lang="en-US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875499-FF01-DEAB-4104-E050B0B8FB02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3174"/>
            <a:ext cx="10868745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6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 — Automated RPA-Blockchain Bridge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287165"/>
            <a:ext cx="1086874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existing blockchain validation solutions require custom software development (Python scripts, Node.js backends) or expensive middleware platforms. This project introduces a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no-code/low-code RPA approach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UiPath that democratizes blockchain validation for business operations teams.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190552"/>
            <a:ext cx="5359762" cy="2145109"/>
          </a:xfrm>
          <a:prstGeom prst="roundRect">
            <a:avLst>
              <a:gd name="adj" fmla="val 307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4884" y="2353965"/>
            <a:ext cx="503294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 1 — Democratized Validation via RPA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4884" y="2701230"/>
            <a:ext cx="5032944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Non-technical logistics managers can configure and run validation bots without writing code. Validation rules are stored in an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 Excel config file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the system adaptable without modifying the UiPath workflow. A first-of-its-kind approach bridging blockchain technology and business operations teams.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0458" y="2190552"/>
            <a:ext cx="5359762" cy="2145109"/>
          </a:xfrm>
          <a:prstGeom prst="roundRect">
            <a:avLst>
              <a:gd name="adj" fmla="val 307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3867" y="2353965"/>
            <a:ext cx="503294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 2 — Human-in-the-Loop Escalation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33867" y="2701230"/>
            <a:ext cx="5032944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fully automated scripts that silently log errors, this bot implements an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Attended Automation escalation model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when a high-severity anomaly is detected (e.g., unauthorized wallet address), the bot pauses, displays an interactive UiPath Form to the operator for manual review, and resumes based on human decision. A novel RPA design pattern in the blockchain-logistics domain.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4484886"/>
            <a:ext cx="5359762" cy="1899940"/>
          </a:xfrm>
          <a:prstGeom prst="roundRect">
            <a:avLst>
              <a:gd name="adj" fmla="val 347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884" y="4648299"/>
            <a:ext cx="503294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 3 — Cross-Platform Blockchain Agnosticism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884" y="4995565"/>
            <a:ext cx="5032944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 validates transactions from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 blockchain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(Ethereum, Hyperledger, Polygon, etc.) by simply changing the API endpoint and field mappings in the config — no workflow redesign needed. This plug-and-play adaptability is a novelty over hardcoded validation scripts.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0458" y="4484886"/>
            <a:ext cx="5359762" cy="1899940"/>
          </a:xfrm>
          <a:prstGeom prst="roundRect">
            <a:avLst>
              <a:gd name="adj" fmla="val 347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3867" y="4648299"/>
            <a:ext cx="503294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 4 — Audit-First Self-Validating Logs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3867" y="4995565"/>
            <a:ext cx="5032944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validation action is logged with bot identity, timestamp, input data hash, and result. The audit log includes a </a:t>
            </a:r>
            <a:r>
              <a:rPr lang="en-US" sz="120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 of the previous log entry</a:t>
            </a:r>
            <a:r>
              <a:rPr lang="en-US" sz="12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forming a mini chain-of-custody for the verification process itself — creating a tamper-evident audit trail of the validation process.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925C05-9FBA-5F5C-1DF3-821693FC1F12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091"/>
            <a:ext cx="10868745" cy="325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80" y="952996"/>
            <a:ext cx="6515036" cy="3664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743847"/>
            <a:ext cx="531352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2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Platform Components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61475" y="4973141"/>
            <a:ext cx="5313527" cy="1308894"/>
          </a:xfrm>
          <a:prstGeom prst="roundRect">
            <a:avLst>
              <a:gd name="adj" fmla="val 3180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1475" y="5193407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5410498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5627588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5844679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6061770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66942" y="5021461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b="1" kern="0" spc="-1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887193" y="5021461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b="1" kern="0" spc="-1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6942" y="5238552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RPA Platform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887193" y="5238552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Studio / Community Edition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66942" y="5455642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887193" y="5455642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Orchestrator (Cloud)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66942" y="5672733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Source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887193" y="5672733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Etherscan API / Blockchain Explorer UI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6942" y="5889823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Data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887193" y="5889823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/ CSV / SQL Database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66942" y="6106914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Config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887193" y="6106914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Excel-based Rule Configuration File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223043" y="4743847"/>
            <a:ext cx="531352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2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 &amp; Integration Components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23043" y="4973141"/>
            <a:ext cx="5313527" cy="1091803"/>
          </a:xfrm>
          <a:prstGeom prst="roundRect">
            <a:avLst>
              <a:gd name="adj" fmla="val 381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23043" y="5193407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223043" y="5410498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223043" y="5627588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223043" y="5844679"/>
            <a:ext cx="5313527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328510" y="5021461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b="1" kern="0" spc="-1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8448761" y="5021461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b="1" kern="0" spc="-1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328510" y="5238552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8448761" y="5238552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(styled), PDF, Email (SMTP/Outlook)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328510" y="5455642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8448761" y="5455642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Microsoft Teams (optional webhook)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328510" y="5672733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(Optional)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448761" y="5672733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/ Google Sheets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328510" y="5889823"/>
            <a:ext cx="2531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448761" y="5889823"/>
            <a:ext cx="3592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kern="0" spc="-1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7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609DC7-8BB5-6695-0E9A-DC3B7AC4DF18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5080"/>
            <a:ext cx="10868745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kern="0" spc="-47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Summary &amp; Conclusion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15901"/>
            <a:ext cx="10868745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presents a comprehensive UiPath RPA solution that bridges the gap between immutable blockchain transaction records and enterprise logistics systems — delivering automated validation, real-time anomaly detection, and audit-ready compliance at scale.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490663"/>
            <a:ext cx="6409966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This System Delivers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6330" y="1805087"/>
            <a:ext cx="6075111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Automated Blockchain-to-ERP Reconciliation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96330" y="2070596"/>
            <a:ext cx="607511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Six-rule validation engine processes every transaction: timestamp, quantity, whitelist, duplicate, sequence, and smart contract event checks — with PASS/FAIL/WARNING status per record.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96330" y="2574627"/>
            <a:ext cx="6075111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No-Code, Blockchain-Agnostic 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96330" y="2840137"/>
            <a:ext cx="607511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Excel-based rule configuration and plug-and-play API endpoints enable non-technical teams to operate and adapt the bot across Ethereum, Hyperledger, Polygon, and any future blockchain platform.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96330" y="3344168"/>
            <a:ext cx="6075111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Tamper-Evident Audit Trail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6330" y="3609677"/>
            <a:ext cx="607511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Self-validating logs with chained entry hashes create a chain-of-custody for the verification process itself — satisfying customs, food safety, and pharma traceability regulatory requirements.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330" y="4113709"/>
            <a:ext cx="6075111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Orchestration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96330" y="4379218"/>
            <a:ext cx="607511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Orchestrator queue-based processing handles thousands of daily transactions with scheduled triggers, uptime monitoring, and centralized execution logs.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73743" y="1412180"/>
            <a:ext cx="4344780" cy="4960640"/>
          </a:xfrm>
          <a:prstGeom prst="roundRect">
            <a:avLst>
              <a:gd name="adj" fmla="val 1889"/>
            </a:avLst>
          </a:prstGeom>
          <a:solidFill>
            <a:srgbClr val="0B1F33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87643" y="1490663"/>
            <a:ext cx="4116979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87643" y="1765995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87643" y="1946870"/>
            <a:ext cx="4116979" cy="127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7" name="Text 15"/>
          <p:cNvSpPr/>
          <p:nvPr/>
        </p:nvSpPr>
        <p:spPr>
          <a:xfrm>
            <a:off x="7387643" y="2029222"/>
            <a:ext cx="4116979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ML-Based Anomaly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87643" y="2294731"/>
            <a:ext cx="4116979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UiPath AI Center with ML models trained on historical transaction patterns to detect novel fraud signatures beyond rule-based logic.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87643" y="2766616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87643" y="2936180"/>
            <a:ext cx="4116979" cy="127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1" name="Text 19"/>
          <p:cNvSpPr/>
          <p:nvPr/>
        </p:nvSpPr>
        <p:spPr>
          <a:xfrm>
            <a:off x="7387643" y="3029843"/>
            <a:ext cx="4116979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Contract Auto-Remediation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87643" y="3295352"/>
            <a:ext cx="4116979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the bot to trigger corrective smart contract calls when specific, pre-approved anomaly types are detected — closing the loop fully.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87643" y="3767237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87643" y="3925391"/>
            <a:ext cx="4116979" cy="127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5" name="Text 23"/>
          <p:cNvSpPr/>
          <p:nvPr/>
        </p:nvSpPr>
        <p:spPr>
          <a:xfrm>
            <a:off x="7387643" y="4030464"/>
            <a:ext cx="4116979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Multi-Chain Support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87643" y="4295973"/>
            <a:ext cx="4116979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config-driven API switching to simultaneously validate transactions across multiple blockchain networks in a single bot run.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87643" y="4767858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87643" y="4914702"/>
            <a:ext cx="4116979" cy="127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9" name="Text 27"/>
          <p:cNvSpPr/>
          <p:nvPr/>
        </p:nvSpPr>
        <p:spPr>
          <a:xfrm>
            <a:off x="7387643" y="5031085"/>
            <a:ext cx="4116979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Streaming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87643" y="5296595"/>
            <a:ext cx="4116979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scheduled polling with event-driven triggers using blockchain WebSocket subscriptions for sub-second validation latency.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87643" y="5732859"/>
            <a:ext cx="4116979" cy="506214"/>
          </a:xfrm>
          <a:prstGeom prst="roundRect">
            <a:avLst>
              <a:gd name="adj" fmla="val 9456"/>
            </a:avLst>
          </a:prstGeom>
          <a:solidFill>
            <a:srgbClr val="2F1D63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544" y="5854402"/>
            <a:ext cx="142375" cy="11390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757819" y="5877421"/>
            <a:ext cx="3632903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90%+ reduction in manual verification effort with full regulatory audit coverage.</a:t>
            </a:r>
            <a:endParaRPr lang="en-US" sz="8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A2AD16-9CA7-8733-6199-1ADC6C421112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377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4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Implementation Methodology &amp; Phases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056977"/>
            <a:ext cx="114783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14-week delivery plan for building, validating, and deploying the automation solution.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61475" y="1271885"/>
            <a:ext cx="10868745" cy="2712740"/>
          </a:xfrm>
          <a:prstGeom prst="roundRect">
            <a:avLst>
              <a:gd name="adj" fmla="val 163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1514078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1753096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130921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508746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2886571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264396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503414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3742432"/>
            <a:ext cx="10868745" cy="66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3887" y="1325166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b="1" kern="0" spc="-17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59412" y="1325166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b="1" kern="0" spc="-17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96292" y="1325166"/>
            <a:ext cx="517462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b="1" kern="0" spc="-17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Activities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72861" y="1325166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b="1" kern="0" spc="-17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Deliverable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3887" y="1564184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59412" y="1564184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Planning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96292" y="1564184"/>
            <a:ext cx="517462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scope, success criteria, data sources, rule categories, and implementation architecture.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72861" y="1564184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plan, requirements brief, and solution design outline.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3887" y="1803202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59412" y="1803202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Acquisition Module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96292" y="1803202"/>
            <a:ext cx="4565040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blockchain extraction via API/web access and logistics data ingestion from Excel/SQL sources.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72861" y="1803202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ingestion workflow and normalized DataTables.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3887" y="2181027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59412" y="2181027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&amp; Mapping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96292" y="2181027"/>
            <a:ext cx="4565040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timestamps, standardize addresses, and map TxHash to ShipmentID using configuration files.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72861" y="2181027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logic and mapping configuration layer.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3887" y="2558852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7–9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59412" y="2558852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Engine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96292" y="2558852"/>
            <a:ext cx="4565040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six rule-based checks for timestamp, quantity, whitelist, duplicate, sequence, and smart contract events.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72861" y="2558852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engine with PASS / FAIL / WARNING outcomes.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3887" y="2936677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59412" y="2936677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&amp; Alerting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96292" y="2936677"/>
            <a:ext cx="4565040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styled Excel and PDF outputs, audit logs, email alerts, and optional dashboard updates.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72861" y="2936677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pack, alerting workflow, and audit-ready outputs.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3887" y="3314502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59412" y="3314502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&amp; Orchestrator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96292" y="3314502"/>
            <a:ext cx="517462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UiPath Orchestrator, configure schedules, queue processing, and monitoring hooks.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72861" y="3314502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automated workflow in Orchestrator.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3887" y="3553520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59412" y="3553520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Refinement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96292" y="3553520"/>
            <a:ext cx="517462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functional tests, resolve exceptions, tune rules, and validate end-to-end results.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372861" y="3553520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Stabilized release candidate with test sign-off.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3887" y="3792538"/>
            <a:ext cx="148358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859412" y="3792538"/>
            <a:ext cx="2134936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&amp; Presentation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96292" y="3792538"/>
            <a:ext cx="517462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user guide, technical documentation, handover notes, and presentation materials.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72861" y="3792538"/>
            <a:ext cx="36548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documentation set and final project presentation.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1475" y="4086126"/>
            <a:ext cx="1086874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14-Week Gantt View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661475" y="4521696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51" name="Text 49"/>
          <p:cNvSpPr/>
          <p:nvPr/>
        </p:nvSpPr>
        <p:spPr>
          <a:xfrm>
            <a:off x="782023" y="4465439"/>
            <a:ext cx="52714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82023" y="4679652"/>
            <a:ext cx="527146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Planning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38114" y="4521696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54" name="Text 52"/>
          <p:cNvSpPr/>
          <p:nvPr/>
        </p:nvSpPr>
        <p:spPr>
          <a:xfrm>
            <a:off x="6258661" y="4465439"/>
            <a:ext cx="527155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258661" y="4679652"/>
            <a:ext cx="5271559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Acquisition Module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61475" y="5010051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57" name="Text 55"/>
          <p:cNvSpPr/>
          <p:nvPr/>
        </p:nvSpPr>
        <p:spPr>
          <a:xfrm>
            <a:off x="782023" y="4953794"/>
            <a:ext cx="52714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5–6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82023" y="5168007"/>
            <a:ext cx="527146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&amp; Mapping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38114" y="5010051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60" name="Text 58"/>
          <p:cNvSpPr/>
          <p:nvPr/>
        </p:nvSpPr>
        <p:spPr>
          <a:xfrm>
            <a:off x="6258661" y="4953794"/>
            <a:ext cx="527155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7–9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58661" y="5168007"/>
            <a:ext cx="5271559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Engine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61475" y="5498405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63" name="Text 61"/>
          <p:cNvSpPr/>
          <p:nvPr/>
        </p:nvSpPr>
        <p:spPr>
          <a:xfrm>
            <a:off x="782023" y="5442148"/>
            <a:ext cx="52714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10–11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82023" y="5656362"/>
            <a:ext cx="527146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&amp; Alerting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38114" y="5498405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66" name="Text 64"/>
          <p:cNvSpPr/>
          <p:nvPr/>
        </p:nvSpPr>
        <p:spPr>
          <a:xfrm>
            <a:off x="6258661" y="5442148"/>
            <a:ext cx="527155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 12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258661" y="5656362"/>
            <a:ext cx="5271559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&amp; Orchestrator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61475" y="5986760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69" name="Text 67"/>
          <p:cNvSpPr/>
          <p:nvPr/>
        </p:nvSpPr>
        <p:spPr>
          <a:xfrm>
            <a:off x="782023" y="5930503"/>
            <a:ext cx="52714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 13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82023" y="6144716"/>
            <a:ext cx="527146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Refinement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38114" y="5986760"/>
            <a:ext cx="52882" cy="52884"/>
          </a:xfrm>
          <a:prstGeom prst="ellipse">
            <a:avLst/>
          </a:prstGeom>
          <a:solidFill>
            <a:srgbClr val="9A81DF"/>
          </a:solidFill>
          <a:ln/>
        </p:spPr>
      </p:sp>
      <p:sp>
        <p:nvSpPr>
          <p:cNvPr id="72" name="Text 70"/>
          <p:cNvSpPr/>
          <p:nvPr/>
        </p:nvSpPr>
        <p:spPr>
          <a:xfrm>
            <a:off x="6258661" y="5930503"/>
            <a:ext cx="527155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2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 14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258661" y="6144716"/>
            <a:ext cx="5271559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kern="0" spc="-1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&amp; Presentation</a:t>
            </a:r>
            <a:endParaRPr lang="en-US" sz="8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808954F-0E27-E984-8193-8F8DA7EE5FFA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671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2274094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7284" y="2297361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198830" y="2330946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90%+ reduction in manual blockchain verification effort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1475" y="297686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284" y="3000127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198830" y="3033713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anomaly detection within minutes of transaction recording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1475" y="3679627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284" y="3702893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198830" y="3736479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Audit-ready compliance reports generated automatically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1475" y="4382393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284" y="4405660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198830" y="4439245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Configurable, reusable bot adaptable to any blockchain-logistics scenario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1475" y="508515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284" y="5108426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kern="0" spc="-4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198830" y="5142012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architecture via UiPath Orchestrator queues for enterprise volumes</a:t>
            </a:r>
            <a:endParaRPr lang="en-US" sz="1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71F3F9-B0A6-6B21-72E7-432E3DB75554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49734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18405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102445"/>
            <a:ext cx="3065783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2223195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AI/ML models in UiPath (via ML Skills) for predictive anomaly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92552" y="18405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2102445"/>
            <a:ext cx="3065783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9" name="Text 6"/>
          <p:cNvSpPr/>
          <p:nvPr/>
        </p:nvSpPr>
        <p:spPr>
          <a:xfrm>
            <a:off x="3892552" y="2223195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data fusion — validate blockchain records against IoT sensor data (temperature, GPS)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33063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3551833"/>
            <a:ext cx="3065783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3689052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Multi-chain support — simultaneous validation across multiple blockchain networks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92552" y="33063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892552" y="3551833"/>
            <a:ext cx="3065783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5" name="Text 12"/>
          <p:cNvSpPr/>
          <p:nvPr/>
        </p:nvSpPr>
        <p:spPr>
          <a:xfrm>
            <a:off x="3892552" y="3689052"/>
            <a:ext cx="30657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Reporting — use UiPath + GenAI to auto-generate narrative audit reports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477222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001121"/>
            <a:ext cx="6296860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154910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Contract Auto-Remediation — trigger corrective smart contract calls when anomalies are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4393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207816"/>
            <a:ext cx="10868745" cy="331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UiPath Official Documentation — docs.uipath.com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Etherscan API Documentation — docs.etherscan.io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Nakamoto, S. (2008). Bitcoin: A Peer-to-Peer Electronic Cash System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Kshetri, N. (2018). "Blockchain's roles in meeting key supply chain management objectives." International Journal of Information Management, 39, 80–89.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 der Aalst, W. M. P., Bichler, M., &amp; Heinzl, A. (2018). "Robotic Process Automation." Business &amp; Information Systems Engineering, 60(4), 269–272.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Food Trust — ibm.com/food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TradeLens by Maersk &amp; IBM — tradelens.com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8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Casino, F., Dasaklis, T. K., &amp; Patsakis, C. (2019). "A systematic literature review of blockchain-based applications." Telematics and Informatics, 36, 55–81.</a:t>
            </a:r>
            <a:endParaRPr lang="en-US" sz="1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C278C-9509-F7CD-7116-9130ECE1BCAE}"/>
              </a:ext>
            </a:extLst>
          </p:cNvPr>
          <p:cNvSpPr/>
          <p:nvPr/>
        </p:nvSpPr>
        <p:spPr>
          <a:xfrm>
            <a:off x="11060482" y="6513534"/>
            <a:ext cx="1131518" cy="344466"/>
          </a:xfrm>
          <a:prstGeom prst="rect">
            <a:avLst/>
          </a:prstGeom>
          <a:solidFill>
            <a:srgbClr val="0C0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2502</Words>
  <Application>Microsoft Office PowerPoint</Application>
  <PresentationFormat>Widescreen</PresentationFormat>
  <Paragraphs>292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Petrona Light</vt:lpstr>
      <vt:lpstr>Arial</vt:lpstr>
      <vt:lpstr>Inter</vt:lpstr>
      <vt:lpstr>Inter Bold</vt:lpstr>
      <vt:lpstr>Consolas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Adithya SM</cp:lastModifiedBy>
  <cp:revision>2</cp:revision>
  <dcterms:created xsi:type="dcterms:W3CDTF">2026-08-18T04:48:16Z</dcterms:created>
  <dcterms:modified xsi:type="dcterms:W3CDTF">2026-08-18T04:52:21Z</dcterms:modified>
</cp:coreProperties>
</file>